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7.png"/><Relationship Id="rId7" Type="http://schemas.openxmlformats.org/officeDocument/2006/relationships/image" Target="../media/image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telc.net/en/language-examinations/certificate-exams/german/telc-german-b1b2-business/" TargetMode="External"/><Relationship Id="rId3" Type="http://schemas.openxmlformats.org/officeDocument/2006/relationships/hyperlink" Target="https://www.telc.net/en/language-examinations/certificate-exams/german/german-for-business/german-for-business-b2/" TargetMode="External"/><Relationship Id="rId4" Type="http://schemas.openxmlformats.org/officeDocument/2006/relationships/hyperlink" Target="https://shop.telc.net/media/catalog/product/file/5036B01010201bib.pdf" TargetMode="External"/><Relationship Id="rId5" Type="http://schemas.openxmlformats.org/officeDocument/2006/relationships/hyperlink" Target="https://www.bamf.de/DE/Themen/Integration/ZugewanderteTeilnehmende/DeutschBeruf/deutsch-beruf.html" TargetMode="External"/><Relationship Id="rId6" Type="http://schemas.openxmlformats.org/officeDocument/2006/relationships/hyperlink" Target="https://www.bamf.de/DE/Themen/Integration/ZugewanderteTeilnehmende/AnerkennungsBSK/anerkennungsbsk-node.html" TargetMode="External"/><Relationship Id="rId7" Type="http://schemas.openxmlformats.org/officeDocument/2006/relationships/hyperlink" Target="https://www.bamf.de/SharedDocs/Anlagen/DE/Integration/Berufsbezsprachf-ESF-BAMF/BSK-Konzepte/konzept-nichtakademische-gesundheitsberufe.pdf" TargetMode="External"/><Relationship Id="rId8" Type="http://schemas.openxmlformats.org/officeDocument/2006/relationships/hyperlink" Target="https://www.bamf.de/SharedDocs/Anlagen/DE/Integration/Berufsbezsprachf-ESF-BAMF/BSK-Konzepte/lernzielkatalog-spezial-und-basisberufssprachkurse.pdf" TargetMode="External"/><Relationship Id="rId9" Type="http://schemas.openxmlformats.org/officeDocument/2006/relationships/hyperlink" Target="https://www.coe.int/en/web/common-european-framework-reference-languages"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babbel.com/compare-best-language-learning-apps" TargetMode="External"/><Relationship Id="rId3" Type="http://schemas.openxmlformats.org/officeDocument/2006/relationships/hyperlink" Target="https://www.babbel.com/best-language-learning-apps-for-digital-nomads"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5B5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188720"/>
            <a:ext cx="10515600" cy="457200"/>
          </a:xfrm>
          <a:prstGeom prst="rect">
            <a:avLst/>
          </a:prstGeom>
          <a:noFill/>
        </p:spPr>
        <p:txBody>
          <a:bodyPr wrap="square" anchor="t" lIns="45720" rIns="45720" tIns="18288" bIns="18288">
            <a:spAutoFit/>
          </a:bodyPr>
          <a:lstStyle/>
          <a:p>
            <a:pPr algn="l">
              <a:spcBef>
                <a:spcPts val="0"/>
              </a:spcBef>
              <a:spcAft>
                <a:spcPts val="600"/>
              </a:spcAft>
            </a:pPr>
            <a:r>
              <a:rPr sz="1400" b="1" i="0">
                <a:solidFill>
                  <a:srgbClr val="10B7CF"/>
                </a:solidFill>
                <a:latin typeface="Calibri"/>
              </a:rPr>
              <a:t>GENAULY  ·  PRODUCT STRATEGY</a:t>
            </a:r>
          </a:p>
        </p:txBody>
      </p:sp>
      <p:sp>
        <p:nvSpPr>
          <p:cNvPr id="6" name="TextBox 5"/>
          <p:cNvSpPr txBox="1"/>
          <p:nvPr/>
        </p:nvSpPr>
        <p:spPr>
          <a:xfrm>
            <a:off x="822960" y="1783080"/>
            <a:ext cx="10607040" cy="2194560"/>
          </a:xfrm>
          <a:prstGeom prst="rect">
            <a:avLst/>
          </a:prstGeom>
          <a:noFill/>
        </p:spPr>
        <p:txBody>
          <a:bodyPr wrap="square" anchor="t" lIns="45720" rIns="45720" tIns="18288" bIns="18288">
            <a:spAutoFit/>
          </a:bodyPr>
          <a:lstStyle/>
          <a:p>
            <a:pPr algn="l">
              <a:spcBef>
                <a:spcPts val="0"/>
              </a:spcBef>
              <a:spcAft>
                <a:spcPts val="1000"/>
              </a:spcAft>
            </a:pPr>
            <a:r>
              <a:rPr sz="3600" b="1" i="0">
                <a:solidFill>
                  <a:srgbClr val="FFFFFF"/>
                </a:solidFill>
                <a:latin typeface="Calibri"/>
              </a:rPr>
              <a:t>How We Organize &amp; Filter Learning Content</a:t>
            </a:r>
          </a:p>
          <a:p>
            <a:pPr algn="l">
              <a:spcBef>
                <a:spcPts val="0"/>
              </a:spcBef>
              <a:spcAft>
                <a:spcPts val="600"/>
              </a:spcAft>
            </a:pPr>
            <a:r>
              <a:rPr sz="1800" b="0" i="0">
                <a:solidFill>
                  <a:srgbClr val="C9C6DE"/>
                </a:solidFill>
                <a:latin typeface="Calibri"/>
              </a:rPr>
              <a:t>A plain-language plan for sorting our words, phrases and exercises, now with a Work / Personal / Both mode that reshapes the whole experience around why each learner is here.</a:t>
            </a:r>
          </a:p>
        </p:txBody>
      </p:sp>
      <p:sp>
        <p:nvSpPr>
          <p:cNvPr id="7" name="TextBox 6"/>
          <p:cNvSpPr txBox="1"/>
          <p:nvPr/>
        </p:nvSpPr>
        <p:spPr>
          <a:xfrm>
            <a:off x="822960" y="5166360"/>
            <a:ext cx="10607040" cy="1097280"/>
          </a:xfrm>
          <a:prstGeom prst="rect">
            <a:avLst/>
          </a:prstGeom>
          <a:noFill/>
        </p:spPr>
        <p:txBody>
          <a:bodyPr wrap="square" anchor="t" lIns="45720" rIns="45720" tIns="18288" bIns="18288">
            <a:spAutoFit/>
          </a:bodyPr>
          <a:lstStyle/>
          <a:p>
            <a:pPr algn="l">
              <a:spcBef>
                <a:spcPts val="0"/>
              </a:spcBef>
              <a:spcAft>
                <a:spcPts val="300"/>
              </a:spcAft>
            </a:pPr>
            <a:r>
              <a:rPr sz="1400" b="1" i="0">
                <a:solidFill>
                  <a:srgbClr val="9B98B8"/>
                </a:solidFill>
                <a:latin typeface="Calibri"/>
              </a:rPr>
              <a:t>Research + recommendation + app mockups  ·  v3 (adds Mode layer)</a:t>
            </a:r>
          </a:p>
          <a:p>
            <a:pPr algn="l">
              <a:spcBef>
                <a:spcPts val="0"/>
              </a:spcBef>
              <a:spcAft>
                <a:spcPts val="600"/>
              </a:spcAft>
            </a:pPr>
            <a:r>
              <a:rPr sz="1300" b="0" i="0">
                <a:solidFill>
                  <a:srgbClr val="7C7999"/>
                </a:solidFill>
                <a:latin typeface="Calibri"/>
              </a:rPr>
              <a:t>Written for a non-technical reader. No code knowledge needed.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5B5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424160" cy="365760"/>
          </a:xfrm>
          <a:prstGeom prst="rect">
            <a:avLst/>
          </a:prstGeom>
          <a:noFill/>
        </p:spPr>
        <p:txBody>
          <a:bodyPr wrap="square" anchor="t" lIns="45720" rIns="45720" tIns="18288" bIns="18288">
            <a:spAutoFit/>
          </a:bodyPr>
          <a:lstStyle/>
          <a:p>
            <a:pPr algn="l">
              <a:spcBef>
                <a:spcPts val="0"/>
              </a:spcBef>
              <a:spcAft>
                <a:spcPts val="200"/>
              </a:spcAft>
            </a:pPr>
            <a:r>
              <a:rPr sz="1200" b="1" i="0">
                <a:solidFill>
                  <a:srgbClr val="5B5BE6"/>
                </a:solidFill>
                <a:latin typeface="Calibri"/>
              </a:rPr>
              <a:t>BEFORE WE START</a:t>
            </a:r>
          </a:p>
        </p:txBody>
      </p:sp>
      <p:sp>
        <p:nvSpPr>
          <p:cNvPr id="5" name="TextBox 4"/>
          <p:cNvSpPr txBox="1"/>
          <p:nvPr/>
        </p:nvSpPr>
        <p:spPr>
          <a:xfrm>
            <a:off x="502920" y="585216"/>
            <a:ext cx="10881360" cy="868680"/>
          </a:xfrm>
          <a:prstGeom prst="rect">
            <a:avLst/>
          </a:prstGeom>
          <a:noFill/>
        </p:spPr>
        <p:txBody>
          <a:bodyPr wrap="square" anchor="t" lIns="45720" rIns="45720" tIns="18288" bIns="18288">
            <a:spAutoFit/>
          </a:bodyPr>
          <a:lstStyle/>
          <a:p>
            <a:pPr algn="l">
              <a:spcBef>
                <a:spcPts val="0"/>
              </a:spcBef>
              <a:spcAft>
                <a:spcPts val="0"/>
              </a:spcAft>
            </a:pPr>
            <a:r>
              <a:rPr sz="2600" b="1" i="0">
                <a:solidFill>
                  <a:srgbClr val="1E1B2E"/>
                </a:solidFill>
                <a:latin typeface="Calibri"/>
              </a:rPr>
              <a:t>How to read this deck</a:t>
            </a:r>
          </a:p>
        </p:txBody>
      </p:sp>
      <p:sp>
        <p:nvSpPr>
          <p:cNvPr id="6" name="Rounded Rectangle 5"/>
          <p:cNvSpPr/>
          <p:nvPr/>
        </p:nvSpPr>
        <p:spPr>
          <a:xfrm>
            <a:off x="11338560" y="310896"/>
            <a:ext cx="566928" cy="384048"/>
          </a:xfrm>
          <a:prstGeom prst="roundRect">
            <a:avLst/>
          </a:prstGeom>
          <a:solidFill>
            <a:srgbClr val="F4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i="0">
                <a:solidFill>
                  <a:srgbClr val="5B5BE6"/>
                </a:solidFill>
                <a:latin typeface="Calibri"/>
              </a:rPr>
              <a:t>&gt;</a:t>
            </a:r>
          </a:p>
        </p:txBody>
      </p:sp>
      <p:sp>
        <p:nvSpPr>
          <p:cNvPr id="7" name="Rectangle 6"/>
          <p:cNvSpPr/>
          <p:nvPr/>
        </p:nvSpPr>
        <p:spPr>
          <a:xfrm>
            <a:off x="502920" y="1335024"/>
            <a:ext cx="1920240" cy="36576"/>
          </a:xfrm>
          <a:prstGeom prst="rect">
            <a:avLst/>
          </a:prstGeom>
          <a:solidFill>
            <a:srgbClr val="5B5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572768"/>
            <a:ext cx="11064240" cy="4023360"/>
          </a:xfrm>
          <a:prstGeom prst="rect">
            <a:avLst/>
          </a:prstGeom>
          <a:noFill/>
        </p:spPr>
        <p:txBody>
          <a:bodyPr wrap="square" anchor="t" lIns="45720" rIns="45720" tIns="18288" bIns="18288">
            <a:spAutoFit/>
          </a:bodyPr>
          <a:lstStyle/>
          <a:p>
            <a:pPr algn="l">
              <a:spcBef>
                <a:spcPts val="0"/>
              </a:spcBef>
              <a:spcAft>
                <a:spcPts val="800"/>
              </a:spcAft>
            </a:pPr>
            <a:r>
              <a:rPr sz="1500" b="1" i="0">
                <a:solidFill>
                  <a:srgbClr val="1E1B2E"/>
                </a:solidFill>
                <a:latin typeface="Calibri"/>
              </a:rPr>
              <a:t>This deck answers one question:</a:t>
            </a:r>
          </a:p>
          <a:p>
            <a:pPr algn="l">
              <a:spcBef>
                <a:spcPts val="0"/>
              </a:spcBef>
              <a:spcAft>
                <a:spcPts val="1400"/>
              </a:spcAft>
            </a:pPr>
            <a:r>
              <a:rPr sz="1600" b="1" i="1">
                <a:solidFill>
                  <a:srgbClr val="5B5BE6"/>
                </a:solidFill>
                <a:latin typeface="Calibri"/>
              </a:rPr>
              <a:t>“As we add more words, phrases and exercises, how do we sort and label them so the app stays easy to use and easy to grow?”</a:t>
            </a:r>
          </a:p>
          <a:p>
            <a:pPr algn="l">
              <a:spcBef>
                <a:spcPts val="0"/>
              </a:spcBef>
              <a:spcAft>
                <a:spcPts val="800"/>
              </a:spcAft>
            </a:pPr>
            <a:r>
              <a:rPr sz="1600" b="1" i="0">
                <a:solidFill>
                  <a:srgbClr val="1E1B2E"/>
                </a:solidFill>
                <a:latin typeface="Calibri"/>
              </a:rPr>
              <a:t>Four plain-English ideas you'll see repeated</a:t>
            </a:r>
          </a:p>
          <a:p>
            <a:pPr>
              <a:spcBef>
                <a:spcPts val="0"/>
              </a:spcBef>
              <a:spcAft>
                <a:spcPts val="700"/>
              </a:spcAft>
            </a:pPr>
            <a:r>
              <a:rPr sz="1500" b="1" i="0">
                <a:solidFill>
                  <a:srgbClr val="5B5BE6"/>
                </a:solidFill>
                <a:latin typeface="Calibri"/>
              </a:rPr>
              <a:t>•  </a:t>
            </a:r>
            <a:r>
              <a:rPr sz="1500" b="1" i="0">
                <a:solidFill>
                  <a:srgbClr val="444455"/>
                </a:solidFill>
                <a:latin typeface="Calibri"/>
              </a:rPr>
              <a:t>Mode = who you are here as. </a:t>
            </a:r>
            <a:r>
              <a:rPr sz="1500" b="0" i="0">
                <a:solidFill>
                  <a:srgbClr val="444455"/>
                </a:solidFill>
                <a:latin typeface="Calibri"/>
              </a:rPr>
              <a:t>A big switch: learning for Work, Personal life, or Both. It reshapes everything below it. (NEW in this version.)</a:t>
            </a:r>
          </a:p>
          <a:p>
            <a:pPr>
              <a:spcBef>
                <a:spcPts val="0"/>
              </a:spcBef>
              <a:spcAft>
                <a:spcPts val="700"/>
              </a:spcAft>
            </a:pPr>
            <a:r>
              <a:rPr sz="1500" b="1" i="0">
                <a:solidFill>
                  <a:srgbClr val="5B5BE6"/>
                </a:solidFill>
                <a:latin typeface="Calibri"/>
              </a:rPr>
              <a:t>•  </a:t>
            </a:r>
            <a:r>
              <a:rPr sz="1500" b="1" i="0">
                <a:solidFill>
                  <a:srgbClr val="444455"/>
                </a:solidFill>
                <a:latin typeface="Calibri"/>
              </a:rPr>
              <a:t>Topics = folders. </a:t>
            </a:r>
            <a:r>
              <a:rPr sz="1500" b="0" i="0">
                <a:solidFill>
                  <a:srgbClr val="444455"/>
                </a:solidFill>
                <a:latin typeface="Calibri"/>
              </a:rPr>
              <a:t>A tree you browse: Working life → Meetings → Running a meeting.</a:t>
            </a:r>
          </a:p>
          <a:p>
            <a:pPr>
              <a:spcBef>
                <a:spcPts val="0"/>
              </a:spcBef>
              <a:spcAft>
                <a:spcPts val="700"/>
              </a:spcAft>
            </a:pPr>
            <a:r>
              <a:rPr sz="1500" b="1" i="0">
                <a:solidFill>
                  <a:srgbClr val="5B5BE6"/>
                </a:solidFill>
                <a:latin typeface="Calibri"/>
              </a:rPr>
              <a:t>•  </a:t>
            </a:r>
            <a:r>
              <a:rPr sz="1500" b="1" i="0">
                <a:solidFill>
                  <a:srgbClr val="444455"/>
                </a:solidFill>
                <a:latin typeface="Calibri"/>
              </a:rPr>
              <a:t>Tags = sticky labels. </a:t>
            </a:r>
            <a:r>
              <a:rPr sz="1500" b="0" i="0">
                <a:solidFill>
                  <a:srgbClr val="444455"/>
                </a:solidFill>
                <a:latin typeface="Calibri"/>
              </a:rPr>
              <a:t>Properties you mix and match: “level B2” + “formal” + “still learning”.</a:t>
            </a:r>
          </a:p>
          <a:p>
            <a:pPr>
              <a:spcBef>
                <a:spcPts val="0"/>
              </a:spcBef>
              <a:spcAft>
                <a:spcPts val="700"/>
              </a:spcAft>
            </a:pPr>
            <a:r>
              <a:rPr sz="1500" b="1" i="0">
                <a:solidFill>
                  <a:srgbClr val="5B5BE6"/>
                </a:solidFill>
                <a:latin typeface="Calibri"/>
              </a:rPr>
              <a:t>•  </a:t>
            </a:r>
            <a:r>
              <a:rPr sz="1500" b="1" i="0">
                <a:solidFill>
                  <a:srgbClr val="444455"/>
                </a:solidFill>
                <a:latin typeface="Calibri"/>
              </a:rPr>
              <a:t>A filter = a saved search. </a:t>
            </a:r>
            <a:r>
              <a:rPr sz="1500" b="0" i="0">
                <a:solidFill>
                  <a:srgbClr val="444455"/>
                </a:solidFill>
                <a:latin typeface="Calibri"/>
              </a:rPr>
              <a:t>“Formal B2 office-email phrases I haven't mastered” is just labels combined, not a new folder.</a:t>
            </a:r>
          </a:p>
        </p:txBody>
      </p:sp>
      <p:sp>
        <p:nvSpPr>
          <p:cNvPr id="9" name="Rounded Rectangle 8"/>
          <p:cNvSpPr/>
          <p:nvPr/>
        </p:nvSpPr>
        <p:spPr>
          <a:xfrm>
            <a:off x="548640" y="5532120"/>
            <a:ext cx="11064240" cy="960120"/>
          </a:xfrm>
          <a:prstGeom prst="roundRect">
            <a:avLst/>
          </a:prstGeom>
          <a:solidFill>
            <a:srgbClr val="F4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64592" tIns="118872"/>
          <a:lstStyle/>
          <a:p>
            <a:pPr algn="l">
              <a:spcBef>
                <a:spcPts val="0"/>
              </a:spcBef>
              <a:spcAft>
                <a:spcPts val="400"/>
              </a:spcAft>
            </a:pPr>
            <a:r>
              <a:rPr sz="1400" b="1" i="0">
                <a:solidFill>
                  <a:srgbClr val="5B5BE6"/>
                </a:solidFill>
                <a:latin typeface="Calibri"/>
              </a:rPr>
              <a:t>The supermarket analogy we'll use all deck</a:t>
            </a:r>
          </a:p>
          <a:p>
            <a:pPr algn="l">
              <a:spcBef>
                <a:spcPts val="0"/>
              </a:spcBef>
              <a:spcAft>
                <a:spcPts val="500"/>
              </a:spcAft>
            </a:pPr>
            <a:r>
              <a:rPr sz="1350" b="0" i="0">
                <a:solidFill>
                  <a:srgbClr val="444455"/>
                </a:solidFill>
                <a:latin typeface="Calibri"/>
              </a:rPr>
              <a:t>A good supermarket has aisles (folders) AND labels like “organic” or “under €5” (tags), so you can browse or zero in. Mode is like choosing which half of the store you came for today. Our app has aisles, only one of them, and no mode and no labels yet.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5B5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424160" cy="365760"/>
          </a:xfrm>
          <a:prstGeom prst="rect">
            <a:avLst/>
          </a:prstGeom>
          <a:noFill/>
        </p:spPr>
        <p:txBody>
          <a:bodyPr wrap="square" anchor="t" lIns="45720" rIns="45720" tIns="18288" bIns="18288">
            <a:spAutoFit/>
          </a:bodyPr>
          <a:lstStyle/>
          <a:p>
            <a:pPr algn="l">
              <a:spcBef>
                <a:spcPts val="0"/>
              </a:spcBef>
              <a:spcAft>
                <a:spcPts val="200"/>
              </a:spcAft>
            </a:pPr>
            <a:r>
              <a:rPr sz="1200" b="1" i="0">
                <a:solidFill>
                  <a:srgbClr val="5B5BE6"/>
                </a:solidFill>
                <a:latin typeface="Calibri"/>
              </a:rPr>
              <a:t>SLIDE 1</a:t>
            </a:r>
          </a:p>
        </p:txBody>
      </p:sp>
      <p:sp>
        <p:nvSpPr>
          <p:cNvPr id="5" name="TextBox 4"/>
          <p:cNvSpPr txBox="1"/>
          <p:nvPr/>
        </p:nvSpPr>
        <p:spPr>
          <a:xfrm>
            <a:off x="502920" y="585216"/>
            <a:ext cx="10881360" cy="868680"/>
          </a:xfrm>
          <a:prstGeom prst="rect">
            <a:avLst/>
          </a:prstGeom>
          <a:noFill/>
        </p:spPr>
        <p:txBody>
          <a:bodyPr wrap="square" anchor="t" lIns="45720" rIns="45720" tIns="18288" bIns="18288">
            <a:spAutoFit/>
          </a:bodyPr>
          <a:lstStyle/>
          <a:p>
            <a:pPr algn="l">
              <a:spcBef>
                <a:spcPts val="0"/>
              </a:spcBef>
              <a:spcAft>
                <a:spcPts val="0"/>
              </a:spcAft>
            </a:pPr>
            <a:r>
              <a:rPr sz="2600" b="1" i="0">
                <a:solidFill>
                  <a:srgbClr val="1E1B2E"/>
                </a:solidFill>
                <a:latin typeface="Calibri"/>
              </a:rPr>
              <a:t>The big picture, in one minute</a:t>
            </a:r>
          </a:p>
        </p:txBody>
      </p:sp>
      <p:sp>
        <p:nvSpPr>
          <p:cNvPr id="6" name="Rounded Rectangle 5"/>
          <p:cNvSpPr/>
          <p:nvPr/>
        </p:nvSpPr>
        <p:spPr>
          <a:xfrm>
            <a:off x="11338560" y="310896"/>
            <a:ext cx="566928" cy="384048"/>
          </a:xfrm>
          <a:prstGeom prst="roundRect">
            <a:avLst/>
          </a:prstGeom>
          <a:solidFill>
            <a:srgbClr val="F4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i="0">
                <a:solidFill>
                  <a:srgbClr val="5B5BE6"/>
                </a:solidFill>
                <a:latin typeface="Calibri"/>
              </a:rPr>
              <a:t>1</a:t>
            </a:r>
          </a:p>
        </p:txBody>
      </p:sp>
      <p:sp>
        <p:nvSpPr>
          <p:cNvPr id="7" name="Rectangle 6"/>
          <p:cNvSpPr/>
          <p:nvPr/>
        </p:nvSpPr>
        <p:spPr>
          <a:xfrm>
            <a:off x="502920" y="1335024"/>
            <a:ext cx="1920240" cy="36576"/>
          </a:xfrm>
          <a:prstGeom prst="rect">
            <a:avLst/>
          </a:prstGeom>
          <a:solidFill>
            <a:srgbClr val="5B5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572768"/>
            <a:ext cx="11064240" cy="2286000"/>
          </a:xfrm>
          <a:prstGeom prst="rect">
            <a:avLst/>
          </a:prstGeom>
          <a:noFill/>
        </p:spPr>
        <p:txBody>
          <a:bodyPr wrap="square" anchor="t" lIns="45720" rIns="45720" tIns="18288" bIns="18288">
            <a:spAutoFit/>
          </a:bodyPr>
          <a:lstStyle/>
          <a:p>
            <a:pPr algn="l">
              <a:spcBef>
                <a:spcPts val="0"/>
              </a:spcBef>
              <a:spcAft>
                <a:spcPts val="300"/>
              </a:spcAft>
            </a:pPr>
            <a:r>
              <a:rPr sz="1500" b="1" i="0">
                <a:solidFill>
                  <a:srgbClr val="B03A3A"/>
                </a:solidFill>
                <a:latin typeface="Calibri"/>
              </a:rPr>
              <a:t>The problem:</a:t>
            </a:r>
          </a:p>
          <a:p>
            <a:pPr algn="l">
              <a:spcBef>
                <a:spcPts val="0"/>
              </a:spcBef>
              <a:spcAft>
                <a:spcPts val="1200"/>
              </a:spcAft>
            </a:pPr>
            <a:r>
              <a:rPr sz="1500" b="0" i="0">
                <a:solidFill>
                  <a:srgbClr val="444455"/>
                </a:solidFill>
                <a:latin typeface="Calibri"/>
              </a:rPr>
              <a:t>Every part of the app sorts content by one thing only, a flat list of 11 topics on a single dropdown. No language level is shown anywhere, no sub-topics, no “what's left to learn,” and no sense of whether a learner is here for work or daily life. It works at 11 topics. It breaks at 100.</a:t>
            </a:r>
          </a:p>
          <a:p>
            <a:pPr algn="l">
              <a:spcBef>
                <a:spcPts val="0"/>
              </a:spcBef>
              <a:spcAft>
                <a:spcPts val="300"/>
              </a:spcAft>
            </a:pPr>
            <a:r>
              <a:rPr sz="1500" b="1" i="0">
                <a:solidFill>
                  <a:srgbClr val="2A9D6E"/>
                </a:solidFill>
                <a:latin typeface="Calibri"/>
              </a:rPr>
              <a:t>The fix:</a:t>
            </a:r>
          </a:p>
          <a:p>
            <a:pPr algn="l">
              <a:spcBef>
                <a:spcPts val="0"/>
              </a:spcBef>
              <a:spcAft>
                <a:spcPts val="0"/>
              </a:spcAft>
            </a:pPr>
            <a:r>
              <a:rPr sz="1500" b="0" i="0">
                <a:solidFill>
                  <a:srgbClr val="444455"/>
                </a:solidFill>
                <a:latin typeface="Calibri"/>
              </a:rPr>
              <a:t>Add a Work / Personal / Both mode on top. Under it, a shallow topic tree (3 levels) plus mix-and-match labels (level, formality, status). In Work mode, unlock richer labels: job sector, workplace situation, who you're speaking to. Show 2 simple filters by default; “Advanced” for the rest.</a:t>
            </a:r>
          </a:p>
        </p:txBody>
      </p:sp>
      <p:graphicFrame>
        <p:nvGraphicFramePr>
          <p:cNvPr id="9" name="Table 8"/>
          <p:cNvGraphicFramePr>
            <a:graphicFrameLocks noGrp="1"/>
          </p:cNvGraphicFramePr>
          <p:nvPr/>
        </p:nvGraphicFramePr>
        <p:xfrm>
          <a:off x="548640" y="4251960"/>
          <a:ext cx="11064240" cy="2103120"/>
        </p:xfrm>
        <a:graphic>
          <a:graphicData uri="http://schemas.openxmlformats.org/drawingml/2006/table">
            <a:tbl>
              <a:tblPr>
                <a:tableStyleId>{5C22544A-7EE6-4342-B048-85BDC9FD1C3A}</a:tableStyleId>
              </a:tblPr>
              <a:tblGrid>
                <a:gridCol w="4572000"/>
                <a:gridCol w="6492240"/>
              </a:tblGrid>
              <a:tr h="420624">
                <a:tc>
                  <a:txBody>
                    <a:bodyPr/>
                    <a:lstStyle/>
                    <a:p>
                      <a:pPr>
                        <a:spcAft>
                          <a:spcPts val="0"/>
                        </a:spcAft>
                      </a:pPr>
                      <a:r>
                        <a:rPr sz="1100" b="1" i="0">
                          <a:solidFill>
                            <a:srgbClr val="FFFFFF"/>
                          </a:solidFill>
                          <a:latin typeface="Calibri"/>
                        </a:rPr>
                        <a:t>Today</a:t>
                      </a:r>
                    </a:p>
                  </a:txBody>
                  <a:tcPr marL="73152" marR="54864" marT="27432" marB="27432" anchor="ctr">
                    <a:solidFill>
                      <a:srgbClr val="5B5BE6"/>
                    </a:solidFill>
                  </a:tcPr>
                </a:tc>
                <a:tc>
                  <a:txBody>
                    <a:bodyPr/>
                    <a:lstStyle/>
                    <a:p>
                      <a:pPr>
                        <a:spcAft>
                          <a:spcPts val="0"/>
                        </a:spcAft>
                      </a:pPr>
                      <a:r>
                        <a:rPr sz="1100" b="1" i="0">
                          <a:solidFill>
                            <a:srgbClr val="FFFFFF"/>
                          </a:solidFill>
                          <a:latin typeface="Calibri"/>
                        </a:rPr>
                        <a:t>After this plan</a:t>
                      </a:r>
                    </a:p>
                  </a:txBody>
                  <a:tcPr marL="73152" marR="54864" marT="27432" marB="27432" anchor="ctr">
                    <a:solidFill>
                      <a:srgbClr val="5B5BE6"/>
                    </a:solidFill>
                  </a:tcPr>
                </a:tc>
              </a:tr>
              <a:tr h="420624">
                <a:tc>
                  <a:txBody>
                    <a:bodyPr/>
                    <a:lstStyle/>
                    <a:p>
                      <a:pPr>
                        <a:spcAft>
                          <a:spcPts val="0"/>
                        </a:spcAft>
                      </a:pPr>
                      <a:r>
                        <a:rPr sz="1300" b="1" i="0">
                          <a:solidFill>
                            <a:srgbClr val="1E1B2E"/>
                          </a:solidFill>
                          <a:latin typeface="Calibri"/>
                        </a:rPr>
                        <a:t>No sense of work vs. personal</a:t>
                      </a:r>
                    </a:p>
                  </a:txBody>
                  <a:tcPr marL="73152" marR="54864" marT="27432" marB="27432" anchor="ctr">
                    <a:solidFill>
                      <a:srgbClr val="FFFFFF"/>
                    </a:solidFill>
                  </a:tcPr>
                </a:tc>
                <a:tc>
                  <a:txBody>
                    <a:bodyPr/>
                    <a:lstStyle/>
                    <a:p>
                      <a:pPr>
                        <a:spcAft>
                          <a:spcPts val="0"/>
                        </a:spcAft>
                      </a:pPr>
                      <a:r>
                        <a:rPr sz="1300" b="0" i="0">
                          <a:solidFill>
                            <a:srgbClr val="444455"/>
                          </a:solidFill>
                          <a:latin typeface="Calibri"/>
                        </a:rPr>
                        <a:t>A Work / Personal / Both mode set at sign-up</a:t>
                      </a:r>
                    </a:p>
                  </a:txBody>
                  <a:tcPr marL="73152" marR="54864" marT="27432" marB="27432" anchor="ctr">
                    <a:solidFill>
                      <a:srgbClr val="FFFFFF"/>
                    </a:solidFill>
                  </a:tcPr>
                </a:tc>
              </a:tr>
              <a:tr h="420624">
                <a:tc>
                  <a:txBody>
                    <a:bodyPr/>
                    <a:lstStyle/>
                    <a:p>
                      <a:pPr>
                        <a:spcAft>
                          <a:spcPts val="0"/>
                        </a:spcAft>
                      </a:pPr>
                      <a:r>
                        <a:rPr sz="1300" b="1" i="0">
                          <a:solidFill>
                            <a:srgbClr val="1E1B2E"/>
                          </a:solidFill>
                          <a:latin typeface="Calibri"/>
                        </a:rPr>
                        <a:t>1 dropdown, 11 flat topics</a:t>
                      </a:r>
                    </a:p>
                  </a:txBody>
                  <a:tcPr marL="73152" marR="54864" marT="27432" marB="27432" anchor="ctr">
                    <a:solidFill>
                      <a:srgbClr val="F7F6FC"/>
                    </a:solidFill>
                  </a:tcPr>
                </a:tc>
                <a:tc>
                  <a:txBody>
                    <a:bodyPr/>
                    <a:lstStyle/>
                    <a:p>
                      <a:pPr>
                        <a:spcAft>
                          <a:spcPts val="0"/>
                        </a:spcAft>
                      </a:pPr>
                      <a:r>
                        <a:rPr sz="1300" b="0" i="0">
                          <a:solidFill>
                            <a:srgbClr val="444455"/>
                          </a:solidFill>
                          <a:latin typeface="Calibri"/>
                        </a:rPr>
                        <a:t>Topics in a tidy tree + mix-and-match labels</a:t>
                      </a:r>
                    </a:p>
                  </a:txBody>
                  <a:tcPr marL="73152" marR="54864" marT="27432" marB="27432" anchor="ctr">
                    <a:solidFill>
                      <a:srgbClr val="F7F6FC"/>
                    </a:solidFill>
                  </a:tcPr>
                </a:tc>
              </a:tr>
              <a:tr h="420624">
                <a:tc>
                  <a:txBody>
                    <a:bodyPr/>
                    <a:lstStyle/>
                    <a:p>
                      <a:pPr>
                        <a:spcAft>
                          <a:spcPts val="0"/>
                        </a:spcAft>
                      </a:pPr>
                      <a:r>
                        <a:rPr sz="1300" b="1" i="0">
                          <a:solidFill>
                            <a:srgbClr val="1E1B2E"/>
                          </a:solidFill>
                          <a:latin typeface="Calibri"/>
                        </a:rPr>
                        <a:t>No language level shown</a:t>
                      </a:r>
                    </a:p>
                  </a:txBody>
                  <a:tcPr marL="73152" marR="54864" marT="27432" marB="27432" anchor="ctr">
                    <a:solidFill>
                      <a:srgbClr val="FFFFFF"/>
                    </a:solidFill>
                  </a:tcPr>
                </a:tc>
                <a:tc>
                  <a:txBody>
                    <a:bodyPr/>
                    <a:lstStyle/>
                    <a:p>
                      <a:pPr>
                        <a:spcAft>
                          <a:spcPts val="0"/>
                        </a:spcAft>
                      </a:pPr>
                      <a:r>
                        <a:rPr sz="1300" b="0" i="0">
                          <a:solidFill>
                            <a:srgbClr val="444455"/>
                          </a:solidFill>
                          <a:latin typeface="Calibri"/>
                        </a:rPr>
                        <a:t>Every item shows its level (B1.1 … B2.2)</a:t>
                      </a:r>
                    </a:p>
                  </a:txBody>
                  <a:tcPr marL="73152" marR="54864" marT="27432" marB="27432" anchor="ctr">
                    <a:solidFill>
                      <a:srgbClr val="FFFFFF"/>
                    </a:solidFill>
                  </a:tcPr>
                </a:tc>
              </a:tr>
              <a:tr h="420624">
                <a:tc>
                  <a:txBody>
                    <a:bodyPr/>
                    <a:lstStyle/>
                    <a:p>
                      <a:pPr>
                        <a:spcAft>
                          <a:spcPts val="0"/>
                        </a:spcAft>
                      </a:pPr>
                      <a:r>
                        <a:rPr sz="1300" b="1" i="0">
                          <a:solidFill>
                            <a:srgbClr val="1E1B2E"/>
                          </a:solidFill>
                          <a:latin typeface="Calibri"/>
                        </a:rPr>
                        <a:t>Work = 10 generic topics</a:t>
                      </a:r>
                    </a:p>
                  </a:txBody>
                  <a:tcPr marL="73152" marR="54864" marT="27432" marB="27432" anchor="ctr">
                    <a:solidFill>
                      <a:srgbClr val="F7F6FC"/>
                    </a:solidFill>
                  </a:tcPr>
                </a:tc>
                <a:tc>
                  <a:txBody>
                    <a:bodyPr/>
                    <a:lstStyle/>
                    <a:p>
                      <a:pPr>
                        <a:spcAft>
                          <a:spcPts val="0"/>
                        </a:spcAft>
                      </a:pPr>
                      <a:r>
                        <a:rPr sz="1300" b="0" i="0">
                          <a:solidFill>
                            <a:srgbClr val="444455"/>
                          </a:solidFill>
                          <a:latin typeface="Calibri"/>
                        </a:rPr>
                        <a:t>Work mode adds sector, situation &amp; “who you talk to”</a:t>
                      </a:r>
                    </a:p>
                  </a:txBody>
                  <a:tcPr marL="73152" marR="54864" marT="27432" marB="27432" anchor="ctr">
                    <a:solidFill>
                      <a:srgbClr val="F7F6FC"/>
                    </a:solidFill>
                  </a:tcPr>
                </a:tc>
              </a:tr>
            </a:tbl>
          </a:graphicData>
        </a:graphic>
      </p:graphicFrame>
      <p:sp>
        <p:nvSpPr>
          <p:cNvPr id="10" name="Rounded Rectangle 9"/>
          <p:cNvSpPr/>
          <p:nvPr/>
        </p:nvSpPr>
        <p:spPr>
          <a:xfrm>
            <a:off x="548640" y="6400800"/>
            <a:ext cx="11064240" cy="384048"/>
          </a:xfrm>
          <a:prstGeom prst="roundRect">
            <a:avLst/>
          </a:prstGeom>
          <a:solidFill>
            <a:srgbClr val="FBF1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64592" tIns="118872"/>
          <a:lstStyle/>
          <a:p>
            <a:pPr algn="l">
              <a:spcBef>
                <a:spcPts val="0"/>
              </a:spcBef>
              <a:spcAft>
                <a:spcPts val="400"/>
              </a:spcAft>
            </a:pPr>
            <a:r>
              <a:rPr sz="1400" b="1" i="0">
                <a:solidFill>
                  <a:srgbClr val="C06A2A"/>
                </a:solidFill>
                <a:latin typeface="Calibri"/>
              </a:rPr>
              <a:t>Why now</a:t>
            </a:r>
          </a:p>
          <a:p>
            <a:pPr algn="l">
              <a:spcBef>
                <a:spcPts val="0"/>
              </a:spcBef>
              <a:spcAft>
                <a:spcPts val="500"/>
              </a:spcAft>
            </a:pPr>
            <a:r>
              <a:rPr sz="1300" b="0" i="0">
                <a:solidFill>
                  <a:srgbClr val="444455"/>
                </a:solidFill>
                <a:latin typeface="Calibri"/>
              </a:rPr>
              <a:t>Far cheaper to set this up at 11 topics than to untangle it at 100. The longer we wait, the more items we relabel later.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5B5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424160" cy="365760"/>
          </a:xfrm>
          <a:prstGeom prst="rect">
            <a:avLst/>
          </a:prstGeom>
          <a:noFill/>
        </p:spPr>
        <p:txBody>
          <a:bodyPr wrap="square" anchor="t" lIns="45720" rIns="45720" tIns="18288" bIns="18288">
            <a:spAutoFit/>
          </a:bodyPr>
          <a:lstStyle/>
          <a:p>
            <a:pPr algn="l">
              <a:spcBef>
                <a:spcPts val="0"/>
              </a:spcBef>
              <a:spcAft>
                <a:spcPts val="200"/>
              </a:spcAft>
            </a:pPr>
            <a:r>
              <a:rPr sz="1200" b="1" i="0">
                <a:solidFill>
                  <a:srgbClr val="5B5BE6"/>
                </a:solidFill>
                <a:latin typeface="Calibri"/>
              </a:rPr>
              <a:t>SLIDE 2  ·  WHAT OTHER APPS DO (1 OF 3)</a:t>
            </a:r>
          </a:p>
        </p:txBody>
      </p:sp>
      <p:sp>
        <p:nvSpPr>
          <p:cNvPr id="5" name="TextBox 4"/>
          <p:cNvSpPr txBox="1"/>
          <p:nvPr/>
        </p:nvSpPr>
        <p:spPr>
          <a:xfrm>
            <a:off x="502920" y="585216"/>
            <a:ext cx="10881360" cy="868680"/>
          </a:xfrm>
          <a:prstGeom prst="rect">
            <a:avLst/>
          </a:prstGeom>
          <a:noFill/>
        </p:spPr>
        <p:txBody>
          <a:bodyPr wrap="square" anchor="t" lIns="45720" rIns="45720" tIns="18288" bIns="18288">
            <a:spAutoFit/>
          </a:bodyPr>
          <a:lstStyle/>
          <a:p>
            <a:pPr algn="l">
              <a:spcBef>
                <a:spcPts val="0"/>
              </a:spcBef>
              <a:spcAft>
                <a:spcPts val="0"/>
              </a:spcAft>
            </a:pPr>
            <a:r>
              <a:rPr sz="2600" b="1" i="0">
                <a:solidFill>
                  <a:srgbClr val="1E1B2E"/>
                </a:solidFill>
                <a:latin typeface="Calibri"/>
              </a:rPr>
              <a:t>The big consumer apps</a:t>
            </a:r>
          </a:p>
        </p:txBody>
      </p:sp>
      <p:sp>
        <p:nvSpPr>
          <p:cNvPr id="6" name="Rounded Rectangle 5"/>
          <p:cNvSpPr/>
          <p:nvPr/>
        </p:nvSpPr>
        <p:spPr>
          <a:xfrm>
            <a:off x="11338560" y="310896"/>
            <a:ext cx="566928" cy="384048"/>
          </a:xfrm>
          <a:prstGeom prst="roundRect">
            <a:avLst/>
          </a:prstGeom>
          <a:solidFill>
            <a:srgbClr val="F4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i="0">
                <a:solidFill>
                  <a:srgbClr val="5B5BE6"/>
                </a:solidFill>
                <a:latin typeface="Calibri"/>
              </a:rPr>
              <a:t>2</a:t>
            </a:r>
          </a:p>
        </p:txBody>
      </p:sp>
      <p:sp>
        <p:nvSpPr>
          <p:cNvPr id="7" name="Rectangle 6"/>
          <p:cNvSpPr/>
          <p:nvPr/>
        </p:nvSpPr>
        <p:spPr>
          <a:xfrm>
            <a:off x="502920" y="1335024"/>
            <a:ext cx="1920240" cy="36576"/>
          </a:xfrm>
          <a:prstGeom prst="rect">
            <a:avLst/>
          </a:prstGeom>
          <a:solidFill>
            <a:srgbClr val="5B5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548640" y="1572768"/>
          <a:ext cx="11064240" cy="3749040"/>
        </p:xfrm>
        <a:graphic>
          <a:graphicData uri="http://schemas.openxmlformats.org/drawingml/2006/table">
            <a:tbl>
              <a:tblPr>
                <a:tableStyleId>{5C22544A-7EE6-4342-B048-85BDC9FD1C3A}</a:tableStyleId>
              </a:tblPr>
              <a:tblGrid>
                <a:gridCol w="1737360"/>
                <a:gridCol w="4206240"/>
                <a:gridCol w="5120640"/>
              </a:tblGrid>
              <a:tr h="749808">
                <a:tc>
                  <a:txBody>
                    <a:bodyPr/>
                    <a:lstStyle/>
                    <a:p>
                      <a:pPr>
                        <a:spcAft>
                          <a:spcPts val="0"/>
                        </a:spcAft>
                      </a:pPr>
                      <a:r>
                        <a:rPr sz="1100" b="1" i="0">
                          <a:solidFill>
                            <a:srgbClr val="FFFFFF"/>
                          </a:solidFill>
                          <a:latin typeface="Calibri"/>
                        </a:rPr>
                        <a:t>App</a:t>
                      </a:r>
                    </a:p>
                  </a:txBody>
                  <a:tcPr marL="73152" marR="54864" marT="27432" marB="27432" anchor="ctr">
                    <a:solidFill>
                      <a:srgbClr val="5B5BE6"/>
                    </a:solidFill>
                  </a:tcPr>
                </a:tc>
                <a:tc>
                  <a:txBody>
                    <a:bodyPr/>
                    <a:lstStyle/>
                    <a:p>
                      <a:pPr>
                        <a:spcAft>
                          <a:spcPts val="0"/>
                        </a:spcAft>
                      </a:pPr>
                      <a:r>
                        <a:rPr sz="1100" b="1" i="0">
                          <a:solidFill>
                            <a:srgbClr val="FFFFFF"/>
                          </a:solidFill>
                          <a:latin typeface="Calibri"/>
                        </a:rPr>
                        <a:t>How it sorts content</a:t>
                      </a:r>
                    </a:p>
                  </a:txBody>
                  <a:tcPr marL="73152" marR="54864" marT="27432" marB="27432" anchor="ctr">
                    <a:solidFill>
                      <a:srgbClr val="5B5BE6"/>
                    </a:solidFill>
                  </a:tcPr>
                </a:tc>
                <a:tc>
                  <a:txBody>
                    <a:bodyPr/>
                    <a:lstStyle/>
                    <a:p>
                      <a:pPr>
                        <a:spcAft>
                          <a:spcPts val="0"/>
                        </a:spcAft>
                      </a:pPr>
                      <a:r>
                        <a:rPr sz="1100" b="1" i="0">
                          <a:solidFill>
                            <a:srgbClr val="FFFFFF"/>
                          </a:solidFill>
                          <a:latin typeface="Calibri"/>
                        </a:rPr>
                        <a:t>What it teaches us</a:t>
                      </a:r>
                    </a:p>
                  </a:txBody>
                  <a:tcPr marL="73152" marR="54864" marT="27432" marB="27432" anchor="ctr">
                    <a:solidFill>
                      <a:srgbClr val="5B5BE6"/>
                    </a:solidFill>
                  </a:tcPr>
                </a:tc>
              </a:tr>
              <a:tr h="749808">
                <a:tc>
                  <a:txBody>
                    <a:bodyPr/>
                    <a:lstStyle/>
                    <a:p>
                      <a:pPr>
                        <a:spcAft>
                          <a:spcPts val="0"/>
                        </a:spcAft>
                      </a:pPr>
                      <a:r>
                        <a:rPr sz="1200" b="1" i="0">
                          <a:solidFill>
                            <a:srgbClr val="1E1B2E"/>
                          </a:solidFill>
                          <a:latin typeface="Calibri"/>
                        </a:rPr>
                        <a:t>Duolingo</a:t>
                      </a:r>
                    </a:p>
                  </a:txBody>
                  <a:tcPr marL="73152" marR="54864" marT="27432" marB="27432" anchor="ctr">
                    <a:solidFill>
                      <a:srgbClr val="FFFFFF"/>
                    </a:solidFill>
                  </a:tcPr>
                </a:tc>
                <a:tc>
                  <a:txBody>
                    <a:bodyPr/>
                    <a:lstStyle/>
                    <a:p>
                      <a:pPr>
                        <a:spcAft>
                          <a:spcPts val="0"/>
                        </a:spcAft>
                      </a:pPr>
                      <a:r>
                        <a:rPr sz="1200" b="0" i="0">
                          <a:solidFill>
                            <a:srgbClr val="444455"/>
                          </a:solidFill>
                          <a:latin typeface="Calibri"/>
                        </a:rPr>
                        <a:t>One fixed path; the app decides, you can't filter</a:t>
                      </a:r>
                    </a:p>
                  </a:txBody>
                  <a:tcPr marL="73152" marR="54864" marT="27432" marB="27432" anchor="ctr">
                    <a:solidFill>
                      <a:srgbClr val="FFFFFF"/>
                    </a:solidFill>
                  </a:tcPr>
                </a:tc>
                <a:tc>
                  <a:txBody>
                    <a:bodyPr/>
                    <a:lstStyle/>
                    <a:p>
                      <a:pPr>
                        <a:spcAft>
                          <a:spcPts val="0"/>
                        </a:spcAft>
                      </a:pPr>
                      <a:r>
                        <a:rPr sz="1200" b="0" i="0">
                          <a:solidFill>
                            <a:srgbClr val="444455"/>
                          </a:solidFill>
                          <a:latin typeface="Calibri"/>
                        </a:rPr>
                        <a:t>Great momentum, useless if you need Behörde words THIS week</a:t>
                      </a:r>
                    </a:p>
                  </a:txBody>
                  <a:tcPr marL="73152" marR="54864" marT="27432" marB="27432" anchor="ctr">
                    <a:solidFill>
                      <a:srgbClr val="FFFFFF"/>
                    </a:solidFill>
                  </a:tcPr>
                </a:tc>
              </a:tr>
              <a:tr h="749808">
                <a:tc>
                  <a:txBody>
                    <a:bodyPr/>
                    <a:lstStyle/>
                    <a:p>
                      <a:pPr>
                        <a:spcAft>
                          <a:spcPts val="0"/>
                        </a:spcAft>
                      </a:pPr>
                      <a:r>
                        <a:rPr sz="1200" b="1" i="0">
                          <a:solidFill>
                            <a:srgbClr val="1E1B2E"/>
                          </a:solidFill>
                          <a:latin typeface="Calibri"/>
                        </a:rPr>
                        <a:t>Babbel</a:t>
                      </a:r>
                    </a:p>
                  </a:txBody>
                  <a:tcPr marL="73152" marR="54864" marT="27432" marB="27432" anchor="ctr">
                    <a:solidFill>
                      <a:srgbClr val="F7F6FC"/>
                    </a:solidFill>
                  </a:tcPr>
                </a:tc>
                <a:tc>
                  <a:txBody>
                    <a:bodyPr/>
                    <a:lstStyle/>
                    <a:p>
                      <a:pPr>
                        <a:spcAft>
                          <a:spcPts val="0"/>
                        </a:spcAft>
                      </a:pPr>
                      <a:r>
                        <a:rPr sz="1200" b="0" i="0">
                          <a:solidFill>
                            <a:srgbClr val="444455"/>
                          </a:solidFill>
                          <a:latin typeface="Calibri"/>
                        </a:rPr>
                        <a:t>Courses by goal; a whole corporate “work German” arm</a:t>
                      </a:r>
                    </a:p>
                  </a:txBody>
                  <a:tcPr marL="73152" marR="54864" marT="27432" marB="27432" anchor="ctr">
                    <a:solidFill>
                      <a:srgbClr val="F7F6FC"/>
                    </a:solidFill>
                  </a:tcPr>
                </a:tc>
                <a:tc>
                  <a:txBody>
                    <a:bodyPr/>
                    <a:lstStyle/>
                    <a:p>
                      <a:pPr>
                        <a:spcAft>
                          <a:spcPts val="0"/>
                        </a:spcAft>
                      </a:pPr>
                      <a:r>
                        <a:rPr sz="1200" b="0" i="0">
                          <a:solidFill>
                            <a:srgbClr val="444455"/>
                          </a:solidFill>
                          <a:latin typeface="Calibri"/>
                        </a:rPr>
                        <a:t>Asks your goal at sign-up. The work-vs-life split is real and sells.</a:t>
                      </a:r>
                    </a:p>
                  </a:txBody>
                  <a:tcPr marL="73152" marR="54864" marT="27432" marB="27432" anchor="ctr">
                    <a:solidFill>
                      <a:srgbClr val="F7F6FC"/>
                    </a:solidFill>
                  </a:tcPr>
                </a:tc>
              </a:tr>
              <a:tr h="749808">
                <a:tc>
                  <a:txBody>
                    <a:bodyPr/>
                    <a:lstStyle/>
                    <a:p>
                      <a:pPr>
                        <a:spcAft>
                          <a:spcPts val="0"/>
                        </a:spcAft>
                      </a:pPr>
                      <a:r>
                        <a:rPr sz="1200" b="1" i="0">
                          <a:solidFill>
                            <a:srgbClr val="1E1B2E"/>
                          </a:solidFill>
                          <a:latin typeface="Calibri"/>
                        </a:rPr>
                        <a:t>Busuu</a:t>
                      </a:r>
                    </a:p>
                  </a:txBody>
                  <a:tcPr marL="73152" marR="54864" marT="27432" marB="27432" anchor="ctr">
                    <a:solidFill>
                      <a:srgbClr val="FFFFFF"/>
                    </a:solidFill>
                  </a:tcPr>
                </a:tc>
                <a:tc>
                  <a:txBody>
                    <a:bodyPr/>
                    <a:lstStyle/>
                    <a:p>
                      <a:pPr>
                        <a:spcAft>
                          <a:spcPts val="0"/>
                        </a:spcAft>
                      </a:pPr>
                      <a:r>
                        <a:rPr sz="1200" b="0" i="0">
                          <a:solidFill>
                            <a:srgbClr val="444455"/>
                          </a:solidFill>
                          <a:latin typeface="Calibri"/>
                        </a:rPr>
                        <a:t>Sorted by language level first, then topic</a:t>
                      </a:r>
                    </a:p>
                  </a:txBody>
                  <a:tcPr marL="73152" marR="54864" marT="27432" marB="27432" anchor="ctr">
                    <a:solidFill>
                      <a:srgbClr val="FFFFFF"/>
                    </a:solidFill>
                  </a:tcPr>
                </a:tc>
                <a:tc>
                  <a:txBody>
                    <a:bodyPr/>
                    <a:lstStyle/>
                    <a:p>
                      <a:pPr>
                        <a:spcAft>
                          <a:spcPts val="0"/>
                        </a:spcAft>
                      </a:pPr>
                      <a:r>
                        <a:rPr sz="1200" b="0" i="0">
                          <a:solidFill>
                            <a:srgbClr val="444455"/>
                          </a:solidFill>
                          <a:latin typeface="Calibri"/>
                        </a:rPr>
                        <a:t>Level-first is how our learners think. Steal this.</a:t>
                      </a:r>
                    </a:p>
                  </a:txBody>
                  <a:tcPr marL="73152" marR="54864" marT="27432" marB="27432" anchor="ctr">
                    <a:solidFill>
                      <a:srgbClr val="FFFFFF"/>
                    </a:solidFill>
                  </a:tcPr>
                </a:tc>
              </a:tr>
              <a:tr h="749808">
                <a:tc>
                  <a:txBody>
                    <a:bodyPr/>
                    <a:lstStyle/>
                    <a:p>
                      <a:pPr>
                        <a:spcAft>
                          <a:spcPts val="0"/>
                        </a:spcAft>
                      </a:pPr>
                      <a:r>
                        <a:rPr sz="1200" b="1" i="0">
                          <a:solidFill>
                            <a:srgbClr val="1E1B2E"/>
                          </a:solidFill>
                          <a:latin typeface="Calibri"/>
                        </a:rPr>
                        <a:t>Anki / Memrise</a:t>
                      </a:r>
                    </a:p>
                  </a:txBody>
                  <a:tcPr marL="73152" marR="54864" marT="27432" marB="27432" anchor="ctr">
                    <a:solidFill>
                      <a:srgbClr val="F7F6FC"/>
                    </a:solidFill>
                  </a:tcPr>
                </a:tc>
                <a:tc>
                  <a:txBody>
                    <a:bodyPr/>
                    <a:lstStyle/>
                    <a:p>
                      <a:pPr>
                        <a:spcAft>
                          <a:spcPts val="0"/>
                        </a:spcAft>
                      </a:pPr>
                      <a:r>
                        <a:rPr sz="1200" b="0" i="0">
                          <a:solidFill>
                            <a:srgbClr val="444455"/>
                          </a:solidFill>
                          <a:latin typeface="Calibri"/>
                        </a:rPr>
                        <a:t>Sticky labels (tags); filter by any mix</a:t>
                      </a:r>
                    </a:p>
                  </a:txBody>
                  <a:tcPr marL="73152" marR="54864" marT="27432" marB="27432" anchor="ctr">
                    <a:solidFill>
                      <a:srgbClr val="F7F6FC"/>
                    </a:solidFill>
                  </a:tcPr>
                </a:tc>
                <a:tc>
                  <a:txBody>
                    <a:bodyPr/>
                    <a:lstStyle/>
                    <a:p>
                      <a:pPr>
                        <a:spcAft>
                          <a:spcPts val="0"/>
                        </a:spcAft>
                      </a:pPr>
                      <a:r>
                        <a:rPr sz="1200" b="0" i="0">
                          <a:solidFill>
                            <a:srgbClr val="444455"/>
                          </a:solidFill>
                          <a:latin typeface="Calibri"/>
                        </a:rPr>
                        <a:t>Max flexibility, no teaching. Great engine, raw front.</a:t>
                      </a:r>
                    </a:p>
                  </a:txBody>
                  <a:tcPr marL="73152" marR="54864" marT="27432" marB="27432" anchor="ctr">
                    <a:solidFill>
                      <a:srgbClr val="F7F6FC"/>
                    </a:solidFill>
                  </a:tcPr>
                </a:tc>
              </a:tr>
            </a:tbl>
          </a:graphicData>
        </a:graphic>
      </p:graphicFrame>
      <p:sp>
        <p:nvSpPr>
          <p:cNvPr id="9" name="Rounded Rectangle 8"/>
          <p:cNvSpPr/>
          <p:nvPr/>
        </p:nvSpPr>
        <p:spPr>
          <a:xfrm>
            <a:off x="548640" y="5486400"/>
            <a:ext cx="11064240" cy="1005840"/>
          </a:xfrm>
          <a:prstGeom prst="roundRect">
            <a:avLst/>
          </a:prstGeom>
          <a:solidFill>
            <a:srgbClr val="F4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64592" tIns="118872"/>
          <a:lstStyle/>
          <a:p>
            <a:pPr algn="l">
              <a:spcBef>
                <a:spcPts val="0"/>
              </a:spcBef>
              <a:spcAft>
                <a:spcPts val="400"/>
              </a:spcAft>
            </a:pPr>
            <a:r>
              <a:rPr sz="1400" b="1" i="0">
                <a:solidFill>
                  <a:srgbClr val="5B5BE6"/>
                </a:solidFill>
                <a:latin typeface="Calibri"/>
              </a:rPr>
              <a:t>The takeaway</a:t>
            </a:r>
          </a:p>
          <a:p>
            <a:pPr algn="l">
              <a:spcBef>
                <a:spcPts val="0"/>
              </a:spcBef>
              <a:spcAft>
                <a:spcPts val="500"/>
              </a:spcAft>
            </a:pPr>
            <a:r>
              <a:rPr sz="1350" b="0" i="0">
                <a:solidFill>
                  <a:srgbClr val="444455"/>
                </a:solidFill>
                <a:latin typeface="Calibri"/>
              </a:rPr>
              <a:t>Leaders run from “app decides everything” (Duolingo) to “you control everything” (Anki). Our motivated adults want the middle: smart defaults out of the box, real control when they want it. Babbel already proves asking “why are you here?” at sign-up works, which is exactly our Mode idea.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5B5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424160" cy="365760"/>
          </a:xfrm>
          <a:prstGeom prst="rect">
            <a:avLst/>
          </a:prstGeom>
          <a:noFill/>
        </p:spPr>
        <p:txBody>
          <a:bodyPr wrap="square" anchor="t" lIns="45720" rIns="45720" tIns="18288" bIns="18288">
            <a:spAutoFit/>
          </a:bodyPr>
          <a:lstStyle/>
          <a:p>
            <a:pPr algn="l">
              <a:spcBef>
                <a:spcPts val="0"/>
              </a:spcBef>
              <a:spcAft>
                <a:spcPts val="200"/>
              </a:spcAft>
            </a:pPr>
            <a:r>
              <a:rPr sz="1200" b="1" i="0">
                <a:solidFill>
                  <a:srgbClr val="5B5BE6"/>
                </a:solidFill>
                <a:latin typeface="Calibri"/>
              </a:rPr>
              <a:t>SLIDE 3  ·  WHAT OTHER APPS DO (2 OF 3)</a:t>
            </a:r>
          </a:p>
        </p:txBody>
      </p:sp>
      <p:sp>
        <p:nvSpPr>
          <p:cNvPr id="5" name="TextBox 4"/>
          <p:cNvSpPr txBox="1"/>
          <p:nvPr/>
        </p:nvSpPr>
        <p:spPr>
          <a:xfrm>
            <a:off x="502920" y="585216"/>
            <a:ext cx="10881360" cy="868680"/>
          </a:xfrm>
          <a:prstGeom prst="rect">
            <a:avLst/>
          </a:prstGeom>
          <a:noFill/>
        </p:spPr>
        <p:txBody>
          <a:bodyPr wrap="square" anchor="t" lIns="45720" rIns="45720" tIns="18288" bIns="18288">
            <a:spAutoFit/>
          </a:bodyPr>
          <a:lstStyle/>
          <a:p>
            <a:pPr algn="l">
              <a:spcBef>
                <a:spcPts val="0"/>
              </a:spcBef>
              <a:spcAft>
                <a:spcPts val="0"/>
              </a:spcAft>
            </a:pPr>
            <a:r>
              <a:rPr sz="2600" b="1" i="0">
                <a:solidFill>
                  <a:srgbClr val="1E1B2E"/>
                </a:solidFill>
                <a:latin typeface="Calibri"/>
              </a:rPr>
              <a:t>The serious German + exam world</a:t>
            </a:r>
          </a:p>
        </p:txBody>
      </p:sp>
      <p:sp>
        <p:nvSpPr>
          <p:cNvPr id="6" name="Rounded Rectangle 5"/>
          <p:cNvSpPr/>
          <p:nvPr/>
        </p:nvSpPr>
        <p:spPr>
          <a:xfrm>
            <a:off x="11338560" y="310896"/>
            <a:ext cx="566928" cy="384048"/>
          </a:xfrm>
          <a:prstGeom prst="roundRect">
            <a:avLst/>
          </a:prstGeom>
          <a:solidFill>
            <a:srgbClr val="F4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i="0">
                <a:solidFill>
                  <a:srgbClr val="5B5BE6"/>
                </a:solidFill>
                <a:latin typeface="Calibri"/>
              </a:rPr>
              <a:t>3</a:t>
            </a:r>
          </a:p>
        </p:txBody>
      </p:sp>
      <p:sp>
        <p:nvSpPr>
          <p:cNvPr id="7" name="Rectangle 6"/>
          <p:cNvSpPr/>
          <p:nvPr/>
        </p:nvSpPr>
        <p:spPr>
          <a:xfrm>
            <a:off x="502920" y="1335024"/>
            <a:ext cx="1920240" cy="36576"/>
          </a:xfrm>
          <a:prstGeom prst="rect">
            <a:avLst/>
          </a:prstGeom>
          <a:solidFill>
            <a:srgbClr val="5B5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548640" y="1572768"/>
          <a:ext cx="11064240" cy="3749040"/>
        </p:xfrm>
        <a:graphic>
          <a:graphicData uri="http://schemas.openxmlformats.org/drawingml/2006/table">
            <a:tbl>
              <a:tblPr>
                <a:tableStyleId>{5C22544A-7EE6-4342-B048-85BDC9FD1C3A}</a:tableStyleId>
              </a:tblPr>
              <a:tblGrid>
                <a:gridCol w="2468880"/>
                <a:gridCol w="4297680"/>
                <a:gridCol w="4297680"/>
              </a:tblGrid>
              <a:tr h="749808">
                <a:tc>
                  <a:txBody>
                    <a:bodyPr/>
                    <a:lstStyle/>
                    <a:p>
                      <a:pPr>
                        <a:spcAft>
                          <a:spcPts val="0"/>
                        </a:spcAft>
                      </a:pPr>
                      <a:r>
                        <a:rPr sz="1100" b="1" i="0">
                          <a:solidFill>
                            <a:srgbClr val="FFFFFF"/>
                          </a:solidFill>
                          <a:latin typeface="Calibri"/>
                        </a:rPr>
                        <a:t>Source</a:t>
                      </a:r>
                    </a:p>
                  </a:txBody>
                  <a:tcPr marL="73152" marR="54864" marT="27432" marB="27432" anchor="ctr">
                    <a:solidFill>
                      <a:srgbClr val="5B5BE6"/>
                    </a:solidFill>
                  </a:tcPr>
                </a:tc>
                <a:tc>
                  <a:txBody>
                    <a:bodyPr/>
                    <a:lstStyle/>
                    <a:p>
                      <a:pPr>
                        <a:spcAft>
                          <a:spcPts val="0"/>
                        </a:spcAft>
                      </a:pPr>
                      <a:r>
                        <a:rPr sz="1100" b="1" i="0">
                          <a:solidFill>
                            <a:srgbClr val="FFFFFF"/>
                          </a:solidFill>
                          <a:latin typeface="Calibri"/>
                        </a:rPr>
                        <a:t>How it sorts content</a:t>
                      </a:r>
                    </a:p>
                  </a:txBody>
                  <a:tcPr marL="73152" marR="54864" marT="27432" marB="27432" anchor="ctr">
                    <a:solidFill>
                      <a:srgbClr val="5B5BE6"/>
                    </a:solidFill>
                  </a:tcPr>
                </a:tc>
                <a:tc>
                  <a:txBody>
                    <a:bodyPr/>
                    <a:lstStyle/>
                    <a:p>
                      <a:pPr>
                        <a:spcAft>
                          <a:spcPts val="0"/>
                        </a:spcAft>
                      </a:pPr>
                      <a:r>
                        <a:rPr sz="1100" b="1" i="0">
                          <a:solidFill>
                            <a:srgbClr val="FFFFFF"/>
                          </a:solidFill>
                          <a:latin typeface="Calibri"/>
                        </a:rPr>
                        <a:t>What we steal</a:t>
                      </a:r>
                    </a:p>
                  </a:txBody>
                  <a:tcPr marL="73152" marR="54864" marT="27432" marB="27432" anchor="ctr">
                    <a:solidFill>
                      <a:srgbClr val="5B5BE6"/>
                    </a:solidFill>
                  </a:tcPr>
                </a:tc>
              </a:tr>
              <a:tr h="749808">
                <a:tc>
                  <a:txBody>
                    <a:bodyPr/>
                    <a:lstStyle/>
                    <a:p>
                      <a:pPr>
                        <a:spcAft>
                          <a:spcPts val="0"/>
                        </a:spcAft>
                      </a:pPr>
                      <a:r>
                        <a:rPr sz="1150" b="1" i="0">
                          <a:solidFill>
                            <a:srgbClr val="1E1B2E"/>
                          </a:solidFill>
                          <a:latin typeface="Calibri"/>
                        </a:rPr>
                        <a:t>Lingoda</a:t>
                      </a:r>
                    </a:p>
                  </a:txBody>
                  <a:tcPr marL="73152" marR="54864" marT="27432" marB="27432" anchor="ctr">
                    <a:solidFill>
                      <a:srgbClr val="FFFFFF"/>
                    </a:solidFill>
                  </a:tcPr>
                </a:tc>
                <a:tc>
                  <a:txBody>
                    <a:bodyPr/>
                    <a:lstStyle/>
                    <a:p>
                      <a:pPr>
                        <a:spcAft>
                          <a:spcPts val="0"/>
                        </a:spcAft>
                      </a:pPr>
                      <a:r>
                        <a:rPr sz="1150" b="0" i="0">
                          <a:solidFill>
                            <a:srgbClr val="444455"/>
                          </a:solidFill>
                          <a:latin typeface="Calibri"/>
                        </a:rPr>
                        <a:t>Strict level grid (A1.1 … C1)</a:t>
                      </a:r>
                    </a:p>
                  </a:txBody>
                  <a:tcPr marL="73152" marR="54864" marT="27432" marB="27432" anchor="ctr">
                    <a:solidFill>
                      <a:srgbClr val="FFFFFF"/>
                    </a:solidFill>
                  </a:tcPr>
                </a:tc>
                <a:tc>
                  <a:txBody>
                    <a:bodyPr/>
                    <a:lstStyle/>
                    <a:p>
                      <a:pPr>
                        <a:spcAft>
                          <a:spcPts val="0"/>
                        </a:spcAft>
                      </a:pPr>
                      <a:r>
                        <a:rPr sz="1150" b="0" i="0">
                          <a:solidFill>
                            <a:srgbClr val="444455"/>
                          </a:solidFill>
                          <a:latin typeface="Calibri"/>
                        </a:rPr>
                        <a:t>Level is a clear coordinate, not a vague feeling</a:t>
                      </a:r>
                    </a:p>
                  </a:txBody>
                  <a:tcPr marL="73152" marR="54864" marT="27432" marB="27432" anchor="ctr">
                    <a:solidFill>
                      <a:srgbClr val="FFFFFF"/>
                    </a:solidFill>
                  </a:tcPr>
                </a:tc>
              </a:tr>
              <a:tr h="749808">
                <a:tc>
                  <a:txBody>
                    <a:bodyPr/>
                    <a:lstStyle/>
                    <a:p>
                      <a:pPr>
                        <a:spcAft>
                          <a:spcPts val="0"/>
                        </a:spcAft>
                      </a:pPr>
                      <a:r>
                        <a:rPr sz="1150" b="1" i="0">
                          <a:solidFill>
                            <a:srgbClr val="1E1B2E"/>
                          </a:solidFill>
                          <a:latin typeface="Calibri"/>
                        </a:rPr>
                        <a:t>telc “Beruf” exams</a:t>
                      </a:r>
                    </a:p>
                  </a:txBody>
                  <a:tcPr marL="73152" marR="54864" marT="27432" marB="27432" anchor="ctr">
                    <a:solidFill>
                      <a:srgbClr val="F7F6FC"/>
                    </a:solidFill>
                  </a:tcPr>
                </a:tc>
                <a:tc>
                  <a:txBody>
                    <a:bodyPr/>
                    <a:lstStyle/>
                    <a:p>
                      <a:pPr>
                        <a:spcAft>
                          <a:spcPts val="0"/>
                        </a:spcAft>
                      </a:pPr>
                      <a:r>
                        <a:rPr sz="1150" b="0" i="0">
                          <a:solidFill>
                            <a:srgbClr val="444455"/>
                          </a:solidFill>
                          <a:latin typeface="Calibri"/>
                        </a:rPr>
                        <a:t>Fields of action + “who you talk to” (boss/colleague/customer)</a:t>
                      </a:r>
                    </a:p>
                  </a:txBody>
                  <a:tcPr marL="73152" marR="54864" marT="27432" marB="27432" anchor="ctr">
                    <a:solidFill>
                      <a:srgbClr val="F7F6FC"/>
                    </a:solidFill>
                  </a:tcPr>
                </a:tc>
                <a:tc>
                  <a:txBody>
                    <a:bodyPr/>
                    <a:lstStyle/>
                    <a:p>
                      <a:pPr>
                        <a:spcAft>
                          <a:spcPts val="0"/>
                        </a:spcAft>
                      </a:pPr>
                      <a:r>
                        <a:rPr sz="1150" b="0" i="0">
                          <a:solidFill>
                            <a:srgbClr val="444455"/>
                          </a:solidFill>
                          <a:latin typeface="Calibri"/>
                        </a:rPr>
                        <a:t>Two work labels we're missing: situation AND counterpart</a:t>
                      </a:r>
                    </a:p>
                  </a:txBody>
                  <a:tcPr marL="73152" marR="54864" marT="27432" marB="27432" anchor="ctr">
                    <a:solidFill>
                      <a:srgbClr val="F7F6FC"/>
                    </a:solidFill>
                  </a:tcPr>
                </a:tc>
              </a:tr>
              <a:tr h="749808">
                <a:tc>
                  <a:txBody>
                    <a:bodyPr/>
                    <a:lstStyle/>
                    <a:p>
                      <a:pPr>
                        <a:spcAft>
                          <a:spcPts val="0"/>
                        </a:spcAft>
                      </a:pPr>
                      <a:r>
                        <a:rPr sz="1150" b="1" i="0">
                          <a:solidFill>
                            <a:srgbClr val="1E1B2E"/>
                          </a:solidFill>
                          <a:latin typeface="Calibri"/>
                        </a:rPr>
                        <a:t>German state courses (DeuFöV)</a:t>
                      </a:r>
                    </a:p>
                  </a:txBody>
                  <a:tcPr marL="73152" marR="54864" marT="27432" marB="27432" anchor="ctr">
                    <a:solidFill>
                      <a:srgbClr val="FFFFFF"/>
                    </a:solidFill>
                  </a:tcPr>
                </a:tc>
                <a:tc>
                  <a:txBody>
                    <a:bodyPr/>
                    <a:lstStyle/>
                    <a:p>
                      <a:pPr>
                        <a:spcAft>
                          <a:spcPts val="0"/>
                        </a:spcAft>
                      </a:pPr>
                      <a:r>
                        <a:rPr sz="1150" b="0" i="0">
                          <a:solidFill>
                            <a:srgbClr val="444455"/>
                          </a:solidFill>
                          <a:latin typeface="Calibri"/>
                        </a:rPr>
                        <a:t>Split by job SECTOR: care, technical, commercial</a:t>
                      </a:r>
                    </a:p>
                  </a:txBody>
                  <a:tcPr marL="73152" marR="54864" marT="27432" marB="27432" anchor="ctr">
                    <a:solidFill>
                      <a:srgbClr val="FFFFFF"/>
                    </a:solidFill>
                  </a:tcPr>
                </a:tc>
                <a:tc>
                  <a:txBody>
                    <a:bodyPr/>
                    <a:lstStyle/>
                    <a:p>
                      <a:pPr>
                        <a:spcAft>
                          <a:spcPts val="0"/>
                        </a:spcAft>
                      </a:pPr>
                      <a:r>
                        <a:rPr sz="1150" b="0" i="0">
                          <a:solidFill>
                            <a:srgbClr val="444455"/>
                          </a:solidFill>
                          <a:latin typeface="Calibri"/>
                        </a:rPr>
                        <a:t>“Work sector” is how Germany itself organizes job German</a:t>
                      </a:r>
                    </a:p>
                  </a:txBody>
                  <a:tcPr marL="73152" marR="54864" marT="27432" marB="27432" anchor="ctr">
                    <a:solidFill>
                      <a:srgbClr val="FFFFFF"/>
                    </a:solidFill>
                  </a:tcPr>
                </a:tc>
              </a:tr>
              <a:tr h="749808">
                <a:tc>
                  <a:txBody>
                    <a:bodyPr/>
                    <a:lstStyle/>
                    <a:p>
                      <a:pPr>
                        <a:spcAft>
                          <a:spcPts val="0"/>
                        </a:spcAft>
                      </a:pPr>
                      <a:r>
                        <a:rPr sz="1150" b="1" i="0">
                          <a:solidFill>
                            <a:srgbClr val="1E1B2E"/>
                          </a:solidFill>
                          <a:latin typeface="Calibri"/>
                        </a:rPr>
                        <a:t>The official CEFR scale</a:t>
                      </a:r>
                    </a:p>
                  </a:txBody>
                  <a:tcPr marL="73152" marR="54864" marT="27432" marB="27432" anchor="ctr">
                    <a:solidFill>
                      <a:srgbClr val="F7F6FC"/>
                    </a:solidFill>
                  </a:tcPr>
                </a:tc>
                <a:tc>
                  <a:txBody>
                    <a:bodyPr/>
                    <a:lstStyle/>
                    <a:p>
                      <a:pPr>
                        <a:spcAft>
                          <a:spcPts val="0"/>
                        </a:spcAft>
                      </a:pPr>
                      <a:r>
                        <a:rPr sz="1150" b="0" i="0">
                          <a:solidFill>
                            <a:srgbClr val="444455"/>
                          </a:solidFill>
                          <a:latin typeface="Calibri"/>
                        </a:rPr>
                        <a:t>Level × situation × formality</a:t>
                      </a:r>
                    </a:p>
                  </a:txBody>
                  <a:tcPr marL="73152" marR="54864" marT="27432" marB="27432" anchor="ctr">
                    <a:solidFill>
                      <a:srgbClr val="F7F6FC"/>
                    </a:solidFill>
                  </a:tcPr>
                </a:tc>
                <a:tc>
                  <a:txBody>
                    <a:bodyPr/>
                    <a:lstStyle/>
                    <a:p>
                      <a:pPr>
                        <a:spcAft>
                          <a:spcPts val="0"/>
                        </a:spcAft>
                      </a:pPr>
                      <a:r>
                        <a:rPr sz="1150" b="0" i="0">
                          <a:solidFill>
                            <a:srgbClr val="444455"/>
                          </a:solidFill>
                          <a:latin typeface="Calibri"/>
                        </a:rPr>
                        <a:t>The standard already uses several labels at once. So should we.</a:t>
                      </a:r>
                    </a:p>
                  </a:txBody>
                  <a:tcPr marL="73152" marR="54864" marT="27432" marB="27432" anchor="ctr">
                    <a:solidFill>
                      <a:srgbClr val="F7F6FC"/>
                    </a:solidFill>
                  </a:tcPr>
                </a:tc>
              </a:tr>
            </a:tbl>
          </a:graphicData>
        </a:graphic>
      </p:graphicFrame>
      <p:sp>
        <p:nvSpPr>
          <p:cNvPr id="9" name="Rounded Rectangle 8"/>
          <p:cNvSpPr/>
          <p:nvPr/>
        </p:nvSpPr>
        <p:spPr>
          <a:xfrm>
            <a:off x="548640" y="5532120"/>
            <a:ext cx="11064240" cy="960120"/>
          </a:xfrm>
          <a:prstGeom prst="roundRect">
            <a:avLst/>
          </a:prstGeom>
          <a:solidFill>
            <a:srgbClr val="F4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64592" tIns="118872"/>
          <a:lstStyle/>
          <a:p>
            <a:pPr algn="l">
              <a:spcBef>
                <a:spcPts val="0"/>
              </a:spcBef>
              <a:spcAft>
                <a:spcPts val="400"/>
              </a:spcAft>
            </a:pPr>
            <a:r>
              <a:rPr sz="1400" b="1" i="0">
                <a:solidFill>
                  <a:srgbClr val="5B5BE6"/>
                </a:solidFill>
                <a:latin typeface="Calibri"/>
              </a:rPr>
              <a:t>The takeaway (this is the research backbone for Mode)</a:t>
            </a:r>
          </a:p>
          <a:p>
            <a:pPr algn="l">
              <a:spcBef>
                <a:spcPts val="0"/>
              </a:spcBef>
              <a:spcAft>
                <a:spcPts val="500"/>
              </a:spcAft>
            </a:pPr>
            <a:r>
              <a:rPr sz="1350" b="0" i="0">
                <a:solidFill>
                  <a:srgbClr val="444455"/>
                </a:solidFill>
                <a:latin typeface="Calibri"/>
              </a:rPr>
              <a:t>Germany's own professional-language system splits work German by sector (care / technical / commercial) and by communication situation. We don't invent our taxonomy, we mirror the framework our learners already study toward. More detail on slide 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5B5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424160" cy="365760"/>
          </a:xfrm>
          <a:prstGeom prst="rect">
            <a:avLst/>
          </a:prstGeom>
          <a:noFill/>
        </p:spPr>
        <p:txBody>
          <a:bodyPr wrap="square" anchor="t" lIns="45720" rIns="45720" tIns="18288" bIns="18288">
            <a:spAutoFit/>
          </a:bodyPr>
          <a:lstStyle/>
          <a:p>
            <a:pPr algn="l">
              <a:spcBef>
                <a:spcPts val="0"/>
              </a:spcBef>
              <a:spcAft>
                <a:spcPts val="200"/>
              </a:spcAft>
            </a:pPr>
            <a:r>
              <a:rPr sz="1200" b="1" i="0">
                <a:solidFill>
                  <a:srgbClr val="5B5BE6"/>
                </a:solidFill>
                <a:latin typeface="Calibri"/>
              </a:rPr>
              <a:t>SLIDE 4  ·  WHAT OTHER APPS DO (3 OF 3)</a:t>
            </a:r>
          </a:p>
        </p:txBody>
      </p:sp>
      <p:sp>
        <p:nvSpPr>
          <p:cNvPr id="5" name="TextBox 4"/>
          <p:cNvSpPr txBox="1"/>
          <p:nvPr/>
        </p:nvSpPr>
        <p:spPr>
          <a:xfrm>
            <a:off x="502920" y="585216"/>
            <a:ext cx="10881360" cy="868680"/>
          </a:xfrm>
          <a:prstGeom prst="rect">
            <a:avLst/>
          </a:prstGeom>
          <a:noFill/>
        </p:spPr>
        <p:txBody>
          <a:bodyPr wrap="square" anchor="t" lIns="45720" rIns="45720" tIns="18288" bIns="18288">
            <a:spAutoFit/>
          </a:bodyPr>
          <a:lstStyle/>
          <a:p>
            <a:pPr algn="l">
              <a:spcBef>
                <a:spcPts val="0"/>
              </a:spcBef>
              <a:spcAft>
                <a:spcPts val="0"/>
              </a:spcAft>
            </a:pPr>
            <a:r>
              <a:rPr sz="2600" b="1" i="0">
                <a:solidFill>
                  <a:srgbClr val="1E1B2E"/>
                </a:solidFill>
                <a:latin typeface="Calibri"/>
              </a:rPr>
              <a:t>5 rules of a great system</a:t>
            </a:r>
          </a:p>
        </p:txBody>
      </p:sp>
      <p:sp>
        <p:nvSpPr>
          <p:cNvPr id="6" name="Rounded Rectangle 5"/>
          <p:cNvSpPr/>
          <p:nvPr/>
        </p:nvSpPr>
        <p:spPr>
          <a:xfrm>
            <a:off x="11338560" y="310896"/>
            <a:ext cx="566928" cy="384048"/>
          </a:xfrm>
          <a:prstGeom prst="roundRect">
            <a:avLst/>
          </a:prstGeom>
          <a:solidFill>
            <a:srgbClr val="F4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i="0">
                <a:solidFill>
                  <a:srgbClr val="5B5BE6"/>
                </a:solidFill>
                <a:latin typeface="Calibri"/>
              </a:rPr>
              <a:t>4</a:t>
            </a:r>
          </a:p>
        </p:txBody>
      </p:sp>
      <p:sp>
        <p:nvSpPr>
          <p:cNvPr id="7" name="Rectangle 6"/>
          <p:cNvSpPr/>
          <p:nvPr/>
        </p:nvSpPr>
        <p:spPr>
          <a:xfrm>
            <a:off x="502920" y="1335024"/>
            <a:ext cx="1920240" cy="36576"/>
          </a:xfrm>
          <a:prstGeom prst="rect">
            <a:avLst/>
          </a:prstGeom>
          <a:solidFill>
            <a:srgbClr val="5B5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572768"/>
            <a:ext cx="11064240" cy="2743200"/>
          </a:xfrm>
          <a:prstGeom prst="rect">
            <a:avLst/>
          </a:prstGeom>
          <a:noFill/>
        </p:spPr>
        <p:txBody>
          <a:bodyPr wrap="square" anchor="t" lIns="45720" rIns="45720" tIns="18288" bIns="18288">
            <a:spAutoFit/>
          </a:bodyPr>
          <a:lstStyle/>
          <a:p>
            <a:pPr>
              <a:spcBef>
                <a:spcPts val="0"/>
              </a:spcBef>
              <a:spcAft>
                <a:spcPts val="700"/>
              </a:spcAft>
            </a:pPr>
            <a:r>
              <a:rPr sz="1500" b="1" i="0">
                <a:solidFill>
                  <a:srgbClr val="5B5BE6"/>
                </a:solidFill>
                <a:latin typeface="Calibri"/>
              </a:rPr>
              <a:t>•  </a:t>
            </a:r>
            <a:r>
              <a:rPr sz="1500" b="1" i="0">
                <a:solidFill>
                  <a:srgbClr val="444455"/>
                </a:solidFill>
                <a:latin typeface="Calibri"/>
              </a:rPr>
              <a:t>Start from why the learner is here. </a:t>
            </a:r>
            <a:r>
              <a:rPr sz="1500" b="0" i="0">
                <a:solidFill>
                  <a:srgbClr val="444455"/>
                </a:solidFill>
                <a:latin typeface="Calibri"/>
              </a:rPr>
              <a:t>Work, daily life, or both. Set it once, shape everything.</a:t>
            </a:r>
          </a:p>
          <a:p>
            <a:pPr>
              <a:spcBef>
                <a:spcPts val="0"/>
              </a:spcBef>
              <a:spcAft>
                <a:spcPts val="700"/>
              </a:spcAft>
            </a:pPr>
            <a:r>
              <a:rPr sz="1500" b="1" i="0">
                <a:solidFill>
                  <a:srgbClr val="5B5BE6"/>
                </a:solidFill>
                <a:latin typeface="Calibri"/>
              </a:rPr>
              <a:t>•  </a:t>
            </a:r>
            <a:r>
              <a:rPr sz="1500" b="1" i="0">
                <a:solidFill>
                  <a:srgbClr val="444455"/>
                </a:solidFill>
                <a:latin typeface="Calibri"/>
              </a:rPr>
              <a:t>Mix-and-match labels beat deep folders. </a:t>
            </a:r>
            <a:r>
              <a:rPr sz="1500" b="0" i="0">
                <a:solidFill>
                  <a:srgbClr val="444455"/>
                </a:solidFill>
                <a:latin typeface="Calibri"/>
              </a:rPr>
              <a:t>An item is “care sector” AND “B2” AND “formal” at once.</a:t>
            </a:r>
          </a:p>
          <a:p>
            <a:pPr>
              <a:spcBef>
                <a:spcPts val="0"/>
              </a:spcBef>
              <a:spcAft>
                <a:spcPts val="700"/>
              </a:spcAft>
            </a:pPr>
            <a:r>
              <a:rPr sz="1500" b="1" i="0">
                <a:solidFill>
                  <a:srgbClr val="5B5BE6"/>
                </a:solidFill>
                <a:latin typeface="Calibri"/>
              </a:rPr>
              <a:t>•  </a:t>
            </a:r>
            <a:r>
              <a:rPr sz="1500" b="1" i="0">
                <a:solidFill>
                  <a:srgbClr val="444455"/>
                </a:solidFill>
                <a:latin typeface="Calibri"/>
              </a:rPr>
              <a:t>Show the language level. </a:t>
            </a:r>
            <a:r>
              <a:rPr sz="1500" b="0" i="0">
                <a:solidFill>
                  <a:srgbClr val="444455"/>
                </a:solidFill>
                <a:latin typeface="Calibri"/>
              </a:rPr>
              <a:t>For a B1–B2 app, hiding level is a strategic hole.</a:t>
            </a:r>
          </a:p>
          <a:p>
            <a:pPr>
              <a:spcBef>
                <a:spcPts val="0"/>
              </a:spcBef>
              <a:spcAft>
                <a:spcPts val="700"/>
              </a:spcAft>
            </a:pPr>
            <a:r>
              <a:rPr sz="1500" b="1" i="0">
                <a:solidFill>
                  <a:srgbClr val="5B5BE6"/>
                </a:solidFill>
                <a:latin typeface="Calibri"/>
              </a:rPr>
              <a:t>•  </a:t>
            </a:r>
            <a:r>
              <a:rPr sz="1500" b="1" i="0">
                <a:solidFill>
                  <a:srgbClr val="444455"/>
                </a:solidFill>
                <a:latin typeface="Calibri"/>
              </a:rPr>
              <a:t>Keep folders shallow. </a:t>
            </a:r>
            <a:r>
              <a:rPr sz="1500" b="0" i="0">
                <a:solidFill>
                  <a:srgbClr val="444455"/>
                </a:solidFill>
                <a:latin typeface="Calibri"/>
              </a:rPr>
              <a:t>Two or three levels. Deeper and people get lost.</a:t>
            </a:r>
          </a:p>
          <a:p>
            <a:pPr>
              <a:spcBef>
                <a:spcPts val="0"/>
              </a:spcBef>
              <a:spcAft>
                <a:spcPts val="700"/>
              </a:spcAft>
            </a:pPr>
            <a:r>
              <a:rPr sz="1500" b="1" i="0">
                <a:solidFill>
                  <a:srgbClr val="5B5BE6"/>
                </a:solidFill>
                <a:latin typeface="Calibri"/>
              </a:rPr>
              <a:t>•  </a:t>
            </a:r>
            <a:r>
              <a:rPr sz="1500" b="1" i="0">
                <a:solidFill>
                  <a:srgbClr val="444455"/>
                </a:solidFill>
                <a:latin typeface="Calibri"/>
              </a:rPr>
              <a:t>One system underneath, many views on top. </a:t>
            </a:r>
            <a:r>
              <a:rPr sz="1500" b="0" i="0">
                <a:solidFill>
                  <a:srgbClr val="444455"/>
                </a:solidFill>
                <a:latin typeface="Calibri"/>
              </a:rPr>
              <a:t>Same labels power browsing, search and review.</a:t>
            </a:r>
          </a:p>
        </p:txBody>
      </p:sp>
      <p:sp>
        <p:nvSpPr>
          <p:cNvPr id="9" name="Rounded Rectangle 8"/>
          <p:cNvSpPr/>
          <p:nvPr/>
        </p:nvSpPr>
        <p:spPr>
          <a:xfrm>
            <a:off x="548640" y="4572000"/>
            <a:ext cx="11064240" cy="1920240"/>
          </a:xfrm>
          <a:prstGeom prst="roundRect">
            <a:avLst/>
          </a:prstGeom>
          <a:solidFill>
            <a:srgbClr val="FCEF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64592" tIns="118872"/>
          <a:lstStyle/>
          <a:p>
            <a:pPr algn="l">
              <a:spcBef>
                <a:spcPts val="0"/>
              </a:spcBef>
              <a:spcAft>
                <a:spcPts val="400"/>
              </a:spcAft>
            </a:pPr>
            <a:r>
              <a:rPr sz="1400" b="1" i="0">
                <a:solidFill>
                  <a:srgbClr val="B03A3A"/>
                </a:solidFill>
                <a:latin typeface="Calibri"/>
              </a:rPr>
              <a:t>Mistakes to avoid (some are in our app today)</a:t>
            </a:r>
          </a:p>
          <a:p>
            <a:pPr algn="l">
              <a:spcBef>
                <a:spcPts val="0"/>
              </a:spcBef>
              <a:spcAft>
                <a:spcPts val="300"/>
              </a:spcAft>
            </a:pPr>
            <a:r>
              <a:rPr sz="1350" b="0" i="0">
                <a:solidFill>
                  <a:srgbClr val="444455"/>
                </a:solidFill>
                <a:latin typeface="Calibri"/>
              </a:rPr>
              <a:t>•  One flat list every part of the app is forced to share  (us, today)</a:t>
            </a:r>
          </a:p>
          <a:p>
            <a:pPr algn="l">
              <a:spcBef>
                <a:spcPts val="0"/>
              </a:spcBef>
              <a:spcAft>
                <a:spcPts val="300"/>
              </a:spcAft>
            </a:pPr>
            <a:r>
              <a:rPr sz="1350" b="0" i="0">
                <a:solidFill>
                  <a:srgbClr val="444455"/>
                </a:solidFill>
                <a:latin typeface="Calibri"/>
              </a:rPr>
              <a:t>•  No sense of the learner's goal, so everyone sees the same pile  (us, today)</a:t>
            </a:r>
          </a:p>
          <a:p>
            <a:pPr algn="l">
              <a:spcBef>
                <a:spcPts val="0"/>
              </a:spcBef>
              <a:spcAft>
                <a:spcPts val="300"/>
              </a:spcAft>
            </a:pPr>
            <a:r>
              <a:rPr sz="1350" b="0" i="0">
                <a:solidFill>
                  <a:srgbClr val="444455"/>
                </a:solidFill>
                <a:latin typeface="Calibri"/>
              </a:rPr>
              <a:t>•  Each module its own walled-off system  (Babbel-style islands)</a:t>
            </a:r>
          </a:p>
          <a:p>
            <a:pPr algn="l">
              <a:spcBef>
                <a:spcPts val="0"/>
              </a:spcBef>
              <a:spcAft>
                <a:spcPts val="300"/>
              </a:spcAft>
            </a:pPr>
            <a:r>
              <a:rPr sz="1350" b="0" i="0">
                <a:solidFill>
                  <a:srgbClr val="444455"/>
                </a:solidFill>
                <a:latin typeface="Calibri"/>
              </a:rPr>
              <a:t>•  Language level missing or an afterthought  (us, today)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5B5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424160" cy="365760"/>
          </a:xfrm>
          <a:prstGeom prst="rect">
            <a:avLst/>
          </a:prstGeom>
          <a:noFill/>
        </p:spPr>
        <p:txBody>
          <a:bodyPr wrap="square" anchor="t" lIns="45720" rIns="45720" tIns="18288" bIns="18288">
            <a:spAutoFit/>
          </a:bodyPr>
          <a:lstStyle/>
          <a:p>
            <a:pPr algn="l">
              <a:spcBef>
                <a:spcPts val="0"/>
              </a:spcBef>
              <a:spcAft>
                <a:spcPts val="200"/>
              </a:spcAft>
            </a:pPr>
            <a:r>
              <a:rPr sz="1200" b="1" i="0">
                <a:solidFill>
                  <a:srgbClr val="5B5BE6"/>
                </a:solidFill>
                <a:latin typeface="Calibri"/>
              </a:rPr>
              <a:t>SLIDE 5  ·  THE CORE IDEA (1 OF 3)</a:t>
            </a:r>
          </a:p>
        </p:txBody>
      </p:sp>
      <p:sp>
        <p:nvSpPr>
          <p:cNvPr id="5" name="TextBox 4"/>
          <p:cNvSpPr txBox="1"/>
          <p:nvPr/>
        </p:nvSpPr>
        <p:spPr>
          <a:xfrm>
            <a:off x="502920" y="585216"/>
            <a:ext cx="10881360" cy="868680"/>
          </a:xfrm>
          <a:prstGeom prst="rect">
            <a:avLst/>
          </a:prstGeom>
          <a:noFill/>
        </p:spPr>
        <p:txBody>
          <a:bodyPr wrap="square" anchor="t" lIns="45720" rIns="45720" tIns="18288" bIns="18288">
            <a:spAutoFit/>
          </a:bodyPr>
          <a:lstStyle/>
          <a:p>
            <a:pPr algn="l">
              <a:spcBef>
                <a:spcPts val="0"/>
              </a:spcBef>
              <a:spcAft>
                <a:spcPts val="0"/>
              </a:spcAft>
            </a:pPr>
            <a:r>
              <a:rPr sz="2600" b="1" i="0">
                <a:solidFill>
                  <a:srgbClr val="1E1B2E"/>
                </a:solidFill>
                <a:latin typeface="Calibri"/>
              </a:rPr>
              <a:t>Folders vs. labels</a:t>
            </a:r>
          </a:p>
        </p:txBody>
      </p:sp>
      <p:sp>
        <p:nvSpPr>
          <p:cNvPr id="6" name="Rounded Rectangle 5"/>
          <p:cNvSpPr/>
          <p:nvPr/>
        </p:nvSpPr>
        <p:spPr>
          <a:xfrm>
            <a:off x="11338560" y="310896"/>
            <a:ext cx="566928" cy="384048"/>
          </a:xfrm>
          <a:prstGeom prst="roundRect">
            <a:avLst/>
          </a:prstGeom>
          <a:solidFill>
            <a:srgbClr val="F4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i="0">
                <a:solidFill>
                  <a:srgbClr val="5B5BE6"/>
                </a:solidFill>
                <a:latin typeface="Calibri"/>
              </a:rPr>
              <a:t>5</a:t>
            </a:r>
          </a:p>
        </p:txBody>
      </p:sp>
      <p:sp>
        <p:nvSpPr>
          <p:cNvPr id="7" name="Rectangle 6"/>
          <p:cNvSpPr/>
          <p:nvPr/>
        </p:nvSpPr>
        <p:spPr>
          <a:xfrm>
            <a:off x="502920" y="1335024"/>
            <a:ext cx="1920240" cy="36576"/>
          </a:xfrm>
          <a:prstGeom prst="rect">
            <a:avLst/>
          </a:prstGeom>
          <a:solidFill>
            <a:srgbClr val="5B5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572768"/>
            <a:ext cx="11064240" cy="1828800"/>
          </a:xfrm>
          <a:prstGeom prst="rect">
            <a:avLst/>
          </a:prstGeom>
          <a:noFill/>
        </p:spPr>
        <p:txBody>
          <a:bodyPr wrap="square" anchor="t" lIns="45720" rIns="45720" tIns="18288" bIns="18288">
            <a:spAutoFit/>
          </a:bodyPr>
          <a:lstStyle/>
          <a:p>
            <a:pPr algn="l">
              <a:spcBef>
                <a:spcPts val="0"/>
              </a:spcBef>
              <a:spcAft>
                <a:spcPts val="800"/>
              </a:spcAft>
            </a:pPr>
            <a:r>
              <a:rPr sz="1500" b="1" i="0">
                <a:solidFill>
                  <a:srgbClr val="1E1B2E"/>
                </a:solidFill>
                <a:latin typeface="Calibri"/>
              </a:rPr>
              <a:t>The single most important distinction in this whole deck:</a:t>
            </a:r>
          </a:p>
          <a:p>
            <a:pPr>
              <a:spcBef>
                <a:spcPts val="0"/>
              </a:spcBef>
              <a:spcAft>
                <a:spcPts val="700"/>
              </a:spcAft>
            </a:pPr>
            <a:r>
              <a:rPr sz="1500" b="1" i="0">
                <a:solidFill>
                  <a:srgbClr val="5B5BE6"/>
                </a:solidFill>
                <a:latin typeface="Calibri"/>
              </a:rPr>
              <a:t>•  </a:t>
            </a:r>
            <a:r>
              <a:rPr sz="1500" b="1" i="0">
                <a:solidFill>
                  <a:srgbClr val="444455"/>
                </a:solidFill>
                <a:latin typeface="Calibri"/>
              </a:rPr>
              <a:t>A folder answers “where does this live?” </a:t>
            </a:r>
            <a:r>
              <a:rPr sz="1500" b="0" i="0">
                <a:solidFill>
                  <a:srgbClr val="444455"/>
                </a:solidFill>
                <a:latin typeface="Calibri"/>
              </a:rPr>
              <a:t>One home per item. Good for browsing. Bad when something belongs in several places.</a:t>
            </a:r>
          </a:p>
          <a:p>
            <a:pPr>
              <a:spcBef>
                <a:spcPts val="0"/>
              </a:spcBef>
              <a:spcAft>
                <a:spcPts val="700"/>
              </a:spcAft>
            </a:pPr>
            <a:r>
              <a:rPr sz="1500" b="1" i="0">
                <a:solidFill>
                  <a:srgbClr val="5B5BE6"/>
                </a:solidFill>
                <a:latin typeface="Calibri"/>
              </a:rPr>
              <a:t>•  </a:t>
            </a:r>
            <a:r>
              <a:rPr sz="1500" b="1" i="0">
                <a:solidFill>
                  <a:srgbClr val="444455"/>
                </a:solidFill>
                <a:latin typeface="Calibri"/>
              </a:rPr>
              <a:t>A label answers “what is this like?” </a:t>
            </a:r>
            <a:r>
              <a:rPr sz="1500" b="0" i="0">
                <a:solidFill>
                  <a:srgbClr val="444455"/>
                </a:solidFill>
                <a:latin typeface="Calibri"/>
              </a:rPr>
              <a:t>Many per item. Good for filtering, search, personalization.</a:t>
            </a:r>
          </a:p>
        </p:txBody>
      </p:sp>
      <p:graphicFrame>
        <p:nvGraphicFramePr>
          <p:cNvPr id="9" name="Table 8"/>
          <p:cNvGraphicFramePr>
            <a:graphicFrameLocks noGrp="1"/>
          </p:cNvGraphicFramePr>
          <p:nvPr/>
        </p:nvGraphicFramePr>
        <p:xfrm>
          <a:off x="548640" y="3657600"/>
          <a:ext cx="11064240" cy="2194560"/>
        </p:xfrm>
        <a:graphic>
          <a:graphicData uri="http://schemas.openxmlformats.org/drawingml/2006/table">
            <a:tbl>
              <a:tblPr>
                <a:tableStyleId>{5C22544A-7EE6-4342-B048-85BDC9FD1C3A}</a:tableStyleId>
              </a:tblPr>
              <a:tblGrid>
                <a:gridCol w="5120640"/>
                <a:gridCol w="5943600"/>
              </a:tblGrid>
              <a:tr h="438912">
                <a:tc>
                  <a:txBody>
                    <a:bodyPr/>
                    <a:lstStyle/>
                    <a:p>
                      <a:pPr>
                        <a:spcAft>
                          <a:spcPts val="0"/>
                        </a:spcAft>
                      </a:pPr>
                      <a:r>
                        <a:rPr sz="1100" b="1" i="0">
                          <a:solidFill>
                            <a:srgbClr val="FFFFFF"/>
                          </a:solidFill>
                          <a:latin typeface="Calibri"/>
                        </a:rPr>
                        <a:t>What the learner wants</a:t>
                      </a:r>
                    </a:p>
                  </a:txBody>
                  <a:tcPr marL="73152" marR="54864" marT="27432" marB="27432" anchor="ctr">
                    <a:solidFill>
                      <a:srgbClr val="5B5BE6"/>
                    </a:solidFill>
                  </a:tcPr>
                </a:tc>
                <a:tc>
                  <a:txBody>
                    <a:bodyPr/>
                    <a:lstStyle/>
                    <a:p>
                      <a:pPr>
                        <a:spcAft>
                          <a:spcPts val="0"/>
                        </a:spcAft>
                      </a:pPr>
                      <a:r>
                        <a:rPr sz="1100" b="1" i="0">
                          <a:solidFill>
                            <a:srgbClr val="FFFFFF"/>
                          </a:solidFill>
                          <a:latin typeface="Calibri"/>
                        </a:rPr>
                        <a:t>How we give it</a:t>
                      </a:r>
                    </a:p>
                  </a:txBody>
                  <a:tcPr marL="73152" marR="54864" marT="27432" marB="27432" anchor="ctr">
                    <a:solidFill>
                      <a:srgbClr val="5B5BE6"/>
                    </a:solidFill>
                  </a:tcPr>
                </a:tc>
              </a:tr>
              <a:tr h="438912">
                <a:tc>
                  <a:txBody>
                    <a:bodyPr/>
                    <a:lstStyle/>
                    <a:p>
                      <a:pPr>
                        <a:spcAft>
                          <a:spcPts val="0"/>
                        </a:spcAft>
                      </a:pPr>
                      <a:r>
                        <a:rPr sz="1300" b="1" i="0">
                          <a:solidFill>
                            <a:srgbClr val="1E1B2E"/>
                          </a:solidFill>
                          <a:latin typeface="Calibri"/>
                        </a:rPr>
                        <a:t>“I'm here for work / for life”</a:t>
                      </a:r>
                    </a:p>
                  </a:txBody>
                  <a:tcPr marL="73152" marR="54864" marT="27432" marB="27432" anchor="ctr">
                    <a:solidFill>
                      <a:srgbClr val="FFFFFF"/>
                    </a:solidFill>
                  </a:tcPr>
                </a:tc>
                <a:tc>
                  <a:txBody>
                    <a:bodyPr/>
                    <a:lstStyle/>
                    <a:p>
                      <a:pPr>
                        <a:spcAft>
                          <a:spcPts val="0"/>
                        </a:spcAft>
                      </a:pPr>
                      <a:r>
                        <a:rPr sz="1300" b="0" i="0">
                          <a:solidFill>
                            <a:srgbClr val="444455"/>
                          </a:solidFill>
                          <a:latin typeface="Calibri"/>
                        </a:rPr>
                        <a:t>Mode  (a lens over everything)</a:t>
                      </a:r>
                    </a:p>
                  </a:txBody>
                  <a:tcPr marL="73152" marR="54864" marT="27432" marB="27432" anchor="ctr">
                    <a:solidFill>
                      <a:srgbClr val="FFFFFF"/>
                    </a:solidFill>
                  </a:tcPr>
                </a:tc>
              </a:tr>
              <a:tr h="438912">
                <a:tc>
                  <a:txBody>
                    <a:bodyPr/>
                    <a:lstStyle/>
                    <a:p>
                      <a:pPr>
                        <a:spcAft>
                          <a:spcPts val="0"/>
                        </a:spcAft>
                      </a:pPr>
                      <a:r>
                        <a:rPr sz="1300" b="1" i="0">
                          <a:solidFill>
                            <a:srgbClr val="1E1B2E"/>
                          </a:solidFill>
                          <a:latin typeface="Calibri"/>
                        </a:rPr>
                        <a:t>“Show me a map of everything”</a:t>
                      </a:r>
                    </a:p>
                  </a:txBody>
                  <a:tcPr marL="73152" marR="54864" marT="27432" marB="27432" anchor="ctr">
                    <a:solidFill>
                      <a:srgbClr val="F7F6FC"/>
                    </a:solidFill>
                  </a:tcPr>
                </a:tc>
                <a:tc>
                  <a:txBody>
                    <a:bodyPr/>
                    <a:lstStyle/>
                    <a:p>
                      <a:pPr>
                        <a:spcAft>
                          <a:spcPts val="0"/>
                        </a:spcAft>
                      </a:pPr>
                      <a:r>
                        <a:rPr sz="1300" b="0" i="0">
                          <a:solidFill>
                            <a:srgbClr val="444455"/>
                          </a:solidFill>
                          <a:latin typeface="Calibri"/>
                        </a:rPr>
                        <a:t>Folders  (Field → Topic → Sub-topic)</a:t>
                      </a:r>
                    </a:p>
                  </a:txBody>
                  <a:tcPr marL="73152" marR="54864" marT="27432" marB="27432" anchor="ctr">
                    <a:solidFill>
                      <a:srgbClr val="F7F6FC"/>
                    </a:solidFill>
                  </a:tcPr>
                </a:tc>
              </a:tr>
              <a:tr h="438912">
                <a:tc>
                  <a:txBody>
                    <a:bodyPr/>
                    <a:lstStyle/>
                    <a:p>
                      <a:pPr>
                        <a:spcAft>
                          <a:spcPts val="0"/>
                        </a:spcAft>
                      </a:pPr>
                      <a:r>
                        <a:rPr sz="1300" b="1" i="0">
                          <a:solidFill>
                            <a:srgbClr val="1E1B2E"/>
                          </a:solidFill>
                          <a:latin typeface="Calibri"/>
                        </a:rPr>
                        <a:t>“Narrow to exactly what I want now”</a:t>
                      </a:r>
                    </a:p>
                  </a:txBody>
                  <a:tcPr marL="73152" marR="54864" marT="27432" marB="27432" anchor="ctr">
                    <a:solidFill>
                      <a:srgbClr val="FFFFFF"/>
                    </a:solidFill>
                  </a:tcPr>
                </a:tc>
                <a:tc>
                  <a:txBody>
                    <a:bodyPr/>
                    <a:lstStyle/>
                    <a:p>
                      <a:pPr>
                        <a:spcAft>
                          <a:spcPts val="0"/>
                        </a:spcAft>
                      </a:pPr>
                      <a:r>
                        <a:rPr sz="1300" b="0" i="0">
                          <a:solidFill>
                            <a:srgbClr val="444455"/>
                          </a:solidFill>
                          <a:latin typeface="Calibri"/>
                        </a:rPr>
                        <a:t>Labels  (level, formality, sector…)</a:t>
                      </a:r>
                    </a:p>
                  </a:txBody>
                  <a:tcPr marL="73152" marR="54864" marT="27432" marB="27432" anchor="ctr">
                    <a:solidFill>
                      <a:srgbClr val="FFFFFF"/>
                    </a:solidFill>
                  </a:tcPr>
                </a:tc>
              </a:tr>
              <a:tr h="438912">
                <a:tc>
                  <a:txBody>
                    <a:bodyPr/>
                    <a:lstStyle/>
                    <a:p>
                      <a:pPr>
                        <a:spcAft>
                          <a:spcPts val="0"/>
                        </a:spcAft>
                      </a:pPr>
                      <a:r>
                        <a:rPr sz="1300" b="1" i="0">
                          <a:solidFill>
                            <a:srgbClr val="1E1B2E"/>
                          </a:solidFill>
                          <a:latin typeface="Calibri"/>
                        </a:rPr>
                        <a:t>“Just pick the next best thing for me”</a:t>
                      </a:r>
                    </a:p>
                  </a:txBody>
                  <a:tcPr marL="73152" marR="54864" marT="27432" marB="27432" anchor="ctr">
                    <a:solidFill>
                      <a:srgbClr val="F7F6FC"/>
                    </a:solidFill>
                  </a:tcPr>
                </a:tc>
                <a:tc>
                  <a:txBody>
                    <a:bodyPr/>
                    <a:lstStyle/>
                    <a:p>
                      <a:pPr>
                        <a:spcAft>
                          <a:spcPts val="0"/>
                        </a:spcAft>
                      </a:pPr>
                      <a:r>
                        <a:rPr sz="1300" b="0" i="0">
                          <a:solidFill>
                            <a:srgbClr val="444455"/>
                          </a:solidFill>
                          <a:latin typeface="Calibri"/>
                        </a:rPr>
                        <a:t>Labels + what the app knows about you</a:t>
                      </a:r>
                    </a:p>
                  </a:txBody>
                  <a:tcPr marL="73152" marR="54864" marT="27432" marB="27432" anchor="ctr">
                    <a:solidFill>
                      <a:srgbClr val="F7F6FC"/>
                    </a:solidFill>
                  </a:tcPr>
                </a:tc>
              </a:tr>
            </a:tbl>
          </a:graphicData>
        </a:graphic>
      </p:graphicFrame>
      <p:sp>
        <p:nvSpPr>
          <p:cNvPr id="10" name="Rounded Rectangle 9"/>
          <p:cNvSpPr/>
          <p:nvPr/>
        </p:nvSpPr>
        <p:spPr>
          <a:xfrm>
            <a:off x="548640" y="5897880"/>
            <a:ext cx="11064240" cy="658368"/>
          </a:xfrm>
          <a:prstGeom prst="roundRect">
            <a:avLst/>
          </a:prstGeom>
          <a:solidFill>
            <a:srgbClr val="F4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64592" tIns="118872"/>
          <a:lstStyle/>
          <a:p>
            <a:pPr algn="l">
              <a:spcBef>
                <a:spcPts val="0"/>
              </a:spcBef>
              <a:spcAft>
                <a:spcPts val="400"/>
              </a:spcAft>
            </a:pPr>
            <a:r>
              <a:rPr sz="1400" b="1" i="0">
                <a:solidFill>
                  <a:srgbClr val="5B5BE6"/>
                </a:solidFill>
                <a:latin typeface="Calibri"/>
              </a:rPr>
              <a:t>Our rule</a:t>
            </a:r>
          </a:p>
          <a:p>
            <a:pPr algn="l">
              <a:spcBef>
                <a:spcPts val="0"/>
              </a:spcBef>
              <a:spcAft>
                <a:spcPts val="500"/>
              </a:spcAft>
            </a:pPr>
            <a:r>
              <a:rPr sz="1350" b="0" i="0">
                <a:solidFill>
                  <a:srgbClr val="444455"/>
                </a:solidFill>
                <a:latin typeface="Calibri"/>
              </a:rPr>
              <a:t>Mode and labels are lenses (properties). Topics are folders (places). Never make “level”, “formal” or “Work” a folder. We'll see on slide 11 why Mode must be a lens, not a wall.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5B5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424160" cy="365760"/>
          </a:xfrm>
          <a:prstGeom prst="rect">
            <a:avLst/>
          </a:prstGeom>
          <a:noFill/>
        </p:spPr>
        <p:txBody>
          <a:bodyPr wrap="square" anchor="t" lIns="45720" rIns="45720" tIns="18288" bIns="18288">
            <a:spAutoFit/>
          </a:bodyPr>
          <a:lstStyle/>
          <a:p>
            <a:pPr algn="l">
              <a:spcBef>
                <a:spcPts val="0"/>
              </a:spcBef>
              <a:spcAft>
                <a:spcPts val="200"/>
              </a:spcAft>
            </a:pPr>
            <a:r>
              <a:rPr sz="1200" b="1" i="0">
                <a:solidFill>
                  <a:srgbClr val="5B5BE6"/>
                </a:solidFill>
                <a:latin typeface="Calibri"/>
              </a:rPr>
              <a:t>SLIDE 6  ·  THE CORE IDEA (2 OF 3)</a:t>
            </a:r>
          </a:p>
        </p:txBody>
      </p:sp>
      <p:sp>
        <p:nvSpPr>
          <p:cNvPr id="5" name="TextBox 4"/>
          <p:cNvSpPr txBox="1"/>
          <p:nvPr/>
        </p:nvSpPr>
        <p:spPr>
          <a:xfrm>
            <a:off x="502920" y="585216"/>
            <a:ext cx="10881360" cy="868680"/>
          </a:xfrm>
          <a:prstGeom prst="rect">
            <a:avLst/>
          </a:prstGeom>
          <a:noFill/>
        </p:spPr>
        <p:txBody>
          <a:bodyPr wrap="square" anchor="t" lIns="45720" rIns="45720" tIns="18288" bIns="18288">
            <a:spAutoFit/>
          </a:bodyPr>
          <a:lstStyle/>
          <a:p>
            <a:pPr algn="l">
              <a:spcBef>
                <a:spcPts val="0"/>
              </a:spcBef>
              <a:spcAft>
                <a:spcPts val="0"/>
              </a:spcAft>
            </a:pPr>
            <a:r>
              <a:rPr sz="2600" b="1" i="0">
                <a:solidFill>
                  <a:srgbClr val="1E1B2E"/>
                </a:solidFill>
                <a:latin typeface="Calibri"/>
              </a:rPr>
              <a:t>Keep each label clean &amp; independent</a:t>
            </a:r>
          </a:p>
        </p:txBody>
      </p:sp>
      <p:sp>
        <p:nvSpPr>
          <p:cNvPr id="6" name="Rounded Rectangle 5"/>
          <p:cNvSpPr/>
          <p:nvPr/>
        </p:nvSpPr>
        <p:spPr>
          <a:xfrm>
            <a:off x="11338560" y="310896"/>
            <a:ext cx="566928" cy="384048"/>
          </a:xfrm>
          <a:prstGeom prst="roundRect">
            <a:avLst/>
          </a:prstGeom>
          <a:solidFill>
            <a:srgbClr val="F4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i="0">
                <a:solidFill>
                  <a:srgbClr val="5B5BE6"/>
                </a:solidFill>
                <a:latin typeface="Calibri"/>
              </a:rPr>
              <a:t>6</a:t>
            </a:r>
          </a:p>
        </p:txBody>
      </p:sp>
      <p:sp>
        <p:nvSpPr>
          <p:cNvPr id="7" name="Rectangle 6"/>
          <p:cNvSpPr/>
          <p:nvPr/>
        </p:nvSpPr>
        <p:spPr>
          <a:xfrm>
            <a:off x="502920" y="1335024"/>
            <a:ext cx="1920240" cy="36576"/>
          </a:xfrm>
          <a:prstGeom prst="rect">
            <a:avLst/>
          </a:prstGeom>
          <a:solidFill>
            <a:srgbClr val="5B5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572768"/>
            <a:ext cx="11064240" cy="2743200"/>
          </a:xfrm>
          <a:prstGeom prst="rect">
            <a:avLst/>
          </a:prstGeom>
          <a:noFill/>
        </p:spPr>
        <p:txBody>
          <a:bodyPr wrap="square" anchor="t" lIns="45720" rIns="45720" tIns="18288" bIns="18288">
            <a:spAutoFit/>
          </a:bodyPr>
          <a:lstStyle/>
          <a:p>
            <a:pPr algn="l">
              <a:spcBef>
                <a:spcPts val="0"/>
              </a:spcBef>
              <a:spcAft>
                <a:spcPts val="600"/>
              </a:spcAft>
            </a:pPr>
            <a:r>
              <a:rPr sz="1500" b="1" i="0">
                <a:solidFill>
                  <a:srgbClr val="1E1B2E"/>
                </a:solidFill>
                <a:latin typeface="Calibri"/>
              </a:rPr>
              <a:t>Each label should be independent of the others.</a:t>
            </a:r>
          </a:p>
          <a:p>
            <a:pPr algn="l">
              <a:spcBef>
                <a:spcPts val="0"/>
              </a:spcBef>
              <a:spcAft>
                <a:spcPts val="1200"/>
              </a:spcAft>
            </a:pPr>
            <a:r>
              <a:rPr sz="1450" b="0" i="0">
                <a:solidFill>
                  <a:srgbClr val="444455"/>
                </a:solidFill>
                <a:latin typeface="Calibri"/>
              </a:rPr>
              <a:t>You can set “level = B2” without it forcing “sector = care” or “formal.” When labels are independent, a handful of them combine into thousands of useful, specific views.</a:t>
            </a:r>
          </a:p>
          <a:p>
            <a:pPr algn="l">
              <a:spcBef>
                <a:spcPts val="0"/>
              </a:spcBef>
              <a:spcAft>
                <a:spcPts val="400"/>
              </a:spcAft>
            </a:pPr>
            <a:r>
              <a:rPr sz="1500" b="1" i="0">
                <a:solidFill>
                  <a:srgbClr val="1E1B2E"/>
                </a:solidFill>
                <a:latin typeface="Calibri"/>
              </a:rPr>
              <a:t>A simple test for whether a label earns its place:</a:t>
            </a:r>
          </a:p>
          <a:p>
            <a:pPr>
              <a:spcBef>
                <a:spcPts val="0"/>
              </a:spcBef>
              <a:spcAft>
                <a:spcPts val="700"/>
              </a:spcAft>
            </a:pPr>
            <a:r>
              <a:rPr sz="1500" b="1" i="0">
                <a:solidFill>
                  <a:srgbClr val="5B5BE6"/>
                </a:solidFill>
                <a:latin typeface="Calibri"/>
              </a:rPr>
              <a:t>•  </a:t>
            </a:r>
            <a:r>
              <a:rPr sz="1500" b="1" i="0">
                <a:solidFill>
                  <a:srgbClr val="444455"/>
                </a:solidFill>
                <a:latin typeface="Calibri"/>
              </a:rPr>
              <a:t>“Formality” passes. </a:t>
            </a:r>
            <a:r>
              <a:rPr sz="1500" b="0" i="0">
                <a:solidFill>
                  <a:srgbClr val="444455"/>
                </a:solidFill>
                <a:latin typeface="Calibri"/>
              </a:rPr>
              <a:t>Two B2 care-sector words can differ only in how formal they are. Worth a label.</a:t>
            </a:r>
          </a:p>
          <a:p>
            <a:pPr>
              <a:spcBef>
                <a:spcPts val="0"/>
              </a:spcBef>
              <a:spcAft>
                <a:spcPts val="700"/>
              </a:spcAft>
            </a:pPr>
            <a:r>
              <a:rPr sz="1500" b="1" i="0">
                <a:solidFill>
                  <a:srgbClr val="5B5BE6"/>
                </a:solidFill>
                <a:latin typeface="Calibri"/>
              </a:rPr>
              <a:t>•  </a:t>
            </a:r>
            <a:r>
              <a:rPr sz="1500" b="1" i="0">
                <a:solidFill>
                  <a:srgbClr val="444455"/>
                </a:solidFill>
                <a:latin typeface="Calibri"/>
              </a:rPr>
              <a:t>“Difficulty” fails. </a:t>
            </a:r>
            <a:r>
              <a:rPr sz="1500" b="0" i="0">
                <a:solidFill>
                  <a:srgbClr val="444455"/>
                </a:solidFill>
                <a:latin typeface="Calibri"/>
              </a:rPr>
              <a:t>Just another word for “level.” Don't store the same fact twice.</a:t>
            </a:r>
          </a:p>
        </p:txBody>
      </p:sp>
      <p:sp>
        <p:nvSpPr>
          <p:cNvPr id="9" name="Rounded Rectangle 8"/>
          <p:cNvSpPr/>
          <p:nvPr/>
        </p:nvSpPr>
        <p:spPr>
          <a:xfrm>
            <a:off x="548640" y="4983480"/>
            <a:ext cx="5394960" cy="1508760"/>
          </a:xfrm>
          <a:prstGeom prst="roundRect">
            <a:avLst/>
          </a:prstGeom>
          <a:solidFill>
            <a:srgbClr val="F4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64592" tIns="118872"/>
          <a:lstStyle/>
          <a:p>
            <a:pPr algn="l">
              <a:spcBef>
                <a:spcPts val="0"/>
              </a:spcBef>
              <a:spcAft>
                <a:spcPts val="400"/>
              </a:spcAft>
            </a:pPr>
            <a:r>
              <a:rPr sz="1400" b="1" i="0">
                <a:solidFill>
                  <a:srgbClr val="5B5BE6"/>
                </a:solidFill>
                <a:latin typeface="Calibri"/>
              </a:rPr>
              <a:t>Fixed labels (a short, set list)</a:t>
            </a:r>
          </a:p>
          <a:p>
            <a:pPr algn="l">
              <a:spcBef>
                <a:spcPts val="0"/>
              </a:spcBef>
              <a:spcAft>
                <a:spcPts val="500"/>
              </a:spcAft>
            </a:pPr>
            <a:r>
              <a:rPr sz="1350" b="0" i="0">
                <a:solidFill>
                  <a:srgbClr val="444455"/>
                </a:solidFill>
                <a:latin typeface="Calibri"/>
              </a:rPr>
              <a:t>Mode, level, formality, word type, sector, exam tag. These power the filter buttons. Keep the list short and stable.</a:t>
            </a:r>
          </a:p>
        </p:txBody>
      </p:sp>
      <p:sp>
        <p:nvSpPr>
          <p:cNvPr id="10" name="Rounded Rectangle 9"/>
          <p:cNvSpPr/>
          <p:nvPr/>
        </p:nvSpPr>
        <p:spPr>
          <a:xfrm>
            <a:off x="6217920" y="4983480"/>
            <a:ext cx="5394960" cy="1508760"/>
          </a:xfrm>
          <a:prstGeom prst="roundRect">
            <a:avLst/>
          </a:prstGeom>
          <a:solidFill>
            <a:srgbClr val="FBF1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64592" tIns="118872"/>
          <a:lstStyle/>
          <a:p>
            <a:pPr algn="l">
              <a:spcBef>
                <a:spcPts val="0"/>
              </a:spcBef>
              <a:spcAft>
                <a:spcPts val="400"/>
              </a:spcAft>
            </a:pPr>
            <a:r>
              <a:rPr sz="1400" b="1" i="0">
                <a:solidFill>
                  <a:srgbClr val="C06A2A"/>
                </a:solidFill>
                <a:latin typeface="Calibri"/>
              </a:rPr>
              <a:t>Free labels (open, can grow)</a:t>
            </a:r>
          </a:p>
          <a:p>
            <a:pPr algn="l">
              <a:spcBef>
                <a:spcPts val="0"/>
              </a:spcBef>
              <a:spcAft>
                <a:spcPts val="500"/>
              </a:spcAft>
            </a:pPr>
            <a:r>
              <a:rPr sz="1350" b="0" i="0">
                <a:solidFill>
                  <a:srgbClr val="444455"/>
                </a:solidFill>
                <a:latin typeface="Calibri"/>
              </a:rPr>
              <a:t>Fine-grained keywords and real-life “can-do” goals. These power search and future AI. Allowed to be messy.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5B5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424160" cy="365760"/>
          </a:xfrm>
          <a:prstGeom prst="rect">
            <a:avLst/>
          </a:prstGeom>
          <a:noFill/>
        </p:spPr>
        <p:txBody>
          <a:bodyPr wrap="square" anchor="t" lIns="45720" rIns="45720" tIns="18288" bIns="18288">
            <a:spAutoFit/>
          </a:bodyPr>
          <a:lstStyle/>
          <a:p>
            <a:pPr algn="l">
              <a:spcBef>
                <a:spcPts val="0"/>
              </a:spcBef>
              <a:spcAft>
                <a:spcPts val="200"/>
              </a:spcAft>
            </a:pPr>
            <a:r>
              <a:rPr sz="1200" b="1" i="0">
                <a:solidFill>
                  <a:srgbClr val="5B5BE6"/>
                </a:solidFill>
                <a:latin typeface="Calibri"/>
              </a:rPr>
              <a:t>SLIDE 7  ·  THE CORE IDEA (3 OF 3)</a:t>
            </a:r>
          </a:p>
        </p:txBody>
      </p:sp>
      <p:sp>
        <p:nvSpPr>
          <p:cNvPr id="5" name="TextBox 4"/>
          <p:cNvSpPr txBox="1"/>
          <p:nvPr/>
        </p:nvSpPr>
        <p:spPr>
          <a:xfrm>
            <a:off x="502920" y="585216"/>
            <a:ext cx="10881360" cy="868680"/>
          </a:xfrm>
          <a:prstGeom prst="rect">
            <a:avLst/>
          </a:prstGeom>
          <a:noFill/>
        </p:spPr>
        <p:txBody>
          <a:bodyPr wrap="square" anchor="t" lIns="45720" rIns="45720" tIns="18288" bIns="18288">
            <a:spAutoFit/>
          </a:bodyPr>
          <a:lstStyle/>
          <a:p>
            <a:pPr algn="l">
              <a:spcBef>
                <a:spcPts val="0"/>
              </a:spcBef>
              <a:spcAft>
                <a:spcPts val="0"/>
              </a:spcAft>
            </a:pPr>
            <a:r>
              <a:rPr sz="2600" b="1" i="0">
                <a:solidFill>
                  <a:srgbClr val="1E1B2E"/>
                </a:solidFill>
                <a:latin typeface="Calibri"/>
              </a:rPr>
              <a:t>How deep should folders go?</a:t>
            </a:r>
          </a:p>
        </p:txBody>
      </p:sp>
      <p:sp>
        <p:nvSpPr>
          <p:cNvPr id="6" name="Rounded Rectangle 5"/>
          <p:cNvSpPr/>
          <p:nvPr/>
        </p:nvSpPr>
        <p:spPr>
          <a:xfrm>
            <a:off x="11338560" y="310896"/>
            <a:ext cx="566928" cy="384048"/>
          </a:xfrm>
          <a:prstGeom prst="roundRect">
            <a:avLst/>
          </a:prstGeom>
          <a:solidFill>
            <a:srgbClr val="F4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i="0">
                <a:solidFill>
                  <a:srgbClr val="5B5BE6"/>
                </a:solidFill>
                <a:latin typeface="Calibri"/>
              </a:rPr>
              <a:t>7</a:t>
            </a:r>
          </a:p>
        </p:txBody>
      </p:sp>
      <p:sp>
        <p:nvSpPr>
          <p:cNvPr id="7" name="Rectangle 6"/>
          <p:cNvSpPr/>
          <p:nvPr/>
        </p:nvSpPr>
        <p:spPr>
          <a:xfrm>
            <a:off x="502920" y="1335024"/>
            <a:ext cx="1920240" cy="36576"/>
          </a:xfrm>
          <a:prstGeom prst="rect">
            <a:avLst/>
          </a:prstGeom>
          <a:solidFill>
            <a:srgbClr val="5B5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572768"/>
            <a:ext cx="11064240" cy="1188720"/>
          </a:xfrm>
          <a:prstGeom prst="rect">
            <a:avLst/>
          </a:prstGeom>
          <a:noFill/>
        </p:spPr>
        <p:txBody>
          <a:bodyPr wrap="square" anchor="t" lIns="45720" rIns="45720" tIns="18288" bIns="18288">
            <a:spAutoFit/>
          </a:bodyPr>
          <a:lstStyle/>
          <a:p>
            <a:pPr algn="l">
              <a:spcBef>
                <a:spcPts val="0"/>
              </a:spcBef>
              <a:spcAft>
                <a:spcPts val="600"/>
              </a:spcAft>
            </a:pPr>
            <a:r>
              <a:rPr sz="1600" b="1" i="0">
                <a:solidFill>
                  <a:srgbClr val="1E1B2E"/>
                </a:solidFill>
                <a:latin typeface="Calibri"/>
              </a:rPr>
              <a:t>Three levels, and stop. Show 5–9 choices at each step, never 30.</a:t>
            </a:r>
          </a:p>
          <a:p>
            <a:pPr algn="l">
              <a:spcBef>
                <a:spcPts val="0"/>
              </a:spcBef>
              <a:spcAft>
                <a:spcPts val="600"/>
              </a:spcAft>
            </a:pPr>
            <a:r>
              <a:rPr sz="1450" b="0" i="0">
                <a:solidFill>
                  <a:srgbClr val="444455"/>
                </a:solidFill>
                <a:latin typeface="Calibri"/>
              </a:rPr>
              <a:t>Mode sits ABOVE these three as a lens, it does not count as a fourth folder level (more on slide 11).</a:t>
            </a:r>
          </a:p>
        </p:txBody>
      </p:sp>
      <p:sp>
        <p:nvSpPr>
          <p:cNvPr id="9" name="Rectangle 8"/>
          <p:cNvSpPr/>
          <p:nvPr/>
        </p:nvSpPr>
        <p:spPr>
          <a:xfrm>
            <a:off x="548640" y="3017520"/>
            <a:ext cx="11064240" cy="1417320"/>
          </a:xfrm>
          <a:prstGeom prst="rect">
            <a:avLst/>
          </a:prstGeom>
          <a:solidFill>
            <a:srgbClr val="1B1A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109728" bIns="109728"/>
          <a:lstStyle/>
          <a:p>
            <a:pPr algn="ctr">
              <a:spcAft>
                <a:spcPts val="100"/>
              </a:spcAft>
            </a:pPr>
            <a:r>
              <a:rPr sz="1300" b="0" i="0">
                <a:solidFill>
                  <a:srgbClr val="E8E6F5"/>
                </a:solidFill>
                <a:latin typeface="Consolas"/>
              </a:rPr>
              <a:t>~5–7 Fields            (broadest: “Working life”, “Everyday life”…)</a:t>
            </a:r>
          </a:p>
          <a:p>
            <a:pPr>
              <a:spcAft>
                <a:spcPts val="100"/>
              </a:spcAft>
            </a:pPr>
            <a:r>
              <a:rPr sz="1300" b="0" i="0">
                <a:solidFill>
                  <a:srgbClr val="E8E6F5"/>
                </a:solidFill>
                <a:latin typeface="Consolas"/>
              </a:rPr>
              <a:t>   └─ ~6–10 Topics each   (our 11 current topics live here)</a:t>
            </a:r>
          </a:p>
          <a:p>
            <a:pPr>
              <a:spcAft>
                <a:spcPts val="100"/>
              </a:spcAft>
            </a:pPr>
            <a:r>
              <a:rPr sz="1300" b="0" i="0">
                <a:solidFill>
                  <a:srgbClr val="E8E6F5"/>
                </a:solidFill>
                <a:latin typeface="Consolas"/>
              </a:rPr>
              <a:t>        └─ ~3–6 Sub-topics each   (NEW – the missing middle layer)</a:t>
            </a:r>
          </a:p>
          <a:p>
            <a:pPr>
              <a:spcAft>
                <a:spcPts val="100"/>
              </a:spcAft>
            </a:pPr>
            <a:r>
              <a:rPr sz="1300" b="0" i="0">
                <a:solidFill>
                  <a:srgbClr val="E8E6F5"/>
                </a:solidFill>
                <a:latin typeface="Consolas"/>
              </a:rPr>
              <a:t>             └─ the actual words, phrases and exercises</a:t>
            </a:r>
          </a:p>
        </p:txBody>
      </p:sp>
      <p:sp>
        <p:nvSpPr>
          <p:cNvPr id="10" name="Rounded Rectangle 9"/>
          <p:cNvSpPr/>
          <p:nvPr/>
        </p:nvSpPr>
        <p:spPr>
          <a:xfrm>
            <a:off x="548640" y="4663440"/>
            <a:ext cx="11064240" cy="1828800"/>
          </a:xfrm>
          <a:prstGeom prst="roundRect">
            <a:avLst/>
          </a:prstGeom>
          <a:solidFill>
            <a:srgbClr val="EAF7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64592" tIns="118872"/>
          <a:lstStyle/>
          <a:p>
            <a:pPr algn="l">
              <a:spcBef>
                <a:spcPts val="0"/>
              </a:spcBef>
              <a:spcAft>
                <a:spcPts val="400"/>
              </a:spcAft>
            </a:pPr>
            <a:r>
              <a:rPr sz="1400" b="1" i="0">
                <a:solidFill>
                  <a:srgbClr val="2A9D6E"/>
                </a:solidFill>
                <a:latin typeface="Calibri"/>
              </a:rPr>
              <a:t>Why this shape works</a:t>
            </a:r>
          </a:p>
          <a:p>
            <a:pPr algn="l">
              <a:spcBef>
                <a:spcPts val="0"/>
              </a:spcBef>
              <a:spcAft>
                <a:spcPts val="500"/>
              </a:spcAft>
            </a:pPr>
            <a:r>
              <a:rPr sz="1350" b="0" i="0">
                <a:solidFill>
                  <a:srgbClr val="444455"/>
                </a:solidFill>
                <a:latin typeface="Calibri"/>
              </a:rPr>
              <a:t>Room for ~160 sub-topics and effectively unlimited items, while never showing a learner more than ~9 choices at once. One rule that saves pain later: never rename a topic's hidden ID, only its display name, so we can re-label freely without breaking the thousands of items pointing at 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0B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424160" cy="365760"/>
          </a:xfrm>
          <a:prstGeom prst="rect">
            <a:avLst/>
          </a:prstGeom>
          <a:noFill/>
        </p:spPr>
        <p:txBody>
          <a:bodyPr wrap="square" anchor="t" lIns="45720" rIns="45720" tIns="18288" bIns="18288">
            <a:spAutoFit/>
          </a:bodyPr>
          <a:lstStyle/>
          <a:p>
            <a:pPr algn="l">
              <a:spcBef>
                <a:spcPts val="0"/>
              </a:spcBef>
              <a:spcAft>
                <a:spcPts val="200"/>
              </a:spcAft>
            </a:pPr>
            <a:r>
              <a:rPr sz="1200" b="1" i="0">
                <a:solidFill>
                  <a:srgbClr val="10B7CF"/>
                </a:solidFill>
                <a:latin typeface="Calibri"/>
              </a:rPr>
              <a:t>SLIDE 8  ·  THE MODE LAYER (1 OF 4)</a:t>
            </a:r>
          </a:p>
        </p:txBody>
      </p:sp>
      <p:sp>
        <p:nvSpPr>
          <p:cNvPr id="5" name="TextBox 4"/>
          <p:cNvSpPr txBox="1"/>
          <p:nvPr/>
        </p:nvSpPr>
        <p:spPr>
          <a:xfrm>
            <a:off x="502920" y="585216"/>
            <a:ext cx="10881360" cy="868680"/>
          </a:xfrm>
          <a:prstGeom prst="rect">
            <a:avLst/>
          </a:prstGeom>
          <a:noFill/>
        </p:spPr>
        <p:txBody>
          <a:bodyPr wrap="square" anchor="t" lIns="45720" rIns="45720" tIns="18288" bIns="18288">
            <a:spAutoFit/>
          </a:bodyPr>
          <a:lstStyle/>
          <a:p>
            <a:pPr algn="l">
              <a:spcBef>
                <a:spcPts val="0"/>
              </a:spcBef>
              <a:spcAft>
                <a:spcPts val="0"/>
              </a:spcAft>
            </a:pPr>
            <a:r>
              <a:rPr sz="2600" b="1" i="0">
                <a:solidFill>
                  <a:srgbClr val="1E1B2E"/>
                </a:solidFill>
                <a:latin typeface="Calibri"/>
              </a:rPr>
              <a:t>The big new idea: Work / Personal / Both</a:t>
            </a:r>
          </a:p>
        </p:txBody>
      </p:sp>
      <p:sp>
        <p:nvSpPr>
          <p:cNvPr id="6" name="Rounded Rectangle 5"/>
          <p:cNvSpPr/>
          <p:nvPr/>
        </p:nvSpPr>
        <p:spPr>
          <a:xfrm>
            <a:off x="11338560" y="310896"/>
            <a:ext cx="566928" cy="384048"/>
          </a:xfrm>
          <a:prstGeom prst="roundRect">
            <a:avLst/>
          </a:prstGeom>
          <a:solidFill>
            <a:srgbClr val="F4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i="0">
                <a:solidFill>
                  <a:srgbClr val="5B5BE6"/>
                </a:solidFill>
                <a:latin typeface="Calibri"/>
              </a:rPr>
              <a:t>8</a:t>
            </a:r>
          </a:p>
        </p:txBody>
      </p:sp>
      <p:sp>
        <p:nvSpPr>
          <p:cNvPr id="7" name="Rectangle 6"/>
          <p:cNvSpPr/>
          <p:nvPr/>
        </p:nvSpPr>
        <p:spPr>
          <a:xfrm>
            <a:off x="502920" y="1335024"/>
            <a:ext cx="1920240" cy="36576"/>
          </a:xfrm>
          <a:prstGeom prst="rect">
            <a:avLst/>
          </a:prstGeom>
          <a:solidFill>
            <a:srgbClr val="10B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572768"/>
            <a:ext cx="11064240" cy="1371600"/>
          </a:xfrm>
          <a:prstGeom prst="rect">
            <a:avLst/>
          </a:prstGeom>
          <a:noFill/>
        </p:spPr>
        <p:txBody>
          <a:bodyPr wrap="square" anchor="t" lIns="45720" rIns="45720" tIns="18288" bIns="18288">
            <a:spAutoFit/>
          </a:bodyPr>
          <a:lstStyle/>
          <a:p>
            <a:pPr algn="l">
              <a:spcBef>
                <a:spcPts val="0"/>
              </a:spcBef>
              <a:spcAft>
                <a:spcPts val="600"/>
              </a:spcAft>
            </a:pPr>
            <a:r>
              <a:rPr sz="1600" b="1" i="0">
                <a:solidFill>
                  <a:srgbClr val="1E1B2E"/>
                </a:solidFill>
                <a:latin typeface="Calibri"/>
              </a:rPr>
              <a:t>Before a learner sees any topic, they pick a Mode, the single answer to “why am I here?”</a:t>
            </a:r>
          </a:p>
          <a:p>
            <a:pPr algn="l">
              <a:spcBef>
                <a:spcPts val="0"/>
              </a:spcBef>
              <a:spcAft>
                <a:spcPts val="600"/>
              </a:spcAft>
            </a:pPr>
            <a:r>
              <a:rPr sz="1450" b="0" i="0">
                <a:solidFill>
                  <a:srgbClr val="444455"/>
                </a:solidFill>
                <a:latin typeface="Calibri"/>
              </a:rPr>
              <a:t>It's set with one friendly question at sign-up, shown as a small switch in the header, and changeable anytime. It then reshapes what's emphasized everywhere: topics, goal cards, even which filters appear.</a:t>
            </a:r>
          </a:p>
        </p:txBody>
      </p:sp>
      <p:graphicFrame>
        <p:nvGraphicFramePr>
          <p:cNvPr id="9" name="Table 8"/>
          <p:cNvGraphicFramePr>
            <a:graphicFrameLocks noGrp="1"/>
          </p:cNvGraphicFramePr>
          <p:nvPr/>
        </p:nvGraphicFramePr>
        <p:xfrm>
          <a:off x="548640" y="3017520"/>
          <a:ext cx="11064240" cy="2267712"/>
        </p:xfrm>
        <a:graphic>
          <a:graphicData uri="http://schemas.openxmlformats.org/drawingml/2006/table">
            <a:tbl>
              <a:tblPr>
                <a:tableStyleId>{5C22544A-7EE6-4342-B048-85BDC9FD1C3A}</a:tableStyleId>
              </a:tblPr>
              <a:tblGrid>
                <a:gridCol w="2468880"/>
                <a:gridCol w="4572000"/>
                <a:gridCol w="4023360"/>
              </a:tblGrid>
              <a:tr h="566928">
                <a:tc>
                  <a:txBody>
                    <a:bodyPr/>
                    <a:lstStyle/>
                    <a:p>
                      <a:pPr>
                        <a:spcAft>
                          <a:spcPts val="0"/>
                        </a:spcAft>
                      </a:pPr>
                      <a:r>
                        <a:rPr sz="1100" b="1" i="0">
                          <a:solidFill>
                            <a:srgbClr val="FFFFFF"/>
                          </a:solidFill>
                          <a:latin typeface="Calibri"/>
                        </a:rPr>
                        <a:t>Mode</a:t>
                      </a:r>
                    </a:p>
                  </a:txBody>
                  <a:tcPr marL="73152" marR="54864" marT="27432" marB="27432" anchor="ctr">
                    <a:solidFill>
                      <a:srgbClr val="10B7CF"/>
                    </a:solidFill>
                  </a:tcPr>
                </a:tc>
                <a:tc>
                  <a:txBody>
                    <a:bodyPr/>
                    <a:lstStyle/>
                    <a:p>
                      <a:pPr>
                        <a:spcAft>
                          <a:spcPts val="0"/>
                        </a:spcAft>
                      </a:pPr>
                      <a:r>
                        <a:rPr sz="1100" b="1" i="0">
                          <a:solidFill>
                            <a:srgbClr val="FFFFFF"/>
                          </a:solidFill>
                          <a:latin typeface="Calibri"/>
                        </a:rPr>
                        <a:t>What it surfaces</a:t>
                      </a:r>
                    </a:p>
                  </a:txBody>
                  <a:tcPr marL="73152" marR="54864" marT="27432" marB="27432" anchor="ctr">
                    <a:solidFill>
                      <a:srgbClr val="10B7CF"/>
                    </a:solidFill>
                  </a:tcPr>
                </a:tc>
                <a:tc>
                  <a:txBody>
                    <a:bodyPr/>
                    <a:lstStyle/>
                    <a:p>
                      <a:pPr>
                        <a:spcAft>
                          <a:spcPts val="0"/>
                        </a:spcAft>
                      </a:pPr>
                      <a:r>
                        <a:rPr sz="1100" b="1" i="0">
                          <a:solidFill>
                            <a:srgbClr val="FFFFFF"/>
                          </a:solidFill>
                          <a:latin typeface="Calibri"/>
                        </a:rPr>
                        <a:t>Extra labels it unlocks</a:t>
                      </a:r>
                    </a:p>
                  </a:txBody>
                  <a:tcPr marL="73152" marR="54864" marT="27432" marB="27432" anchor="ctr">
                    <a:solidFill>
                      <a:srgbClr val="10B7CF"/>
                    </a:solidFill>
                  </a:tcPr>
                </a:tc>
              </a:tr>
              <a:tr h="566928">
                <a:tc>
                  <a:txBody>
                    <a:bodyPr/>
                    <a:lstStyle/>
                    <a:p>
                      <a:pPr>
                        <a:spcAft>
                          <a:spcPts val="0"/>
                        </a:spcAft>
                      </a:pPr>
                      <a:r>
                        <a:rPr sz="1250" b="1" i="0">
                          <a:solidFill>
                            <a:srgbClr val="1E1B2E"/>
                          </a:solidFill>
                          <a:latin typeface="Calibri"/>
                        </a:rPr>
                        <a:t>Beruf (Work)</a:t>
                      </a:r>
                    </a:p>
                  </a:txBody>
                  <a:tcPr marL="73152" marR="54864" marT="27432" marB="27432" anchor="ctr">
                    <a:solidFill>
                      <a:srgbClr val="FFFFFF"/>
                    </a:solidFill>
                  </a:tcPr>
                </a:tc>
                <a:tc>
                  <a:txBody>
                    <a:bodyPr/>
                    <a:lstStyle/>
                    <a:p>
                      <a:pPr>
                        <a:spcAft>
                          <a:spcPts val="0"/>
                        </a:spcAft>
                      </a:pPr>
                      <a:r>
                        <a:rPr sz="1250" b="0" i="0">
                          <a:solidFill>
                            <a:srgbClr val="444455"/>
                          </a:solidFill>
                          <a:latin typeface="Calibri"/>
                        </a:rPr>
                        <a:t>Work topics + job-relevant daily life</a:t>
                      </a:r>
                    </a:p>
                  </a:txBody>
                  <a:tcPr marL="73152" marR="54864" marT="27432" marB="27432" anchor="ctr">
                    <a:solidFill>
                      <a:srgbClr val="FFFFFF"/>
                    </a:solidFill>
                  </a:tcPr>
                </a:tc>
                <a:tc>
                  <a:txBody>
                    <a:bodyPr/>
                    <a:lstStyle/>
                    <a:p>
                      <a:pPr>
                        <a:spcAft>
                          <a:spcPts val="0"/>
                        </a:spcAft>
                      </a:pPr>
                      <a:r>
                        <a:rPr sz="1250" b="0" i="0">
                          <a:solidFill>
                            <a:srgbClr val="444455"/>
                          </a:solidFill>
                          <a:latin typeface="Calibri"/>
                        </a:rPr>
                        <a:t>Sector · Situation · Who you talk to · Task type</a:t>
                      </a:r>
                    </a:p>
                  </a:txBody>
                  <a:tcPr marL="73152" marR="54864" marT="27432" marB="27432" anchor="ctr">
                    <a:solidFill>
                      <a:srgbClr val="FFFFFF"/>
                    </a:solidFill>
                  </a:tcPr>
                </a:tc>
              </a:tr>
              <a:tr h="566928">
                <a:tc>
                  <a:txBody>
                    <a:bodyPr/>
                    <a:lstStyle/>
                    <a:p>
                      <a:pPr>
                        <a:spcAft>
                          <a:spcPts val="0"/>
                        </a:spcAft>
                      </a:pPr>
                      <a:r>
                        <a:rPr sz="1250" b="1" i="0">
                          <a:solidFill>
                            <a:srgbClr val="1E1B2E"/>
                          </a:solidFill>
                          <a:latin typeface="Calibri"/>
                        </a:rPr>
                        <a:t>Privatleben (Personal)</a:t>
                      </a:r>
                    </a:p>
                  </a:txBody>
                  <a:tcPr marL="73152" marR="54864" marT="27432" marB="27432" anchor="ctr">
                    <a:solidFill>
                      <a:srgbClr val="F7F6FC"/>
                    </a:solidFill>
                  </a:tcPr>
                </a:tc>
                <a:tc>
                  <a:txBody>
                    <a:bodyPr/>
                    <a:lstStyle/>
                    <a:p>
                      <a:pPr>
                        <a:spcAft>
                          <a:spcPts val="0"/>
                        </a:spcAft>
                      </a:pPr>
                      <a:r>
                        <a:rPr sz="1250" b="0" i="0">
                          <a:solidFill>
                            <a:srgbClr val="444455"/>
                          </a:solidFill>
                          <a:latin typeface="Calibri"/>
                        </a:rPr>
                        <a:t>Behörde, housing, health, banking, family</a:t>
                      </a:r>
                    </a:p>
                  </a:txBody>
                  <a:tcPr marL="73152" marR="54864" marT="27432" marB="27432" anchor="ctr">
                    <a:solidFill>
                      <a:srgbClr val="F7F6FC"/>
                    </a:solidFill>
                  </a:tcPr>
                </a:tc>
                <a:tc>
                  <a:txBody>
                    <a:bodyPr/>
                    <a:lstStyle/>
                    <a:p>
                      <a:pPr>
                        <a:spcAft>
                          <a:spcPts val="0"/>
                        </a:spcAft>
                      </a:pPr>
                      <a:r>
                        <a:rPr sz="1250" b="0" i="0">
                          <a:solidFill>
                            <a:srgbClr val="444455"/>
                          </a:solidFill>
                          <a:latin typeface="Calibri"/>
                        </a:rPr>
                        <a:t>Life area · Life situation</a:t>
                      </a:r>
                    </a:p>
                  </a:txBody>
                  <a:tcPr marL="73152" marR="54864" marT="27432" marB="27432" anchor="ctr">
                    <a:solidFill>
                      <a:srgbClr val="F7F6FC"/>
                    </a:solidFill>
                  </a:tcPr>
                </a:tc>
              </a:tr>
              <a:tr h="566928">
                <a:tc>
                  <a:txBody>
                    <a:bodyPr/>
                    <a:lstStyle/>
                    <a:p>
                      <a:pPr>
                        <a:spcAft>
                          <a:spcPts val="0"/>
                        </a:spcAft>
                      </a:pPr>
                      <a:r>
                        <a:rPr sz="1250" b="1" i="0">
                          <a:solidFill>
                            <a:srgbClr val="1E1B2E"/>
                          </a:solidFill>
                          <a:latin typeface="Calibri"/>
                        </a:rPr>
                        <a:t>Beides (Both)</a:t>
                      </a:r>
                    </a:p>
                  </a:txBody>
                  <a:tcPr marL="73152" marR="54864" marT="27432" marB="27432" anchor="ctr">
                    <a:solidFill>
                      <a:srgbClr val="FFFFFF"/>
                    </a:solidFill>
                  </a:tcPr>
                </a:tc>
                <a:tc>
                  <a:txBody>
                    <a:bodyPr/>
                    <a:lstStyle/>
                    <a:p>
                      <a:pPr>
                        <a:spcAft>
                          <a:spcPts val="0"/>
                        </a:spcAft>
                      </a:pPr>
                      <a:r>
                        <a:rPr sz="1250" b="0" i="0">
                          <a:solidFill>
                            <a:srgbClr val="444455"/>
                          </a:solidFill>
                          <a:latin typeface="Calibri"/>
                        </a:rPr>
                        <a:t>Everything, blended</a:t>
                      </a:r>
                    </a:p>
                  </a:txBody>
                  <a:tcPr marL="73152" marR="54864" marT="27432" marB="27432" anchor="ctr">
                    <a:solidFill>
                      <a:srgbClr val="FFFFFF"/>
                    </a:solidFill>
                  </a:tcPr>
                </a:tc>
                <a:tc>
                  <a:txBody>
                    <a:bodyPr/>
                    <a:lstStyle/>
                    <a:p>
                      <a:pPr>
                        <a:spcAft>
                          <a:spcPts val="0"/>
                        </a:spcAft>
                      </a:pPr>
                      <a:r>
                        <a:rPr sz="1250" b="0" i="0">
                          <a:solidFill>
                            <a:srgbClr val="444455"/>
                          </a:solidFill>
                          <a:latin typeface="Calibri"/>
                        </a:rPr>
                        <a:t>Mode labels become optional / advanced</a:t>
                      </a:r>
                    </a:p>
                  </a:txBody>
                  <a:tcPr marL="73152" marR="54864" marT="27432" marB="27432" anchor="ctr">
                    <a:solidFill>
                      <a:srgbClr val="FFFFFF"/>
                    </a:solidFill>
                  </a:tcPr>
                </a:tc>
              </a:tr>
            </a:tbl>
          </a:graphicData>
        </a:graphic>
      </p:graphicFrame>
      <p:sp>
        <p:nvSpPr>
          <p:cNvPr id="10" name="Rounded Rectangle 9"/>
          <p:cNvSpPr/>
          <p:nvPr/>
        </p:nvSpPr>
        <p:spPr>
          <a:xfrm>
            <a:off x="548640" y="5440680"/>
            <a:ext cx="11064240" cy="1051560"/>
          </a:xfrm>
          <a:prstGeom prst="roundRect">
            <a:avLst/>
          </a:prstGeom>
          <a:solidFill>
            <a:srgbClr val="F4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64592" tIns="118872"/>
          <a:lstStyle/>
          <a:p>
            <a:pPr algn="l">
              <a:spcBef>
                <a:spcPts val="0"/>
              </a:spcBef>
              <a:spcAft>
                <a:spcPts val="400"/>
              </a:spcAft>
            </a:pPr>
            <a:r>
              <a:rPr sz="1400" b="1" i="0">
                <a:solidFill>
                  <a:srgbClr val="5B5BE6"/>
                </a:solidFill>
                <a:latin typeface="Calibri"/>
              </a:rPr>
              <a:t>Why this is powerful</a:t>
            </a:r>
          </a:p>
          <a:p>
            <a:pPr algn="l">
              <a:spcBef>
                <a:spcPts val="0"/>
              </a:spcBef>
              <a:spcAft>
                <a:spcPts val="500"/>
              </a:spcAft>
            </a:pPr>
            <a:r>
              <a:rPr sz="1350" b="0" i="0">
                <a:solidFill>
                  <a:srgbClr val="444455"/>
                </a:solidFill>
                <a:latin typeface="Calibri"/>
              </a:rPr>
              <a:t>It captures the one thing the app most needs to know and currently ignores: the learner's motivation. A nurse and a new resident sorting out their Anmeldung want very different German. Mode lets the same app serve both without either wading through the other's content.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0B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424160" cy="365760"/>
          </a:xfrm>
          <a:prstGeom prst="rect">
            <a:avLst/>
          </a:prstGeom>
          <a:noFill/>
        </p:spPr>
        <p:txBody>
          <a:bodyPr wrap="square" anchor="t" lIns="45720" rIns="45720" tIns="18288" bIns="18288">
            <a:spAutoFit/>
          </a:bodyPr>
          <a:lstStyle/>
          <a:p>
            <a:pPr algn="l">
              <a:spcBef>
                <a:spcPts val="0"/>
              </a:spcBef>
              <a:spcAft>
                <a:spcPts val="200"/>
              </a:spcAft>
            </a:pPr>
            <a:r>
              <a:rPr sz="1200" b="1" i="0">
                <a:solidFill>
                  <a:srgbClr val="10B7CF"/>
                </a:solidFill>
                <a:latin typeface="Calibri"/>
              </a:rPr>
              <a:t>SLIDE 9  ·  THE MODE LAYER (2 OF 4)</a:t>
            </a:r>
          </a:p>
        </p:txBody>
      </p:sp>
      <p:sp>
        <p:nvSpPr>
          <p:cNvPr id="5" name="TextBox 4"/>
          <p:cNvSpPr txBox="1"/>
          <p:nvPr/>
        </p:nvSpPr>
        <p:spPr>
          <a:xfrm>
            <a:off x="502920" y="585216"/>
            <a:ext cx="10881360" cy="868680"/>
          </a:xfrm>
          <a:prstGeom prst="rect">
            <a:avLst/>
          </a:prstGeom>
          <a:noFill/>
        </p:spPr>
        <p:txBody>
          <a:bodyPr wrap="square" anchor="t" lIns="45720" rIns="45720" tIns="18288" bIns="18288">
            <a:spAutoFit/>
          </a:bodyPr>
          <a:lstStyle/>
          <a:p>
            <a:pPr algn="l">
              <a:spcBef>
                <a:spcPts val="0"/>
              </a:spcBef>
              <a:spcAft>
                <a:spcPts val="0"/>
              </a:spcAft>
            </a:pPr>
            <a:r>
              <a:rPr sz="2600" b="1" i="0">
                <a:solidFill>
                  <a:srgbClr val="1E1B2E"/>
                </a:solidFill>
                <a:latin typeface="Calibri"/>
              </a:rPr>
              <a:t>The research says this is how German works</a:t>
            </a:r>
          </a:p>
        </p:txBody>
      </p:sp>
      <p:sp>
        <p:nvSpPr>
          <p:cNvPr id="6" name="Rounded Rectangle 5"/>
          <p:cNvSpPr/>
          <p:nvPr/>
        </p:nvSpPr>
        <p:spPr>
          <a:xfrm>
            <a:off x="11338560" y="310896"/>
            <a:ext cx="566928" cy="384048"/>
          </a:xfrm>
          <a:prstGeom prst="roundRect">
            <a:avLst/>
          </a:prstGeom>
          <a:solidFill>
            <a:srgbClr val="F4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i="0">
                <a:solidFill>
                  <a:srgbClr val="5B5BE6"/>
                </a:solidFill>
                <a:latin typeface="Calibri"/>
              </a:rPr>
              <a:t>9</a:t>
            </a:r>
          </a:p>
        </p:txBody>
      </p:sp>
      <p:sp>
        <p:nvSpPr>
          <p:cNvPr id="7" name="Rectangle 6"/>
          <p:cNvSpPr/>
          <p:nvPr/>
        </p:nvSpPr>
        <p:spPr>
          <a:xfrm>
            <a:off x="502920" y="1335024"/>
            <a:ext cx="1920240" cy="36576"/>
          </a:xfrm>
          <a:prstGeom prst="rect">
            <a:avLst/>
          </a:prstGeom>
          <a:solidFill>
            <a:srgbClr val="10B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572768"/>
            <a:ext cx="11064240" cy="822960"/>
          </a:xfrm>
          <a:prstGeom prst="rect">
            <a:avLst/>
          </a:prstGeom>
          <a:noFill/>
        </p:spPr>
        <p:txBody>
          <a:bodyPr wrap="square" anchor="t" lIns="45720" rIns="45720" tIns="18288" bIns="18288">
            <a:spAutoFit/>
          </a:bodyPr>
          <a:lstStyle/>
          <a:p>
            <a:pPr algn="l">
              <a:spcBef>
                <a:spcPts val="0"/>
              </a:spcBef>
              <a:spcAft>
                <a:spcPts val="600"/>
              </a:spcAft>
            </a:pPr>
            <a:r>
              <a:rPr sz="1500" b="1" i="0">
                <a:solidFill>
                  <a:srgbClr val="1E1B2E"/>
                </a:solidFill>
                <a:latin typeface="Calibri"/>
              </a:rPr>
              <a:t>The Mode idea isn't a hunch. It mirrors how Germany's official professional-language system is built.</a:t>
            </a:r>
          </a:p>
        </p:txBody>
      </p:sp>
      <p:graphicFrame>
        <p:nvGraphicFramePr>
          <p:cNvPr id="9" name="Table 8"/>
          <p:cNvGraphicFramePr>
            <a:graphicFrameLocks noGrp="1"/>
          </p:cNvGraphicFramePr>
          <p:nvPr/>
        </p:nvGraphicFramePr>
        <p:xfrm>
          <a:off x="548640" y="2441448"/>
          <a:ext cx="11064240" cy="3108960"/>
        </p:xfrm>
        <a:graphic>
          <a:graphicData uri="http://schemas.openxmlformats.org/drawingml/2006/table">
            <a:tbl>
              <a:tblPr>
                <a:tableStyleId>{5C22544A-7EE6-4342-B048-85BDC9FD1C3A}</a:tableStyleId>
              </a:tblPr>
              <a:tblGrid>
                <a:gridCol w="3383280"/>
                <a:gridCol w="5120640"/>
                <a:gridCol w="2560320"/>
              </a:tblGrid>
              <a:tr h="621792">
                <a:tc>
                  <a:txBody>
                    <a:bodyPr/>
                    <a:lstStyle/>
                    <a:p>
                      <a:pPr>
                        <a:spcAft>
                          <a:spcPts val="0"/>
                        </a:spcAft>
                      </a:pPr>
                      <a:r>
                        <a:rPr sz="1100" b="1" i="0">
                          <a:solidFill>
                            <a:srgbClr val="FFFFFF"/>
                          </a:solidFill>
                          <a:latin typeface="Calibri"/>
                        </a:rPr>
                        <a:t>Real-world source</a:t>
                      </a:r>
                    </a:p>
                  </a:txBody>
                  <a:tcPr marL="73152" marR="54864" marT="27432" marB="27432" anchor="ctr">
                    <a:solidFill>
                      <a:srgbClr val="10B7CF"/>
                    </a:solidFill>
                  </a:tcPr>
                </a:tc>
                <a:tc>
                  <a:txBody>
                    <a:bodyPr/>
                    <a:lstStyle/>
                    <a:p>
                      <a:pPr>
                        <a:spcAft>
                          <a:spcPts val="0"/>
                        </a:spcAft>
                      </a:pPr>
                      <a:r>
                        <a:rPr sz="1100" b="1" i="0">
                          <a:solidFill>
                            <a:srgbClr val="FFFFFF"/>
                          </a:solidFill>
                          <a:latin typeface="Calibri"/>
                        </a:rPr>
                        <a:t>What it shows</a:t>
                      </a:r>
                    </a:p>
                  </a:txBody>
                  <a:tcPr marL="73152" marR="54864" marT="27432" marB="27432" anchor="ctr">
                    <a:solidFill>
                      <a:srgbClr val="10B7CF"/>
                    </a:solidFill>
                  </a:tcPr>
                </a:tc>
                <a:tc>
                  <a:txBody>
                    <a:bodyPr/>
                    <a:lstStyle/>
                    <a:p>
                      <a:pPr>
                        <a:spcAft>
                          <a:spcPts val="0"/>
                        </a:spcAft>
                      </a:pPr>
                      <a:r>
                        <a:rPr sz="1100" b="1" i="0">
                          <a:solidFill>
                            <a:srgbClr val="FFFFFF"/>
                          </a:solidFill>
                          <a:latin typeface="Calibri"/>
                        </a:rPr>
                        <a:t>Maps to our…</a:t>
                      </a:r>
                    </a:p>
                  </a:txBody>
                  <a:tcPr marL="73152" marR="54864" marT="27432" marB="27432" anchor="ctr">
                    <a:solidFill>
                      <a:srgbClr val="10B7CF"/>
                    </a:solidFill>
                  </a:tcPr>
                </a:tc>
              </a:tr>
              <a:tr h="621792">
                <a:tc>
                  <a:txBody>
                    <a:bodyPr/>
                    <a:lstStyle/>
                    <a:p>
                      <a:pPr>
                        <a:spcAft>
                          <a:spcPts val="0"/>
                        </a:spcAft>
                      </a:pPr>
                      <a:r>
                        <a:rPr sz="1150" b="1" i="0">
                          <a:solidFill>
                            <a:srgbClr val="1E1B2E"/>
                          </a:solidFill>
                          <a:latin typeface="Calibri"/>
                        </a:rPr>
                        <a:t>telc / BAMF framework for work German</a:t>
                      </a:r>
                    </a:p>
                  </a:txBody>
                  <a:tcPr marL="73152" marR="54864" marT="27432" marB="27432" anchor="ctr">
                    <a:solidFill>
                      <a:srgbClr val="FFFFFF"/>
                    </a:solidFill>
                  </a:tcPr>
                </a:tc>
                <a:tc>
                  <a:txBody>
                    <a:bodyPr/>
                    <a:lstStyle/>
                    <a:p>
                      <a:pPr>
                        <a:spcAft>
                          <a:spcPts val="0"/>
                        </a:spcAft>
                      </a:pPr>
                      <a:r>
                        <a:rPr sz="1150" b="0" i="0">
                          <a:solidFill>
                            <a:srgbClr val="444455"/>
                          </a:solidFill>
                          <a:latin typeface="Calibri"/>
                        </a:rPr>
                        <a:t>12 “fields of action” PLUS separate “who you talk to” areas (boss, colleague, customer, HR)</a:t>
                      </a:r>
                    </a:p>
                  </a:txBody>
                  <a:tcPr marL="73152" marR="54864" marT="27432" marB="27432" anchor="ctr">
                    <a:solidFill>
                      <a:srgbClr val="FFFFFF"/>
                    </a:solidFill>
                  </a:tcPr>
                </a:tc>
                <a:tc>
                  <a:txBody>
                    <a:bodyPr/>
                    <a:lstStyle/>
                    <a:p>
                      <a:pPr>
                        <a:spcAft>
                          <a:spcPts val="0"/>
                        </a:spcAft>
                      </a:pPr>
                      <a:r>
                        <a:rPr sz="1150" b="0" i="0">
                          <a:solidFill>
                            <a:srgbClr val="444455"/>
                          </a:solidFill>
                          <a:latin typeface="Calibri"/>
                        </a:rPr>
                        <a:t>Workplace Situation + Counterpart facets</a:t>
                      </a:r>
                    </a:p>
                  </a:txBody>
                  <a:tcPr marL="73152" marR="54864" marT="27432" marB="27432" anchor="ctr">
                    <a:solidFill>
                      <a:srgbClr val="FFFFFF"/>
                    </a:solidFill>
                  </a:tcPr>
                </a:tc>
              </a:tr>
              <a:tr h="621792">
                <a:tc>
                  <a:txBody>
                    <a:bodyPr/>
                    <a:lstStyle/>
                    <a:p>
                      <a:pPr>
                        <a:spcAft>
                          <a:spcPts val="0"/>
                        </a:spcAft>
                      </a:pPr>
                      <a:r>
                        <a:rPr sz="1150" b="1" i="0">
                          <a:solidFill>
                            <a:srgbClr val="1E1B2E"/>
                          </a:solidFill>
                          <a:latin typeface="Calibri"/>
                        </a:rPr>
                        <a:t>German state courses (DeuFöV)</a:t>
                      </a:r>
                    </a:p>
                  </a:txBody>
                  <a:tcPr marL="73152" marR="54864" marT="27432" marB="27432" anchor="ctr">
                    <a:solidFill>
                      <a:srgbClr val="F7F6FC"/>
                    </a:solidFill>
                  </a:tcPr>
                </a:tc>
                <a:tc>
                  <a:txBody>
                    <a:bodyPr/>
                    <a:lstStyle/>
                    <a:p>
                      <a:pPr>
                        <a:spcAft>
                          <a:spcPts val="0"/>
                        </a:spcAft>
                      </a:pPr>
                      <a:r>
                        <a:rPr sz="1150" b="0" i="0">
                          <a:solidFill>
                            <a:srgbClr val="444455"/>
                          </a:solidFill>
                          <a:latin typeface="Calibri"/>
                        </a:rPr>
                        <a:t>Funded job-German split by SECTOR: health/care, technical, commercial</a:t>
                      </a:r>
                    </a:p>
                  </a:txBody>
                  <a:tcPr marL="73152" marR="54864" marT="27432" marB="27432" anchor="ctr">
                    <a:solidFill>
                      <a:srgbClr val="F7F6FC"/>
                    </a:solidFill>
                  </a:tcPr>
                </a:tc>
                <a:tc>
                  <a:txBody>
                    <a:bodyPr/>
                    <a:lstStyle/>
                    <a:p>
                      <a:pPr>
                        <a:spcAft>
                          <a:spcPts val="0"/>
                        </a:spcAft>
                      </a:pPr>
                      <a:r>
                        <a:rPr sz="1150" b="0" i="0">
                          <a:solidFill>
                            <a:srgbClr val="444455"/>
                          </a:solidFill>
                          <a:latin typeface="Calibri"/>
                        </a:rPr>
                        <a:t>Work “Sector” facet</a:t>
                      </a:r>
                    </a:p>
                  </a:txBody>
                  <a:tcPr marL="73152" marR="54864" marT="27432" marB="27432" anchor="ctr">
                    <a:solidFill>
                      <a:srgbClr val="F7F6FC"/>
                    </a:solidFill>
                  </a:tcPr>
                </a:tc>
              </a:tr>
              <a:tr h="621792">
                <a:tc>
                  <a:txBody>
                    <a:bodyPr/>
                    <a:lstStyle/>
                    <a:p>
                      <a:pPr>
                        <a:spcAft>
                          <a:spcPts val="0"/>
                        </a:spcAft>
                      </a:pPr>
                      <a:r>
                        <a:rPr sz="1150" b="1" i="0">
                          <a:solidFill>
                            <a:srgbClr val="1E1B2E"/>
                          </a:solidFill>
                          <a:latin typeface="Calibri"/>
                        </a:rPr>
                        <a:t>telc has a dedicated “Deutsch Pflege” exam</a:t>
                      </a:r>
                    </a:p>
                  </a:txBody>
                  <a:tcPr marL="73152" marR="54864" marT="27432" marB="27432" anchor="ctr">
                    <a:solidFill>
                      <a:srgbClr val="FFFFFF"/>
                    </a:solidFill>
                  </a:tcPr>
                </a:tc>
                <a:tc>
                  <a:txBody>
                    <a:bodyPr/>
                    <a:lstStyle/>
                    <a:p>
                      <a:pPr>
                        <a:spcAft>
                          <a:spcPts val="0"/>
                        </a:spcAft>
                      </a:pPr>
                      <a:r>
                        <a:rPr sz="1150" b="0" i="0">
                          <a:solidFill>
                            <a:srgbClr val="444455"/>
                          </a:solidFill>
                          <a:latin typeface="Calibri"/>
                        </a:rPr>
                        <a:t>Care work is its own certified language track</a:t>
                      </a:r>
                    </a:p>
                  </a:txBody>
                  <a:tcPr marL="73152" marR="54864" marT="27432" marB="27432" anchor="ctr">
                    <a:solidFill>
                      <a:srgbClr val="FFFFFF"/>
                    </a:solidFill>
                  </a:tcPr>
                </a:tc>
                <a:tc>
                  <a:txBody>
                    <a:bodyPr/>
                    <a:lstStyle/>
                    <a:p>
                      <a:pPr>
                        <a:spcAft>
                          <a:spcPts val="0"/>
                        </a:spcAft>
                      </a:pPr>
                      <a:r>
                        <a:rPr sz="1150" b="0" i="0">
                          <a:solidFill>
                            <a:srgbClr val="444455"/>
                          </a:solidFill>
                          <a:latin typeface="Calibri"/>
                        </a:rPr>
                        <a:t>Sector matters enough to certify per-sector</a:t>
                      </a:r>
                    </a:p>
                  </a:txBody>
                  <a:tcPr marL="73152" marR="54864" marT="27432" marB="27432" anchor="ctr">
                    <a:solidFill>
                      <a:srgbClr val="FFFFFF"/>
                    </a:solidFill>
                  </a:tcPr>
                </a:tc>
              </a:tr>
              <a:tr h="621792">
                <a:tc>
                  <a:txBody>
                    <a:bodyPr/>
                    <a:lstStyle/>
                    <a:p>
                      <a:pPr>
                        <a:spcAft>
                          <a:spcPts val="0"/>
                        </a:spcAft>
                      </a:pPr>
                      <a:r>
                        <a:rPr sz="1150" b="1" i="0">
                          <a:solidFill>
                            <a:srgbClr val="1E1B2E"/>
                          </a:solidFill>
                          <a:latin typeface="Calibri"/>
                        </a:rPr>
                        <a:t>Babbel / Duolingo onboarding</a:t>
                      </a:r>
                    </a:p>
                  </a:txBody>
                  <a:tcPr marL="73152" marR="54864" marT="27432" marB="27432" anchor="ctr">
                    <a:solidFill>
                      <a:srgbClr val="F7F6FC"/>
                    </a:solidFill>
                  </a:tcPr>
                </a:tc>
                <a:tc>
                  <a:txBody>
                    <a:bodyPr/>
                    <a:lstStyle/>
                    <a:p>
                      <a:pPr>
                        <a:spcAft>
                          <a:spcPts val="0"/>
                        </a:spcAft>
                      </a:pPr>
                      <a:r>
                        <a:rPr sz="1150" b="0" i="0">
                          <a:solidFill>
                            <a:srgbClr val="444455"/>
                          </a:solidFill>
                          <a:latin typeface="Calibri"/>
                        </a:rPr>
                        <a:t>Ask goal upfront (career / travel / personal)</a:t>
                      </a:r>
                    </a:p>
                  </a:txBody>
                  <a:tcPr marL="73152" marR="54864" marT="27432" marB="27432" anchor="ctr">
                    <a:solidFill>
                      <a:srgbClr val="F7F6FC"/>
                    </a:solidFill>
                  </a:tcPr>
                </a:tc>
                <a:tc>
                  <a:txBody>
                    <a:bodyPr/>
                    <a:lstStyle/>
                    <a:p>
                      <a:pPr>
                        <a:spcAft>
                          <a:spcPts val="0"/>
                        </a:spcAft>
                      </a:pPr>
                      <a:r>
                        <a:rPr sz="1150" b="0" i="0">
                          <a:solidFill>
                            <a:srgbClr val="444455"/>
                          </a:solidFill>
                          <a:latin typeface="Calibri"/>
                        </a:rPr>
                        <a:t>The Mode question itself</a:t>
                      </a:r>
                    </a:p>
                  </a:txBody>
                  <a:tcPr marL="73152" marR="54864" marT="27432" marB="27432" anchor="ctr">
                    <a:solidFill>
                      <a:srgbClr val="F7F6FC"/>
                    </a:solidFill>
                  </a:tcPr>
                </a:tc>
              </a:tr>
            </a:tbl>
          </a:graphicData>
        </a:graphic>
      </p:graphicFrame>
      <p:sp>
        <p:nvSpPr>
          <p:cNvPr id="10" name="Rounded Rectangle 9"/>
          <p:cNvSpPr/>
          <p:nvPr/>
        </p:nvSpPr>
        <p:spPr>
          <a:xfrm>
            <a:off x="548640" y="5715000"/>
            <a:ext cx="11064240" cy="777240"/>
          </a:xfrm>
          <a:prstGeom prst="roundRect">
            <a:avLst/>
          </a:prstGeom>
          <a:solidFill>
            <a:srgbClr val="EAF7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64592" tIns="118872"/>
          <a:lstStyle/>
          <a:p>
            <a:pPr algn="l">
              <a:spcBef>
                <a:spcPts val="0"/>
              </a:spcBef>
              <a:spcAft>
                <a:spcPts val="400"/>
              </a:spcAft>
            </a:pPr>
            <a:r>
              <a:rPr sz="1400" b="1" i="0">
                <a:solidFill>
                  <a:srgbClr val="2A9D6E"/>
                </a:solidFill>
                <a:latin typeface="Calibri"/>
              </a:rPr>
              <a:t>Bottom line</a:t>
            </a:r>
          </a:p>
          <a:p>
            <a:pPr algn="l">
              <a:spcBef>
                <a:spcPts val="0"/>
              </a:spcBef>
              <a:spcAft>
                <a:spcPts val="500"/>
              </a:spcAft>
            </a:pPr>
            <a:r>
              <a:rPr sz="1350" b="0" i="0">
                <a:solidFill>
                  <a:srgbClr val="444455"/>
                </a:solidFill>
                <a:latin typeface="Calibri"/>
              </a:rPr>
              <a:t>Sector, situation and counterpart aren't invented categories. They are the exact axes the German integration and exam system already uses. Mirroring them makes our content instantly recognizable to learners studying for those exams.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0B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424160" cy="365760"/>
          </a:xfrm>
          <a:prstGeom prst="rect">
            <a:avLst/>
          </a:prstGeom>
          <a:noFill/>
        </p:spPr>
        <p:txBody>
          <a:bodyPr wrap="square" anchor="t" lIns="45720" rIns="45720" tIns="18288" bIns="18288">
            <a:spAutoFit/>
          </a:bodyPr>
          <a:lstStyle/>
          <a:p>
            <a:pPr algn="l">
              <a:spcBef>
                <a:spcPts val="0"/>
              </a:spcBef>
              <a:spcAft>
                <a:spcPts val="200"/>
              </a:spcAft>
            </a:pPr>
            <a:r>
              <a:rPr sz="1200" b="1" i="0">
                <a:solidFill>
                  <a:srgbClr val="10B7CF"/>
                </a:solidFill>
                <a:latin typeface="Calibri"/>
              </a:rPr>
              <a:t>SLIDE 10  ·  THE MODE LAYER (3 OF 4)</a:t>
            </a:r>
          </a:p>
        </p:txBody>
      </p:sp>
      <p:sp>
        <p:nvSpPr>
          <p:cNvPr id="5" name="TextBox 4"/>
          <p:cNvSpPr txBox="1"/>
          <p:nvPr/>
        </p:nvSpPr>
        <p:spPr>
          <a:xfrm>
            <a:off x="502920" y="585216"/>
            <a:ext cx="10881360" cy="868680"/>
          </a:xfrm>
          <a:prstGeom prst="rect">
            <a:avLst/>
          </a:prstGeom>
          <a:noFill/>
        </p:spPr>
        <p:txBody>
          <a:bodyPr wrap="square" anchor="t" lIns="45720" rIns="45720" tIns="18288" bIns="18288">
            <a:spAutoFit/>
          </a:bodyPr>
          <a:lstStyle/>
          <a:p>
            <a:pPr algn="l">
              <a:spcBef>
                <a:spcPts val="0"/>
              </a:spcBef>
              <a:spcAft>
                <a:spcPts val="0"/>
              </a:spcAft>
            </a:pPr>
            <a:r>
              <a:rPr sz="2600" b="1" i="0">
                <a:solidFill>
                  <a:srgbClr val="1E1B2E"/>
                </a:solidFill>
                <a:latin typeface="Calibri"/>
              </a:rPr>
              <a:t>What “Work mode” unlocks</a:t>
            </a:r>
          </a:p>
        </p:txBody>
      </p:sp>
      <p:sp>
        <p:nvSpPr>
          <p:cNvPr id="6" name="Rounded Rectangle 5"/>
          <p:cNvSpPr/>
          <p:nvPr/>
        </p:nvSpPr>
        <p:spPr>
          <a:xfrm>
            <a:off x="11338560" y="310896"/>
            <a:ext cx="566928" cy="384048"/>
          </a:xfrm>
          <a:prstGeom prst="roundRect">
            <a:avLst/>
          </a:prstGeom>
          <a:solidFill>
            <a:srgbClr val="F4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i="0">
                <a:solidFill>
                  <a:srgbClr val="5B5BE6"/>
                </a:solidFill>
                <a:latin typeface="Calibri"/>
              </a:rPr>
              <a:t>10</a:t>
            </a:r>
          </a:p>
        </p:txBody>
      </p:sp>
      <p:sp>
        <p:nvSpPr>
          <p:cNvPr id="7" name="Rectangle 6"/>
          <p:cNvSpPr/>
          <p:nvPr/>
        </p:nvSpPr>
        <p:spPr>
          <a:xfrm>
            <a:off x="502920" y="1335024"/>
            <a:ext cx="1920240" cy="36576"/>
          </a:xfrm>
          <a:prstGeom prst="rect">
            <a:avLst/>
          </a:prstGeom>
          <a:solidFill>
            <a:srgbClr val="10B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72768"/>
            <a:ext cx="11064240" cy="2697480"/>
          </a:xfrm>
          <a:prstGeom prst="rect">
            <a:avLst/>
          </a:prstGeom>
          <a:solidFill>
            <a:srgbClr val="1B1A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109728" bIns="109728"/>
          <a:lstStyle/>
          <a:p>
            <a:pPr algn="ctr">
              <a:spcAft>
                <a:spcPts val="100"/>
              </a:spcAft>
            </a:pPr>
            <a:r>
              <a:rPr sz="1250" b="0" i="0">
                <a:solidFill>
                  <a:srgbClr val="10B7CF"/>
                </a:solidFill>
                <a:latin typeface="Consolas"/>
              </a:rPr>
              <a:t>WORK MODE  (picked at sign-up, switchable anytime)</a:t>
            </a:r>
          </a:p>
          <a:p>
            <a:pPr>
              <a:spcAft>
                <a:spcPts val="100"/>
              </a:spcAft>
            </a:pPr>
            <a:r>
              <a:rPr sz="1250" b="0" i="0">
                <a:solidFill>
                  <a:srgbClr val="E8E6F5"/>
                </a:solidFill>
                <a:latin typeface="Consolas"/>
              </a:rPr>
              <a:t>   adds these extra labels, on top of the shared ones (level, formality…):</a:t>
            </a:r>
          </a:p>
          <a:p>
            <a:pPr>
              <a:spcAft>
                <a:spcPts val="100"/>
              </a:spcAft>
            </a:pPr>
            <a:r>
              <a:rPr sz="1250" b="0" i="0">
                <a:solidFill>
                  <a:srgbClr val="E8E6F5"/>
                </a:solidFill>
                <a:latin typeface="Consolas"/>
              </a:rPr>
              <a:t/>
            </a:r>
          </a:p>
          <a:p>
            <a:pPr>
              <a:spcAft>
                <a:spcPts val="100"/>
              </a:spcAft>
            </a:pPr>
            <a:r>
              <a:rPr sz="1250" b="0" i="0">
                <a:solidFill>
                  <a:srgbClr val="E8E6F5"/>
                </a:solidFill>
                <a:latin typeface="Consolas"/>
              </a:rPr>
              <a:t>   Sector / Branche        Care · Trades · Office · IT · Retail · Hospitality</a:t>
            </a:r>
          </a:p>
          <a:p>
            <a:pPr>
              <a:spcAft>
                <a:spcPts val="100"/>
              </a:spcAft>
            </a:pPr>
            <a:r>
              <a:rPr sz="1250" b="0" i="0">
                <a:solidFill>
                  <a:srgbClr val="E8E6F5"/>
                </a:solidFill>
                <a:latin typeface="Consolas"/>
              </a:rPr>
              <a:t>   Workplace situation     Meeting · Shift handover · Customer call · Conflict</a:t>
            </a:r>
          </a:p>
          <a:p>
            <a:pPr>
              <a:spcAft>
                <a:spcPts val="100"/>
              </a:spcAft>
            </a:pPr>
            <a:r>
              <a:rPr sz="1250" b="0" i="0">
                <a:solidFill>
                  <a:srgbClr val="E8E6F5"/>
                </a:solidFill>
                <a:latin typeface="Consolas"/>
              </a:rPr>
              <a:t>   Who you talk to         Manager · Colleague · Customer · Your team</a:t>
            </a:r>
          </a:p>
          <a:p>
            <a:pPr>
              <a:spcAft>
                <a:spcPts val="100"/>
              </a:spcAft>
            </a:pPr>
            <a:r>
              <a:rPr sz="1250" b="0" i="0">
                <a:solidFill>
                  <a:srgbClr val="E8E6F5"/>
                </a:solidFill>
                <a:latin typeface="Consolas"/>
              </a:rPr>
              <a:t>   Task type               E-mail · Phone call · Report · Giving instructions</a:t>
            </a:r>
          </a:p>
          <a:p>
            <a:pPr>
              <a:spcAft>
                <a:spcPts val="100"/>
              </a:spcAft>
            </a:pPr>
            <a:r>
              <a:rPr sz="1250" b="0" i="0">
                <a:solidFill>
                  <a:srgbClr val="E8E6F5"/>
                </a:solidFill>
                <a:latin typeface="Consolas"/>
              </a:rPr>
              <a:t>   (Department – advanced) HR · Sales · Production · Service</a:t>
            </a:r>
          </a:p>
        </p:txBody>
      </p:sp>
      <p:sp>
        <p:nvSpPr>
          <p:cNvPr id="9" name="TextBox 8"/>
          <p:cNvSpPr txBox="1"/>
          <p:nvPr/>
        </p:nvSpPr>
        <p:spPr>
          <a:xfrm>
            <a:off x="548640" y="4526280"/>
            <a:ext cx="11064240" cy="2011680"/>
          </a:xfrm>
          <a:prstGeom prst="rect">
            <a:avLst/>
          </a:prstGeom>
          <a:noFill/>
        </p:spPr>
        <p:txBody>
          <a:bodyPr wrap="square" anchor="t" lIns="45720" rIns="45720" tIns="18288" bIns="18288">
            <a:spAutoFit/>
          </a:bodyPr>
          <a:lstStyle/>
          <a:p>
            <a:pPr algn="l">
              <a:spcBef>
                <a:spcPts val="0"/>
              </a:spcBef>
              <a:spcAft>
                <a:spcPts val="600"/>
              </a:spcAft>
            </a:pPr>
            <a:r>
              <a:rPr sz="1500" b="1" i="0">
                <a:solidFill>
                  <a:srgbClr val="1E1B2E"/>
                </a:solidFill>
                <a:latin typeface="Calibri"/>
              </a:rPr>
              <a:t>How the learner uses it (the mockup is on slide 19)</a:t>
            </a:r>
          </a:p>
          <a:p>
            <a:pPr>
              <a:spcBef>
                <a:spcPts val="0"/>
              </a:spcBef>
              <a:spcAft>
                <a:spcPts val="700"/>
              </a:spcAft>
            </a:pPr>
            <a:r>
              <a:rPr sz="1400" b="1" i="0">
                <a:solidFill>
                  <a:srgbClr val="5B5BE6"/>
                </a:solidFill>
                <a:latin typeface="Calibri"/>
              </a:rPr>
              <a:t>•  </a:t>
            </a:r>
            <a:r>
              <a:rPr sz="1400" b="1" i="0">
                <a:solidFill>
                  <a:srgbClr val="444455"/>
                </a:solidFill>
                <a:latin typeface="Calibri"/>
              </a:rPr>
              <a:t>A nurse picks Sector = Care. </a:t>
            </a:r>
            <a:r>
              <a:rPr sz="1400" b="0" i="0">
                <a:solidFill>
                  <a:srgbClr val="444455"/>
                </a:solidFill>
                <a:latin typeface="Calibri"/>
              </a:rPr>
              <a:t>Now “handover”, “duty roster”, “medication” surface, not factory or sales words.</a:t>
            </a:r>
          </a:p>
          <a:p>
            <a:pPr>
              <a:spcBef>
                <a:spcPts val="0"/>
              </a:spcBef>
              <a:spcAft>
                <a:spcPts val="700"/>
              </a:spcAft>
            </a:pPr>
            <a:r>
              <a:rPr sz="1400" b="1" i="0">
                <a:solidFill>
                  <a:srgbClr val="5B5BE6"/>
                </a:solidFill>
                <a:latin typeface="Calibri"/>
              </a:rPr>
              <a:t>•  </a:t>
            </a:r>
            <a:r>
              <a:rPr sz="1400" b="1" i="0">
                <a:solidFill>
                  <a:srgbClr val="444455"/>
                </a:solidFill>
                <a:latin typeface="Calibri"/>
              </a:rPr>
              <a:t>Adds “Who you talk to = Manager.” </a:t>
            </a:r>
            <a:r>
              <a:rPr sz="1400" b="0" i="0">
                <a:solidFill>
                  <a:srgbClr val="444455"/>
                </a:solidFill>
                <a:latin typeface="Calibri"/>
              </a:rPr>
              <a:t>The app leans formal (Sie), the way that conversation really works.</a:t>
            </a:r>
          </a:p>
          <a:p>
            <a:pPr>
              <a:spcBef>
                <a:spcPts val="0"/>
              </a:spcBef>
              <a:spcAft>
                <a:spcPts val="700"/>
              </a:spcAft>
            </a:pPr>
            <a:r>
              <a:rPr sz="1400" b="1" i="0">
                <a:solidFill>
                  <a:srgbClr val="5B5BE6"/>
                </a:solidFill>
                <a:latin typeface="Calibri"/>
              </a:rPr>
              <a:t>•  </a:t>
            </a:r>
            <a:r>
              <a:rPr sz="1400" b="1" i="0">
                <a:solidFill>
                  <a:srgbClr val="444455"/>
                </a:solidFill>
                <a:latin typeface="Calibri"/>
              </a:rPr>
              <a:t>Most of these already half-exist. </a:t>
            </a:r>
            <a:r>
              <a:rPr sz="1400" b="0" i="0">
                <a:solidFill>
                  <a:srgbClr val="444455"/>
                </a:solidFill>
                <a:latin typeface="Calibri"/>
              </a:rPr>
              <a:t>Our 10 work topics ARE workplace situations; we're adding Sector and Counterpart as new cross-cutting labels.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0B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424160" cy="365760"/>
          </a:xfrm>
          <a:prstGeom prst="rect">
            <a:avLst/>
          </a:prstGeom>
          <a:noFill/>
        </p:spPr>
        <p:txBody>
          <a:bodyPr wrap="square" anchor="t" lIns="45720" rIns="45720" tIns="18288" bIns="18288">
            <a:spAutoFit/>
          </a:bodyPr>
          <a:lstStyle/>
          <a:p>
            <a:pPr algn="l">
              <a:spcBef>
                <a:spcPts val="0"/>
              </a:spcBef>
              <a:spcAft>
                <a:spcPts val="200"/>
              </a:spcAft>
            </a:pPr>
            <a:r>
              <a:rPr sz="1200" b="1" i="0">
                <a:solidFill>
                  <a:srgbClr val="10B7CF"/>
                </a:solidFill>
                <a:latin typeface="Calibri"/>
              </a:rPr>
              <a:t>SLIDE 11  ·  THE MODE LAYER (4 OF 4)</a:t>
            </a:r>
          </a:p>
        </p:txBody>
      </p:sp>
      <p:sp>
        <p:nvSpPr>
          <p:cNvPr id="5" name="TextBox 4"/>
          <p:cNvSpPr txBox="1"/>
          <p:nvPr/>
        </p:nvSpPr>
        <p:spPr>
          <a:xfrm>
            <a:off x="502920" y="585216"/>
            <a:ext cx="10881360" cy="868680"/>
          </a:xfrm>
          <a:prstGeom prst="rect">
            <a:avLst/>
          </a:prstGeom>
          <a:noFill/>
        </p:spPr>
        <p:txBody>
          <a:bodyPr wrap="square" anchor="t" lIns="45720" rIns="45720" tIns="18288" bIns="18288">
            <a:spAutoFit/>
          </a:bodyPr>
          <a:lstStyle/>
          <a:p>
            <a:pPr algn="l">
              <a:spcBef>
                <a:spcPts val="0"/>
              </a:spcBef>
              <a:spcAft>
                <a:spcPts val="0"/>
              </a:spcAft>
            </a:pPr>
            <a:r>
              <a:rPr sz="2600" b="1" i="0">
                <a:solidFill>
                  <a:srgbClr val="1E1B2E"/>
                </a:solidFill>
                <a:latin typeface="Calibri"/>
              </a:rPr>
              <a:t>The key decision: a lens, not a wall</a:t>
            </a:r>
          </a:p>
        </p:txBody>
      </p:sp>
      <p:sp>
        <p:nvSpPr>
          <p:cNvPr id="6" name="Rounded Rectangle 5"/>
          <p:cNvSpPr/>
          <p:nvPr/>
        </p:nvSpPr>
        <p:spPr>
          <a:xfrm>
            <a:off x="11338560" y="310896"/>
            <a:ext cx="566928" cy="384048"/>
          </a:xfrm>
          <a:prstGeom prst="roundRect">
            <a:avLst/>
          </a:prstGeom>
          <a:solidFill>
            <a:srgbClr val="F4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i="0">
                <a:solidFill>
                  <a:srgbClr val="5B5BE6"/>
                </a:solidFill>
                <a:latin typeface="Calibri"/>
              </a:rPr>
              <a:t>11</a:t>
            </a:r>
          </a:p>
        </p:txBody>
      </p:sp>
      <p:sp>
        <p:nvSpPr>
          <p:cNvPr id="7" name="Rectangle 6"/>
          <p:cNvSpPr/>
          <p:nvPr/>
        </p:nvSpPr>
        <p:spPr>
          <a:xfrm>
            <a:off x="502920" y="1335024"/>
            <a:ext cx="1920240" cy="36576"/>
          </a:xfrm>
          <a:prstGeom prst="rect">
            <a:avLst/>
          </a:prstGeom>
          <a:solidFill>
            <a:srgbClr val="10B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572768"/>
            <a:ext cx="11064240" cy="1371600"/>
          </a:xfrm>
          <a:prstGeom prst="rect">
            <a:avLst/>
          </a:prstGeom>
          <a:noFill/>
        </p:spPr>
        <p:txBody>
          <a:bodyPr wrap="square" anchor="t" lIns="45720" rIns="45720" tIns="18288" bIns="18288">
            <a:spAutoFit/>
          </a:bodyPr>
          <a:lstStyle/>
          <a:p>
            <a:pPr algn="l">
              <a:spcBef>
                <a:spcPts val="0"/>
              </a:spcBef>
              <a:spcAft>
                <a:spcPts val="600"/>
              </a:spcAft>
            </a:pPr>
            <a:r>
              <a:rPr sz="1500" b="1" i="0">
                <a:solidFill>
                  <a:srgbClr val="1E1B2E"/>
                </a:solidFill>
                <a:latin typeface="Calibri"/>
              </a:rPr>
              <a:t>Should Mode be a hard top folder (everything lives under exactly one mode) or a lens (a setting that emphasizes, but never hides)?  We strongly recommend a lens.</a:t>
            </a:r>
          </a:p>
          <a:p>
            <a:pPr algn="l">
              <a:spcBef>
                <a:spcPts val="0"/>
              </a:spcBef>
              <a:spcAft>
                <a:spcPts val="600"/>
              </a:spcAft>
            </a:pPr>
            <a:r>
              <a:rPr sz="1450" b="0" i="0">
                <a:solidFill>
                  <a:srgbClr val="444455"/>
                </a:solidFill>
                <a:latin typeface="Calibri"/>
              </a:rPr>
              <a:t>Reason: real life overlaps. A doctor's visit is personal; “workplace health” is work. “I see it differently, but…” is useful in both. A hard wall would force us to copy that content into two places. A lens lets one item count for whichever modes fit.</a:t>
            </a:r>
          </a:p>
        </p:txBody>
      </p:sp>
      <p:sp>
        <p:nvSpPr>
          <p:cNvPr id="9" name="Rounded Rectangle 8"/>
          <p:cNvSpPr/>
          <p:nvPr/>
        </p:nvSpPr>
        <p:spPr>
          <a:xfrm>
            <a:off x="548640" y="3337560"/>
            <a:ext cx="5394960" cy="2834640"/>
          </a:xfrm>
          <a:prstGeom prst="roundRect">
            <a:avLst/>
          </a:prstGeom>
          <a:solidFill>
            <a:srgbClr val="EAF7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64592" tIns="118872"/>
          <a:lstStyle/>
          <a:p>
            <a:pPr algn="l">
              <a:spcBef>
                <a:spcPts val="0"/>
              </a:spcBef>
              <a:spcAft>
                <a:spcPts val="400"/>
              </a:spcAft>
            </a:pPr>
            <a:r>
              <a:rPr sz="1400" b="1" i="0">
                <a:solidFill>
                  <a:srgbClr val="2A9D6E"/>
                </a:solidFill>
                <a:latin typeface="Calibri"/>
              </a:rPr>
              <a:t>What a lens does</a:t>
            </a:r>
          </a:p>
          <a:p>
            <a:pPr algn="l">
              <a:spcBef>
                <a:spcPts val="0"/>
              </a:spcBef>
              <a:spcAft>
                <a:spcPts val="300"/>
              </a:spcAft>
            </a:pPr>
            <a:r>
              <a:rPr sz="1350" b="0" i="0">
                <a:solidFill>
                  <a:srgbClr val="444455"/>
                </a:solidFill>
                <a:latin typeface="Calibri"/>
              </a:rPr>
              <a:t>•  Sets the default emphasis: topics, goal cards, and which filters show.</a:t>
            </a:r>
          </a:p>
          <a:p>
            <a:pPr algn="l">
              <a:spcBef>
                <a:spcPts val="0"/>
              </a:spcBef>
              <a:spcAft>
                <a:spcPts val="300"/>
              </a:spcAft>
            </a:pPr>
            <a:r>
              <a:rPr sz="1350" b="0" i="0">
                <a:solidFill>
                  <a:srgbClr val="444455"/>
                </a:solidFill>
                <a:latin typeface="Calibri"/>
              </a:rPr>
              <a:t>•  Tags each topic as work / personal / both, and filters on it.</a:t>
            </a:r>
          </a:p>
          <a:p>
            <a:pPr algn="l">
              <a:spcBef>
                <a:spcPts val="0"/>
              </a:spcBef>
              <a:spcAft>
                <a:spcPts val="300"/>
              </a:spcAft>
            </a:pPr>
            <a:r>
              <a:rPr sz="1350" b="0" i="0">
                <a:solidFill>
                  <a:srgbClr val="444455"/>
                </a:solidFill>
                <a:latin typeface="Calibri"/>
              </a:rPr>
              <a:t>•  Persists like your other settings and syncs across devices.</a:t>
            </a:r>
          </a:p>
          <a:p>
            <a:pPr algn="l">
              <a:spcBef>
                <a:spcPts val="0"/>
              </a:spcBef>
              <a:spcAft>
                <a:spcPts val="300"/>
              </a:spcAft>
            </a:pPr>
            <a:r>
              <a:rPr sz="1350" b="0" i="0">
                <a:solidFill>
                  <a:srgbClr val="444455"/>
                </a:solidFill>
                <a:latin typeface="Calibri"/>
              </a:rPr>
              <a:t>•  Switchable in one tap from the header.</a:t>
            </a:r>
          </a:p>
        </p:txBody>
      </p:sp>
      <p:sp>
        <p:nvSpPr>
          <p:cNvPr id="10" name="Rounded Rectangle 9"/>
          <p:cNvSpPr/>
          <p:nvPr/>
        </p:nvSpPr>
        <p:spPr>
          <a:xfrm>
            <a:off x="6217920" y="3337560"/>
            <a:ext cx="5394960" cy="2834640"/>
          </a:xfrm>
          <a:prstGeom prst="roundRect">
            <a:avLst/>
          </a:prstGeom>
          <a:solidFill>
            <a:srgbClr val="FCEF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64592" tIns="118872"/>
          <a:lstStyle/>
          <a:p>
            <a:pPr algn="l">
              <a:spcBef>
                <a:spcPts val="0"/>
              </a:spcBef>
              <a:spcAft>
                <a:spcPts val="400"/>
              </a:spcAft>
            </a:pPr>
            <a:r>
              <a:rPr sz="1400" b="1" i="0">
                <a:solidFill>
                  <a:srgbClr val="B03A3A"/>
                </a:solidFill>
                <a:latin typeface="Calibri"/>
              </a:rPr>
              <a:t>What a lens must NOT do</a:t>
            </a:r>
          </a:p>
          <a:p>
            <a:pPr algn="l">
              <a:spcBef>
                <a:spcPts val="0"/>
              </a:spcBef>
              <a:spcAft>
                <a:spcPts val="300"/>
              </a:spcAft>
            </a:pPr>
            <a:r>
              <a:rPr sz="1350" b="0" i="0">
                <a:solidFill>
                  <a:srgbClr val="444455"/>
                </a:solidFill>
                <a:latin typeface="Calibri"/>
              </a:rPr>
              <a:t>•  Never lock content away. In Work mode you can still reach a doctor's-visit phrase.</a:t>
            </a:r>
          </a:p>
          <a:p>
            <a:pPr algn="l">
              <a:spcBef>
                <a:spcPts val="0"/>
              </a:spcBef>
              <a:spcAft>
                <a:spcPts val="300"/>
              </a:spcAft>
            </a:pPr>
            <a:r>
              <a:rPr sz="1350" b="0" i="0">
                <a:solidFill>
                  <a:srgbClr val="444455"/>
                </a:solidFill>
                <a:latin typeface="Calibri"/>
              </a:rPr>
              <a:t>•  Search ignores Mode by default, so nothing is ever truly hidden.</a:t>
            </a:r>
          </a:p>
          <a:p>
            <a:pPr algn="l">
              <a:spcBef>
                <a:spcPts val="0"/>
              </a:spcBef>
              <a:spcAft>
                <a:spcPts val="300"/>
              </a:spcAft>
            </a:pPr>
            <a:r>
              <a:rPr sz="1350" b="0" i="0">
                <a:solidFill>
                  <a:srgbClr val="444455"/>
                </a:solidFill>
                <a:latin typeface="Calibri"/>
              </a:rPr>
              <a:t>•  “Both” shows the union; no content is mode-only.</a:t>
            </a:r>
          </a:p>
          <a:p>
            <a:pPr algn="l">
              <a:spcBef>
                <a:spcPts val="0"/>
              </a:spcBef>
              <a:spcAft>
                <a:spcPts val="300"/>
              </a:spcAft>
            </a:pPr>
            <a:r>
              <a:rPr sz="1350" b="0" i="0">
                <a:solidFill>
                  <a:srgbClr val="444455"/>
                </a:solidFill>
                <a:latin typeface="Calibri"/>
              </a:rPr>
              <a:t>•  It guides, it doesn't gatekeep.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5B5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424160" cy="365760"/>
          </a:xfrm>
          <a:prstGeom prst="rect">
            <a:avLst/>
          </a:prstGeom>
          <a:noFill/>
        </p:spPr>
        <p:txBody>
          <a:bodyPr wrap="square" anchor="t" lIns="45720" rIns="45720" tIns="18288" bIns="18288">
            <a:spAutoFit/>
          </a:bodyPr>
          <a:lstStyle/>
          <a:p>
            <a:pPr algn="l">
              <a:spcBef>
                <a:spcPts val="0"/>
              </a:spcBef>
              <a:spcAft>
                <a:spcPts val="200"/>
              </a:spcAft>
            </a:pPr>
            <a:r>
              <a:rPr sz="1200" b="1" i="0">
                <a:solidFill>
                  <a:srgbClr val="5B5BE6"/>
                </a:solidFill>
                <a:latin typeface="Calibri"/>
              </a:rPr>
              <a:t>SLIDE 12  ·  THE FULL DESIGN (1 OF 5)</a:t>
            </a:r>
          </a:p>
        </p:txBody>
      </p:sp>
      <p:sp>
        <p:nvSpPr>
          <p:cNvPr id="5" name="TextBox 4"/>
          <p:cNvSpPr txBox="1"/>
          <p:nvPr/>
        </p:nvSpPr>
        <p:spPr>
          <a:xfrm>
            <a:off x="502920" y="585216"/>
            <a:ext cx="10881360" cy="868680"/>
          </a:xfrm>
          <a:prstGeom prst="rect">
            <a:avLst/>
          </a:prstGeom>
          <a:noFill/>
        </p:spPr>
        <p:txBody>
          <a:bodyPr wrap="square" anchor="t" lIns="45720" rIns="45720" tIns="18288" bIns="18288">
            <a:spAutoFit/>
          </a:bodyPr>
          <a:lstStyle/>
          <a:p>
            <a:pPr algn="l">
              <a:spcBef>
                <a:spcPts val="0"/>
              </a:spcBef>
              <a:spcAft>
                <a:spcPts val="0"/>
              </a:spcAft>
            </a:pPr>
            <a:r>
              <a:rPr sz="2600" b="1" i="0">
                <a:solidFill>
                  <a:srgbClr val="1E1B2E"/>
                </a:solidFill>
                <a:latin typeface="Calibri"/>
              </a:rPr>
              <a:t>The full set of labels</a:t>
            </a:r>
          </a:p>
        </p:txBody>
      </p:sp>
      <p:sp>
        <p:nvSpPr>
          <p:cNvPr id="6" name="Rounded Rectangle 5"/>
          <p:cNvSpPr/>
          <p:nvPr/>
        </p:nvSpPr>
        <p:spPr>
          <a:xfrm>
            <a:off x="11338560" y="310896"/>
            <a:ext cx="566928" cy="384048"/>
          </a:xfrm>
          <a:prstGeom prst="roundRect">
            <a:avLst/>
          </a:prstGeom>
          <a:solidFill>
            <a:srgbClr val="F4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i="0">
                <a:solidFill>
                  <a:srgbClr val="5B5BE6"/>
                </a:solidFill>
                <a:latin typeface="Calibri"/>
              </a:rPr>
              <a:t>12</a:t>
            </a:r>
          </a:p>
        </p:txBody>
      </p:sp>
      <p:sp>
        <p:nvSpPr>
          <p:cNvPr id="7" name="Rectangle 6"/>
          <p:cNvSpPr/>
          <p:nvPr/>
        </p:nvSpPr>
        <p:spPr>
          <a:xfrm>
            <a:off x="502920" y="1335024"/>
            <a:ext cx="1920240" cy="36576"/>
          </a:xfrm>
          <a:prstGeom prst="rect">
            <a:avLst/>
          </a:prstGeom>
          <a:solidFill>
            <a:srgbClr val="5B5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548640" y="1572768"/>
          <a:ext cx="11064240" cy="3511296"/>
        </p:xfrm>
        <a:graphic>
          <a:graphicData uri="http://schemas.openxmlformats.org/drawingml/2006/table">
            <a:tbl>
              <a:tblPr>
                <a:tableStyleId>{5C22544A-7EE6-4342-B048-85BDC9FD1C3A}</a:tableStyleId>
              </a:tblPr>
              <a:tblGrid>
                <a:gridCol w="3108960"/>
                <a:gridCol w="4663440"/>
                <a:gridCol w="3291840"/>
              </a:tblGrid>
              <a:tr h="438912">
                <a:tc>
                  <a:txBody>
                    <a:bodyPr/>
                    <a:lstStyle/>
                    <a:p>
                      <a:pPr>
                        <a:spcAft>
                          <a:spcPts val="0"/>
                        </a:spcAft>
                      </a:pPr>
                      <a:r>
                        <a:rPr sz="1100" b="1" i="0">
                          <a:solidFill>
                            <a:srgbClr val="FFFFFF"/>
                          </a:solidFill>
                          <a:latin typeface="Calibri"/>
                        </a:rPr>
                        <a:t>Label</a:t>
                      </a:r>
                    </a:p>
                  </a:txBody>
                  <a:tcPr marL="73152" marR="54864" marT="27432" marB="27432" anchor="ctr">
                    <a:solidFill>
                      <a:srgbClr val="5B5BE6"/>
                    </a:solidFill>
                  </a:tcPr>
                </a:tc>
                <a:tc>
                  <a:txBody>
                    <a:bodyPr/>
                    <a:lstStyle/>
                    <a:p>
                      <a:pPr>
                        <a:spcAft>
                          <a:spcPts val="0"/>
                        </a:spcAft>
                      </a:pPr>
                      <a:r>
                        <a:rPr sz="1100" b="1" i="0">
                          <a:solidFill>
                            <a:srgbClr val="FFFFFF"/>
                          </a:solidFill>
                          <a:latin typeface="Calibri"/>
                        </a:rPr>
                        <a:t>Plain meaning</a:t>
                      </a:r>
                    </a:p>
                  </a:txBody>
                  <a:tcPr marL="73152" marR="54864" marT="27432" marB="27432" anchor="ctr">
                    <a:solidFill>
                      <a:srgbClr val="5B5BE6"/>
                    </a:solidFill>
                  </a:tcPr>
                </a:tc>
                <a:tc>
                  <a:txBody>
                    <a:bodyPr/>
                    <a:lstStyle/>
                    <a:p>
                      <a:pPr>
                        <a:spcAft>
                          <a:spcPts val="0"/>
                        </a:spcAft>
                      </a:pPr>
                      <a:r>
                        <a:rPr sz="1100" b="1" i="0">
                          <a:solidFill>
                            <a:srgbClr val="FFFFFF"/>
                          </a:solidFill>
                          <a:latin typeface="Calibri"/>
                        </a:rPr>
                        <a:t>Used by</a:t>
                      </a:r>
                    </a:p>
                  </a:txBody>
                  <a:tcPr marL="73152" marR="54864" marT="27432" marB="27432" anchor="ctr">
                    <a:solidFill>
                      <a:srgbClr val="5B5BE6"/>
                    </a:solidFill>
                  </a:tcPr>
                </a:tc>
              </a:tr>
              <a:tr h="438912">
                <a:tc>
                  <a:txBody>
                    <a:bodyPr/>
                    <a:lstStyle/>
                    <a:p>
                      <a:pPr>
                        <a:spcAft>
                          <a:spcPts val="0"/>
                        </a:spcAft>
                      </a:pPr>
                      <a:r>
                        <a:rPr sz="1200" b="1" i="0">
                          <a:solidFill>
                            <a:srgbClr val="1E1B2E"/>
                          </a:solidFill>
                          <a:latin typeface="Calibri"/>
                        </a:rPr>
                        <a:t>Mode</a:t>
                      </a:r>
                    </a:p>
                  </a:txBody>
                  <a:tcPr marL="73152" marR="54864" marT="27432" marB="27432" anchor="ctr">
                    <a:solidFill>
                      <a:srgbClr val="FFFFFF"/>
                    </a:solidFill>
                  </a:tcPr>
                </a:tc>
                <a:tc>
                  <a:txBody>
                    <a:bodyPr/>
                    <a:lstStyle/>
                    <a:p>
                      <a:pPr>
                        <a:spcAft>
                          <a:spcPts val="0"/>
                        </a:spcAft>
                      </a:pPr>
                      <a:r>
                        <a:rPr sz="1200" b="0" i="0">
                          <a:solidFill>
                            <a:srgbClr val="444455"/>
                          </a:solidFill>
                          <a:latin typeface="Calibri"/>
                        </a:rPr>
                        <a:t>Work / Personal / Both lens</a:t>
                      </a:r>
                    </a:p>
                  </a:txBody>
                  <a:tcPr marL="73152" marR="54864" marT="27432" marB="27432" anchor="ctr">
                    <a:solidFill>
                      <a:srgbClr val="FFFFFF"/>
                    </a:solidFill>
                  </a:tcPr>
                </a:tc>
                <a:tc>
                  <a:txBody>
                    <a:bodyPr/>
                    <a:lstStyle/>
                    <a:p>
                      <a:pPr>
                        <a:spcAft>
                          <a:spcPts val="0"/>
                        </a:spcAft>
                      </a:pPr>
                      <a:r>
                        <a:rPr sz="1200" b="0" i="0">
                          <a:solidFill>
                            <a:srgbClr val="444455"/>
                          </a:solidFill>
                          <a:latin typeface="Calibri"/>
                        </a:rPr>
                        <a:t>Everything (sets defaults)</a:t>
                      </a:r>
                    </a:p>
                  </a:txBody>
                  <a:tcPr marL="73152" marR="54864" marT="27432" marB="27432" anchor="ctr">
                    <a:solidFill>
                      <a:srgbClr val="FFFFFF"/>
                    </a:solidFill>
                  </a:tcPr>
                </a:tc>
              </a:tr>
              <a:tr h="438912">
                <a:tc>
                  <a:txBody>
                    <a:bodyPr/>
                    <a:lstStyle/>
                    <a:p>
                      <a:pPr>
                        <a:spcAft>
                          <a:spcPts val="0"/>
                        </a:spcAft>
                      </a:pPr>
                      <a:r>
                        <a:rPr sz="1200" b="1" i="0">
                          <a:solidFill>
                            <a:srgbClr val="1E1B2E"/>
                          </a:solidFill>
                          <a:latin typeface="Calibri"/>
                        </a:rPr>
                        <a:t>Topic / Sub-topic</a:t>
                      </a:r>
                    </a:p>
                  </a:txBody>
                  <a:tcPr marL="73152" marR="54864" marT="27432" marB="27432" anchor="ctr">
                    <a:solidFill>
                      <a:srgbClr val="F7F6FC"/>
                    </a:solidFill>
                  </a:tcPr>
                </a:tc>
                <a:tc>
                  <a:txBody>
                    <a:bodyPr/>
                    <a:lstStyle/>
                    <a:p>
                      <a:pPr>
                        <a:spcAft>
                          <a:spcPts val="0"/>
                        </a:spcAft>
                      </a:pPr>
                      <a:r>
                        <a:rPr sz="1200" b="0" i="0">
                          <a:solidFill>
                            <a:srgbClr val="444455"/>
                          </a:solidFill>
                          <a:latin typeface="Calibri"/>
                        </a:rPr>
                        <a:t>Where it lives in the tree</a:t>
                      </a:r>
                    </a:p>
                  </a:txBody>
                  <a:tcPr marL="73152" marR="54864" marT="27432" marB="27432" anchor="ctr">
                    <a:solidFill>
                      <a:srgbClr val="F7F6FC"/>
                    </a:solidFill>
                  </a:tcPr>
                </a:tc>
                <a:tc>
                  <a:txBody>
                    <a:bodyPr/>
                    <a:lstStyle/>
                    <a:p>
                      <a:pPr>
                        <a:spcAft>
                          <a:spcPts val="0"/>
                        </a:spcAft>
                      </a:pPr>
                      <a:r>
                        <a:rPr sz="1200" b="0" i="0">
                          <a:solidFill>
                            <a:srgbClr val="444455"/>
                          </a:solidFill>
                          <a:latin typeface="Calibri"/>
                        </a:rPr>
                        <a:t>Words, phrases, writing</a:t>
                      </a:r>
                    </a:p>
                  </a:txBody>
                  <a:tcPr marL="73152" marR="54864" marT="27432" marB="27432" anchor="ctr">
                    <a:solidFill>
                      <a:srgbClr val="F7F6FC"/>
                    </a:solidFill>
                  </a:tcPr>
                </a:tc>
              </a:tr>
              <a:tr h="438912">
                <a:tc>
                  <a:txBody>
                    <a:bodyPr/>
                    <a:lstStyle/>
                    <a:p>
                      <a:pPr>
                        <a:spcAft>
                          <a:spcPts val="0"/>
                        </a:spcAft>
                      </a:pPr>
                      <a:r>
                        <a:rPr sz="1200" b="1" i="0">
                          <a:solidFill>
                            <a:srgbClr val="1E1B2E"/>
                          </a:solidFill>
                          <a:latin typeface="Calibri"/>
                        </a:rPr>
                        <a:t>Level (A1–C2)</a:t>
                      </a:r>
                    </a:p>
                  </a:txBody>
                  <a:tcPr marL="73152" marR="54864" marT="27432" marB="27432" anchor="ctr">
                    <a:solidFill>
                      <a:srgbClr val="FFFFFF"/>
                    </a:solidFill>
                  </a:tcPr>
                </a:tc>
                <a:tc>
                  <a:txBody>
                    <a:bodyPr/>
                    <a:lstStyle/>
                    <a:p>
                      <a:pPr>
                        <a:spcAft>
                          <a:spcPts val="0"/>
                        </a:spcAft>
                      </a:pPr>
                      <a:r>
                        <a:rPr sz="1200" b="0" i="0">
                          <a:solidFill>
                            <a:srgbClr val="444455"/>
                          </a:solidFill>
                          <a:latin typeface="Calibri"/>
                        </a:rPr>
                        <a:t>How advanced it is</a:t>
                      </a:r>
                    </a:p>
                  </a:txBody>
                  <a:tcPr marL="73152" marR="54864" marT="27432" marB="27432" anchor="ctr">
                    <a:solidFill>
                      <a:srgbClr val="FFFFFF"/>
                    </a:solidFill>
                  </a:tcPr>
                </a:tc>
                <a:tc>
                  <a:txBody>
                    <a:bodyPr/>
                    <a:lstStyle/>
                    <a:p>
                      <a:pPr>
                        <a:spcAft>
                          <a:spcPts val="0"/>
                        </a:spcAft>
                      </a:pPr>
                      <a:r>
                        <a:rPr sz="1200" b="0" i="0">
                          <a:solidFill>
                            <a:srgbClr val="444455"/>
                          </a:solidFill>
                          <a:latin typeface="Calibri"/>
                        </a:rPr>
                        <a:t>Everything</a:t>
                      </a:r>
                    </a:p>
                  </a:txBody>
                  <a:tcPr marL="73152" marR="54864" marT="27432" marB="27432" anchor="ctr">
                    <a:solidFill>
                      <a:srgbClr val="FFFFFF"/>
                    </a:solidFill>
                  </a:tcPr>
                </a:tc>
              </a:tr>
              <a:tr h="438912">
                <a:tc>
                  <a:txBody>
                    <a:bodyPr/>
                    <a:lstStyle/>
                    <a:p>
                      <a:pPr>
                        <a:spcAft>
                          <a:spcPts val="0"/>
                        </a:spcAft>
                      </a:pPr>
                      <a:r>
                        <a:rPr sz="1200" b="1" i="0">
                          <a:solidFill>
                            <a:srgbClr val="1E1B2E"/>
                          </a:solidFill>
                          <a:latin typeface="Calibri"/>
                        </a:rPr>
                        <a:t>Sector (work mode)</a:t>
                      </a:r>
                    </a:p>
                  </a:txBody>
                  <a:tcPr marL="73152" marR="54864" marT="27432" marB="27432" anchor="ctr">
                    <a:solidFill>
                      <a:srgbClr val="F7F6FC"/>
                    </a:solidFill>
                  </a:tcPr>
                </a:tc>
                <a:tc>
                  <a:txBody>
                    <a:bodyPr/>
                    <a:lstStyle/>
                    <a:p>
                      <a:pPr>
                        <a:spcAft>
                          <a:spcPts val="0"/>
                        </a:spcAft>
                      </a:pPr>
                      <a:r>
                        <a:rPr sz="1200" b="0" i="0">
                          <a:solidFill>
                            <a:srgbClr val="444455"/>
                          </a:solidFill>
                          <a:latin typeface="Calibri"/>
                        </a:rPr>
                        <a:t>Care, trades, office, IT…</a:t>
                      </a:r>
                    </a:p>
                  </a:txBody>
                  <a:tcPr marL="73152" marR="54864" marT="27432" marB="27432" anchor="ctr">
                    <a:solidFill>
                      <a:srgbClr val="F7F6FC"/>
                    </a:solidFill>
                  </a:tcPr>
                </a:tc>
                <a:tc>
                  <a:txBody>
                    <a:bodyPr/>
                    <a:lstStyle/>
                    <a:p>
                      <a:pPr>
                        <a:spcAft>
                          <a:spcPts val="0"/>
                        </a:spcAft>
                      </a:pPr>
                      <a:r>
                        <a:rPr sz="1200" b="0" i="0">
                          <a:solidFill>
                            <a:srgbClr val="444455"/>
                          </a:solidFill>
                          <a:latin typeface="Calibri"/>
                        </a:rPr>
                        <a:t>Vocabulary, phrases</a:t>
                      </a:r>
                    </a:p>
                  </a:txBody>
                  <a:tcPr marL="73152" marR="54864" marT="27432" marB="27432" anchor="ctr">
                    <a:solidFill>
                      <a:srgbClr val="F7F6FC"/>
                    </a:solidFill>
                  </a:tcPr>
                </a:tc>
              </a:tr>
              <a:tr h="438912">
                <a:tc>
                  <a:txBody>
                    <a:bodyPr/>
                    <a:lstStyle/>
                    <a:p>
                      <a:pPr>
                        <a:spcAft>
                          <a:spcPts val="0"/>
                        </a:spcAft>
                      </a:pPr>
                      <a:r>
                        <a:rPr sz="1200" b="1" i="0">
                          <a:solidFill>
                            <a:srgbClr val="1E1B2E"/>
                          </a:solidFill>
                          <a:latin typeface="Calibri"/>
                        </a:rPr>
                        <a:t>Situation / Counterpart</a:t>
                      </a:r>
                    </a:p>
                  </a:txBody>
                  <a:tcPr marL="73152" marR="54864" marT="27432" marB="27432" anchor="ctr">
                    <a:solidFill>
                      <a:srgbClr val="FFFFFF"/>
                    </a:solidFill>
                  </a:tcPr>
                </a:tc>
                <a:tc>
                  <a:txBody>
                    <a:bodyPr/>
                    <a:lstStyle/>
                    <a:p>
                      <a:pPr>
                        <a:spcAft>
                          <a:spcPts val="0"/>
                        </a:spcAft>
                      </a:pPr>
                      <a:r>
                        <a:rPr sz="1200" b="0" i="0">
                          <a:solidFill>
                            <a:srgbClr val="444455"/>
                          </a:solidFill>
                          <a:latin typeface="Calibri"/>
                        </a:rPr>
                        <a:t>Workplace scene + who you talk to</a:t>
                      </a:r>
                    </a:p>
                  </a:txBody>
                  <a:tcPr marL="73152" marR="54864" marT="27432" marB="27432" anchor="ctr">
                    <a:solidFill>
                      <a:srgbClr val="FFFFFF"/>
                    </a:solidFill>
                  </a:tcPr>
                </a:tc>
                <a:tc>
                  <a:txBody>
                    <a:bodyPr/>
                    <a:lstStyle/>
                    <a:p>
                      <a:pPr>
                        <a:spcAft>
                          <a:spcPts val="0"/>
                        </a:spcAft>
                      </a:pPr>
                      <a:r>
                        <a:rPr sz="1200" b="0" i="0">
                          <a:solidFill>
                            <a:srgbClr val="444455"/>
                          </a:solidFill>
                          <a:latin typeface="Calibri"/>
                        </a:rPr>
                        <a:t>Phrases, dialogues</a:t>
                      </a:r>
                    </a:p>
                  </a:txBody>
                  <a:tcPr marL="73152" marR="54864" marT="27432" marB="27432" anchor="ctr">
                    <a:solidFill>
                      <a:srgbClr val="FFFFFF"/>
                    </a:solidFill>
                  </a:tcPr>
                </a:tc>
              </a:tr>
              <a:tr h="438912">
                <a:tc>
                  <a:txBody>
                    <a:bodyPr/>
                    <a:lstStyle/>
                    <a:p>
                      <a:pPr>
                        <a:spcAft>
                          <a:spcPts val="0"/>
                        </a:spcAft>
                      </a:pPr>
                      <a:r>
                        <a:rPr sz="1200" b="1" i="0">
                          <a:solidFill>
                            <a:srgbClr val="1E1B2E"/>
                          </a:solidFill>
                          <a:latin typeface="Calibri"/>
                        </a:rPr>
                        <a:t>Formality</a:t>
                      </a:r>
                    </a:p>
                  </a:txBody>
                  <a:tcPr marL="73152" marR="54864" marT="27432" marB="27432" anchor="ctr">
                    <a:solidFill>
                      <a:srgbClr val="F7F6FC"/>
                    </a:solidFill>
                  </a:tcPr>
                </a:tc>
                <a:tc>
                  <a:txBody>
                    <a:bodyPr/>
                    <a:lstStyle/>
                    <a:p>
                      <a:pPr>
                        <a:spcAft>
                          <a:spcPts val="0"/>
                        </a:spcAft>
                      </a:pPr>
                      <a:r>
                        <a:rPr sz="1200" b="0" i="0">
                          <a:solidFill>
                            <a:srgbClr val="444455"/>
                          </a:solidFill>
                          <a:latin typeface="Calibri"/>
                        </a:rPr>
                        <a:t>neutral / formal / diplomatic</a:t>
                      </a:r>
                    </a:p>
                  </a:txBody>
                  <a:tcPr marL="73152" marR="54864" marT="27432" marB="27432" anchor="ctr">
                    <a:solidFill>
                      <a:srgbClr val="F7F6FC"/>
                    </a:solidFill>
                  </a:tcPr>
                </a:tc>
                <a:tc>
                  <a:txBody>
                    <a:bodyPr/>
                    <a:lstStyle/>
                    <a:p>
                      <a:pPr>
                        <a:spcAft>
                          <a:spcPts val="0"/>
                        </a:spcAft>
                      </a:pPr>
                      <a:r>
                        <a:rPr sz="1200" b="0" i="0">
                          <a:solidFill>
                            <a:srgbClr val="444455"/>
                          </a:solidFill>
                          <a:latin typeface="Calibri"/>
                        </a:rPr>
                        <a:t>All text</a:t>
                      </a:r>
                    </a:p>
                  </a:txBody>
                  <a:tcPr marL="73152" marR="54864" marT="27432" marB="27432" anchor="ctr">
                    <a:solidFill>
                      <a:srgbClr val="F7F6FC"/>
                    </a:solidFill>
                  </a:tcPr>
                </a:tc>
              </a:tr>
              <a:tr h="438912">
                <a:tc>
                  <a:txBody>
                    <a:bodyPr/>
                    <a:lstStyle/>
                    <a:p>
                      <a:pPr>
                        <a:spcAft>
                          <a:spcPts val="0"/>
                        </a:spcAft>
                      </a:pPr>
                      <a:r>
                        <a:rPr sz="1200" b="1" i="0">
                          <a:solidFill>
                            <a:srgbClr val="1E1B2E"/>
                          </a:solidFill>
                          <a:latin typeface="Calibri"/>
                        </a:rPr>
                        <a:t>Word type · Usefulness · Exam tag</a:t>
                      </a:r>
                    </a:p>
                  </a:txBody>
                  <a:tcPr marL="73152" marR="54864" marT="27432" marB="27432" anchor="ctr">
                    <a:solidFill>
                      <a:srgbClr val="FFFFFF"/>
                    </a:solidFill>
                  </a:tcPr>
                </a:tc>
                <a:tc>
                  <a:txBody>
                    <a:bodyPr/>
                    <a:lstStyle/>
                    <a:p>
                      <a:pPr>
                        <a:spcAft>
                          <a:spcPts val="0"/>
                        </a:spcAft>
                      </a:pPr>
                      <a:r>
                        <a:rPr sz="1200" b="0" i="0">
                          <a:solidFill>
                            <a:srgbClr val="444455"/>
                          </a:solidFill>
                          <a:latin typeface="Calibri"/>
                        </a:rPr>
                        <a:t>supporting labels</a:t>
                      </a:r>
                    </a:p>
                  </a:txBody>
                  <a:tcPr marL="73152" marR="54864" marT="27432" marB="27432" anchor="ctr">
                    <a:solidFill>
                      <a:srgbClr val="FFFFFF"/>
                    </a:solidFill>
                  </a:tcPr>
                </a:tc>
                <a:tc>
                  <a:txBody>
                    <a:bodyPr/>
                    <a:lstStyle/>
                    <a:p>
                      <a:pPr>
                        <a:spcAft>
                          <a:spcPts val="0"/>
                        </a:spcAft>
                      </a:pPr>
                      <a:r>
                        <a:rPr sz="1200" b="0" i="0">
                          <a:solidFill>
                            <a:srgbClr val="444455"/>
                          </a:solidFill>
                          <a:latin typeface="Calibri"/>
                        </a:rPr>
                        <a:t>Words, all modules</a:t>
                      </a:r>
                    </a:p>
                  </a:txBody>
                  <a:tcPr marL="73152" marR="54864" marT="27432" marB="27432" anchor="ctr">
                    <a:solidFill>
                      <a:srgbClr val="FFFFFF"/>
                    </a:solidFill>
                  </a:tcPr>
                </a:tc>
              </a:tr>
            </a:tbl>
          </a:graphicData>
        </a:graphic>
      </p:graphicFrame>
      <p:sp>
        <p:nvSpPr>
          <p:cNvPr id="9" name="Rounded Rectangle 8"/>
          <p:cNvSpPr/>
          <p:nvPr/>
        </p:nvSpPr>
        <p:spPr>
          <a:xfrm>
            <a:off x="548640" y="5715000"/>
            <a:ext cx="11064240" cy="777240"/>
          </a:xfrm>
          <a:prstGeom prst="roundRect">
            <a:avLst/>
          </a:prstGeom>
          <a:solidFill>
            <a:srgbClr val="F4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64592" tIns="118872"/>
          <a:lstStyle/>
          <a:p>
            <a:pPr algn="l">
              <a:spcBef>
                <a:spcPts val="0"/>
              </a:spcBef>
              <a:spcAft>
                <a:spcPts val="400"/>
              </a:spcAft>
            </a:pPr>
            <a:r>
              <a:rPr sz="1400" b="1" i="0">
                <a:solidFill>
                  <a:srgbClr val="5B5BE6"/>
                </a:solidFill>
                <a:latin typeface="Calibri"/>
              </a:rPr>
              <a:t>Good news: this rolls out gradually</a:t>
            </a:r>
          </a:p>
          <a:p>
            <a:pPr algn="l">
              <a:spcBef>
                <a:spcPts val="0"/>
              </a:spcBef>
              <a:spcAft>
                <a:spcPts val="500"/>
              </a:spcAft>
            </a:pPr>
            <a:r>
              <a:rPr sz="1350" b="0" i="0">
                <a:solidFill>
                  <a:srgbClr val="444455"/>
                </a:solidFill>
                <a:latin typeface="Calibri"/>
              </a:rPr>
              <a:t>Mode, Topic and Level are the foundation; everything else layers on over months without breaking what works. We're mostly formalizing labels the content already half-has, plus the new Sector/Counterpart axes that Work mode introduces.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5B5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424160" cy="365760"/>
          </a:xfrm>
          <a:prstGeom prst="rect">
            <a:avLst/>
          </a:prstGeom>
          <a:noFill/>
        </p:spPr>
        <p:txBody>
          <a:bodyPr wrap="square" anchor="t" lIns="45720" rIns="45720" tIns="18288" bIns="18288">
            <a:spAutoFit/>
          </a:bodyPr>
          <a:lstStyle/>
          <a:p>
            <a:pPr algn="l">
              <a:spcBef>
                <a:spcPts val="0"/>
              </a:spcBef>
              <a:spcAft>
                <a:spcPts val="200"/>
              </a:spcAft>
            </a:pPr>
            <a:r>
              <a:rPr sz="1200" b="1" i="0">
                <a:solidFill>
                  <a:srgbClr val="5B5BE6"/>
                </a:solidFill>
                <a:latin typeface="Calibri"/>
              </a:rPr>
              <a:t>SLIDE 13  ·  THE FULL DESIGN (2 OF 5)</a:t>
            </a:r>
          </a:p>
        </p:txBody>
      </p:sp>
      <p:sp>
        <p:nvSpPr>
          <p:cNvPr id="5" name="TextBox 4"/>
          <p:cNvSpPr txBox="1"/>
          <p:nvPr/>
        </p:nvSpPr>
        <p:spPr>
          <a:xfrm>
            <a:off x="502920" y="585216"/>
            <a:ext cx="10881360" cy="868680"/>
          </a:xfrm>
          <a:prstGeom prst="rect">
            <a:avLst/>
          </a:prstGeom>
          <a:noFill/>
        </p:spPr>
        <p:txBody>
          <a:bodyPr wrap="square" anchor="t" lIns="45720" rIns="45720" tIns="18288" bIns="18288">
            <a:spAutoFit/>
          </a:bodyPr>
          <a:lstStyle/>
          <a:p>
            <a:pPr algn="l">
              <a:spcBef>
                <a:spcPts val="0"/>
              </a:spcBef>
              <a:spcAft>
                <a:spcPts val="0"/>
              </a:spcAft>
            </a:pPr>
            <a:r>
              <a:rPr sz="2600" b="1" i="0">
                <a:solidFill>
                  <a:srgbClr val="1E1B2E"/>
                </a:solidFill>
                <a:latin typeface="Calibri"/>
              </a:rPr>
              <a:t>The “Field” layer under each mode</a:t>
            </a:r>
          </a:p>
        </p:txBody>
      </p:sp>
      <p:sp>
        <p:nvSpPr>
          <p:cNvPr id="6" name="Rounded Rectangle 5"/>
          <p:cNvSpPr/>
          <p:nvPr/>
        </p:nvSpPr>
        <p:spPr>
          <a:xfrm>
            <a:off x="11338560" y="310896"/>
            <a:ext cx="566928" cy="384048"/>
          </a:xfrm>
          <a:prstGeom prst="roundRect">
            <a:avLst/>
          </a:prstGeom>
          <a:solidFill>
            <a:srgbClr val="F4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i="0">
                <a:solidFill>
                  <a:srgbClr val="5B5BE6"/>
                </a:solidFill>
                <a:latin typeface="Calibri"/>
              </a:rPr>
              <a:t>13</a:t>
            </a:r>
          </a:p>
        </p:txBody>
      </p:sp>
      <p:sp>
        <p:nvSpPr>
          <p:cNvPr id="7" name="Rectangle 6"/>
          <p:cNvSpPr/>
          <p:nvPr/>
        </p:nvSpPr>
        <p:spPr>
          <a:xfrm>
            <a:off x="502920" y="1335024"/>
            <a:ext cx="1920240" cy="36576"/>
          </a:xfrm>
          <a:prstGeom prst="rect">
            <a:avLst/>
          </a:prstGeom>
          <a:solidFill>
            <a:srgbClr val="5B5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572768"/>
            <a:ext cx="11064240" cy="822960"/>
          </a:xfrm>
          <a:prstGeom prst="rect">
            <a:avLst/>
          </a:prstGeom>
          <a:noFill/>
        </p:spPr>
        <p:txBody>
          <a:bodyPr wrap="square" anchor="t" lIns="45720" rIns="45720" tIns="18288" bIns="18288">
            <a:spAutoFit/>
          </a:bodyPr>
          <a:lstStyle/>
          <a:p>
            <a:pPr algn="l">
              <a:spcBef>
                <a:spcPts val="0"/>
              </a:spcBef>
              <a:spcAft>
                <a:spcPts val="600"/>
              </a:spcAft>
            </a:pPr>
            <a:r>
              <a:rPr sz="1450" b="0" i="0">
                <a:solidFill>
                  <a:srgbClr val="444455"/>
                </a:solidFill>
                <a:latin typeface="Calibri"/>
              </a:rPr>
              <a:t>Inside a mode, topics group under ~6 Fields. As we add banking, doctor visits and housing, a flat list of 20+ topics gets unwieldy.</a:t>
            </a:r>
          </a:p>
        </p:txBody>
      </p:sp>
      <p:graphicFrame>
        <p:nvGraphicFramePr>
          <p:cNvPr id="9" name="Table 8"/>
          <p:cNvGraphicFramePr>
            <a:graphicFrameLocks noGrp="1"/>
          </p:cNvGraphicFramePr>
          <p:nvPr/>
        </p:nvGraphicFramePr>
        <p:xfrm>
          <a:off x="548640" y="2468880"/>
          <a:ext cx="11064240" cy="3017520"/>
        </p:xfrm>
        <a:graphic>
          <a:graphicData uri="http://schemas.openxmlformats.org/drawingml/2006/table">
            <a:tbl>
              <a:tblPr>
                <a:tableStyleId>{5C22544A-7EE6-4342-B048-85BDC9FD1C3A}</a:tableStyleId>
              </a:tblPr>
              <a:tblGrid>
                <a:gridCol w="3108960"/>
                <a:gridCol w="2011680"/>
                <a:gridCol w="5943600"/>
              </a:tblGrid>
              <a:tr h="502920">
                <a:tc>
                  <a:txBody>
                    <a:bodyPr/>
                    <a:lstStyle/>
                    <a:p>
                      <a:pPr>
                        <a:spcAft>
                          <a:spcPts val="0"/>
                        </a:spcAft>
                      </a:pPr>
                      <a:r>
                        <a:rPr sz="1100" b="1" i="0">
                          <a:solidFill>
                            <a:srgbClr val="FFFFFF"/>
                          </a:solidFill>
                          <a:latin typeface="Calibri"/>
                        </a:rPr>
                        <a:t>Field</a:t>
                      </a:r>
                    </a:p>
                  </a:txBody>
                  <a:tcPr marL="73152" marR="54864" marT="27432" marB="27432" anchor="ctr">
                    <a:solidFill>
                      <a:srgbClr val="5B5BE6"/>
                    </a:solidFill>
                  </a:tcPr>
                </a:tc>
                <a:tc>
                  <a:txBody>
                    <a:bodyPr/>
                    <a:lstStyle/>
                    <a:p>
                      <a:pPr>
                        <a:spcAft>
                          <a:spcPts val="0"/>
                        </a:spcAft>
                      </a:pPr>
                      <a:r>
                        <a:rPr sz="1100" b="1" i="0">
                          <a:solidFill>
                            <a:srgbClr val="FFFFFF"/>
                          </a:solidFill>
                          <a:latin typeface="Calibri"/>
                        </a:rPr>
                        <a:t>Mostly shows in</a:t>
                      </a:r>
                    </a:p>
                  </a:txBody>
                  <a:tcPr marL="73152" marR="54864" marT="27432" marB="27432" anchor="ctr">
                    <a:solidFill>
                      <a:srgbClr val="5B5BE6"/>
                    </a:solidFill>
                  </a:tcPr>
                </a:tc>
                <a:tc>
                  <a:txBody>
                    <a:bodyPr/>
                    <a:lstStyle/>
                    <a:p>
                      <a:pPr>
                        <a:spcAft>
                          <a:spcPts val="0"/>
                        </a:spcAft>
                      </a:pPr>
                      <a:r>
                        <a:rPr sz="1100" b="1" i="0">
                          <a:solidFill>
                            <a:srgbClr val="FFFFFF"/>
                          </a:solidFill>
                          <a:latin typeface="Calibri"/>
                        </a:rPr>
                        <a:t>Holds (today + planned)</a:t>
                      </a:r>
                    </a:p>
                  </a:txBody>
                  <a:tcPr marL="73152" marR="54864" marT="27432" marB="27432" anchor="ctr">
                    <a:solidFill>
                      <a:srgbClr val="5B5BE6"/>
                    </a:solidFill>
                  </a:tcPr>
                </a:tc>
              </a:tr>
              <a:tr h="502920">
                <a:tc>
                  <a:txBody>
                    <a:bodyPr/>
                    <a:lstStyle/>
                    <a:p>
                      <a:pPr>
                        <a:spcAft>
                          <a:spcPts val="0"/>
                        </a:spcAft>
                      </a:pPr>
                      <a:r>
                        <a:rPr sz="1200" b="1" i="0">
                          <a:solidFill>
                            <a:srgbClr val="1E1B2E"/>
                          </a:solidFill>
                          <a:latin typeface="Calibri"/>
                        </a:rPr>
                        <a:t>Working life</a:t>
                      </a:r>
                    </a:p>
                  </a:txBody>
                  <a:tcPr marL="73152" marR="54864" marT="27432" marB="27432" anchor="ctr">
                    <a:solidFill>
                      <a:srgbClr val="FFFFFF"/>
                    </a:solidFill>
                  </a:tcPr>
                </a:tc>
                <a:tc>
                  <a:txBody>
                    <a:bodyPr/>
                    <a:lstStyle/>
                    <a:p>
                      <a:pPr>
                        <a:spcAft>
                          <a:spcPts val="0"/>
                        </a:spcAft>
                      </a:pPr>
                      <a:r>
                        <a:rPr sz="1200" b="0" i="0">
                          <a:solidFill>
                            <a:srgbClr val="444455"/>
                          </a:solidFill>
                          <a:latin typeface="Calibri"/>
                        </a:rPr>
                        <a:t>Work</a:t>
                      </a:r>
                    </a:p>
                  </a:txBody>
                  <a:tcPr marL="73152" marR="54864" marT="27432" marB="27432" anchor="ctr">
                    <a:solidFill>
                      <a:srgbClr val="FFFFFF"/>
                    </a:solidFill>
                  </a:tcPr>
                </a:tc>
                <a:tc>
                  <a:txBody>
                    <a:bodyPr/>
                    <a:lstStyle/>
                    <a:p>
                      <a:pPr>
                        <a:spcAft>
                          <a:spcPts val="0"/>
                        </a:spcAft>
                      </a:pPr>
                      <a:r>
                        <a:rPr sz="1200" b="0" i="0">
                          <a:solidFill>
                            <a:srgbClr val="444455"/>
                          </a:solidFill>
                          <a:latin typeface="Calibri"/>
                        </a:rPr>
                        <a:t>meetings, scheduling, customer, conflict, project</a:t>
                      </a:r>
                    </a:p>
                  </a:txBody>
                  <a:tcPr marL="73152" marR="54864" marT="27432" marB="27432" anchor="ctr">
                    <a:solidFill>
                      <a:srgbClr val="FFFFFF"/>
                    </a:solidFill>
                  </a:tcPr>
                </a:tc>
              </a:tr>
              <a:tr h="502920">
                <a:tc>
                  <a:txBody>
                    <a:bodyPr/>
                    <a:lstStyle/>
                    <a:p>
                      <a:pPr>
                        <a:spcAft>
                          <a:spcPts val="0"/>
                        </a:spcAft>
                      </a:pPr>
                      <a:r>
                        <a:rPr sz="1200" b="1" i="0">
                          <a:solidFill>
                            <a:srgbClr val="1E1B2E"/>
                          </a:solidFill>
                          <a:latin typeface="Calibri"/>
                        </a:rPr>
                        <a:t>Work environment</a:t>
                      </a:r>
                    </a:p>
                  </a:txBody>
                  <a:tcPr marL="73152" marR="54864" marT="27432" marB="27432" anchor="ctr">
                    <a:solidFill>
                      <a:srgbClr val="F7F6FC"/>
                    </a:solidFill>
                  </a:tcPr>
                </a:tc>
                <a:tc>
                  <a:txBody>
                    <a:bodyPr/>
                    <a:lstStyle/>
                    <a:p>
                      <a:pPr>
                        <a:spcAft>
                          <a:spcPts val="0"/>
                        </a:spcAft>
                      </a:pPr>
                      <a:r>
                        <a:rPr sz="1200" b="0" i="0">
                          <a:solidFill>
                            <a:srgbClr val="444455"/>
                          </a:solidFill>
                          <a:latin typeface="Calibri"/>
                        </a:rPr>
                        <a:t>Work</a:t>
                      </a:r>
                    </a:p>
                  </a:txBody>
                  <a:tcPr marL="73152" marR="54864" marT="27432" marB="27432" anchor="ctr">
                    <a:solidFill>
                      <a:srgbClr val="F7F6FC"/>
                    </a:solidFill>
                  </a:tcPr>
                </a:tc>
                <a:tc>
                  <a:txBody>
                    <a:bodyPr/>
                    <a:lstStyle/>
                    <a:p>
                      <a:pPr>
                        <a:spcAft>
                          <a:spcPts val="0"/>
                        </a:spcAft>
                      </a:pPr>
                      <a:r>
                        <a:rPr sz="1200" b="0" i="0">
                          <a:solidFill>
                            <a:srgbClr val="444455"/>
                          </a:solidFill>
                          <a:latin typeface="Calibri"/>
                        </a:rPr>
                        <a:t>technology, sustainability, safety, business travel</a:t>
                      </a:r>
                    </a:p>
                  </a:txBody>
                  <a:tcPr marL="73152" marR="54864" marT="27432" marB="27432" anchor="ctr">
                    <a:solidFill>
                      <a:srgbClr val="F7F6FC"/>
                    </a:solidFill>
                  </a:tcPr>
                </a:tc>
              </a:tr>
              <a:tr h="502920">
                <a:tc>
                  <a:txBody>
                    <a:bodyPr/>
                    <a:lstStyle/>
                    <a:p>
                      <a:pPr>
                        <a:spcAft>
                          <a:spcPts val="0"/>
                        </a:spcAft>
                      </a:pPr>
                      <a:r>
                        <a:rPr sz="1200" b="1" i="0">
                          <a:solidFill>
                            <a:srgbClr val="1E1B2E"/>
                          </a:solidFill>
                          <a:latin typeface="Calibri"/>
                        </a:rPr>
                        <a:t>Everyday life &amp; errands</a:t>
                      </a:r>
                    </a:p>
                  </a:txBody>
                  <a:tcPr marL="73152" marR="54864" marT="27432" marB="27432" anchor="ctr">
                    <a:solidFill>
                      <a:srgbClr val="FFFFFF"/>
                    </a:solidFill>
                  </a:tcPr>
                </a:tc>
                <a:tc>
                  <a:txBody>
                    <a:bodyPr/>
                    <a:lstStyle/>
                    <a:p>
                      <a:pPr>
                        <a:spcAft>
                          <a:spcPts val="0"/>
                        </a:spcAft>
                      </a:pPr>
                      <a:r>
                        <a:rPr sz="1200" b="0" i="0">
                          <a:solidFill>
                            <a:srgbClr val="444455"/>
                          </a:solidFill>
                          <a:latin typeface="Calibri"/>
                        </a:rPr>
                        <a:t>Personal</a:t>
                      </a:r>
                    </a:p>
                  </a:txBody>
                  <a:tcPr marL="73152" marR="54864" marT="27432" marB="27432" anchor="ctr">
                    <a:solidFill>
                      <a:srgbClr val="FFFFFF"/>
                    </a:solidFill>
                  </a:tcPr>
                </a:tc>
                <a:tc>
                  <a:txBody>
                    <a:bodyPr/>
                    <a:lstStyle/>
                    <a:p>
                      <a:pPr>
                        <a:spcAft>
                          <a:spcPts val="0"/>
                        </a:spcAft>
                      </a:pPr>
                      <a:r>
                        <a:rPr sz="1200" b="0" i="0">
                          <a:solidFill>
                            <a:srgbClr val="444455"/>
                          </a:solidFill>
                          <a:latin typeface="Calibri"/>
                        </a:rPr>
                        <a:t>Behörde, + banking, housing, shopping (planned)</a:t>
                      </a:r>
                    </a:p>
                  </a:txBody>
                  <a:tcPr marL="73152" marR="54864" marT="27432" marB="27432" anchor="ctr">
                    <a:solidFill>
                      <a:srgbClr val="FFFFFF"/>
                    </a:solidFill>
                  </a:tcPr>
                </a:tc>
              </a:tr>
              <a:tr h="502920">
                <a:tc>
                  <a:txBody>
                    <a:bodyPr/>
                    <a:lstStyle/>
                    <a:p>
                      <a:pPr>
                        <a:spcAft>
                          <a:spcPts val="0"/>
                        </a:spcAft>
                      </a:pPr>
                      <a:r>
                        <a:rPr sz="1200" b="1" i="0">
                          <a:solidFill>
                            <a:srgbClr val="1E1B2E"/>
                          </a:solidFill>
                          <a:latin typeface="Calibri"/>
                        </a:rPr>
                        <a:t>Health &amp; social</a:t>
                      </a:r>
                    </a:p>
                  </a:txBody>
                  <a:tcPr marL="73152" marR="54864" marT="27432" marB="27432" anchor="ctr">
                    <a:solidFill>
                      <a:srgbClr val="F7F6FC"/>
                    </a:solidFill>
                  </a:tcPr>
                </a:tc>
                <a:tc>
                  <a:txBody>
                    <a:bodyPr/>
                    <a:lstStyle/>
                    <a:p>
                      <a:pPr>
                        <a:spcAft>
                          <a:spcPts val="0"/>
                        </a:spcAft>
                      </a:pPr>
                      <a:r>
                        <a:rPr sz="1200" b="0" i="0">
                          <a:solidFill>
                            <a:srgbClr val="444455"/>
                          </a:solidFill>
                          <a:latin typeface="Calibri"/>
                        </a:rPr>
                        <a:t>Both</a:t>
                      </a:r>
                    </a:p>
                  </a:txBody>
                  <a:tcPr marL="73152" marR="54864" marT="27432" marB="27432" anchor="ctr">
                    <a:solidFill>
                      <a:srgbClr val="F7F6FC"/>
                    </a:solidFill>
                  </a:tcPr>
                </a:tc>
                <a:tc>
                  <a:txBody>
                    <a:bodyPr/>
                    <a:lstStyle/>
                    <a:p>
                      <a:pPr>
                        <a:spcAft>
                          <a:spcPts val="0"/>
                        </a:spcAft>
                      </a:pPr>
                      <a:r>
                        <a:rPr sz="1200" b="0" i="0">
                          <a:solidFill>
                            <a:srgbClr val="444455"/>
                          </a:solidFill>
                          <a:latin typeface="Calibri"/>
                        </a:rPr>
                        <a:t>doctor (personal) + workplace health (work)</a:t>
                      </a:r>
                    </a:p>
                  </a:txBody>
                  <a:tcPr marL="73152" marR="54864" marT="27432" marB="27432" anchor="ctr">
                    <a:solidFill>
                      <a:srgbClr val="F7F6FC"/>
                    </a:solidFill>
                  </a:tcPr>
                </a:tc>
              </a:tr>
              <a:tr h="502920">
                <a:tc>
                  <a:txBody>
                    <a:bodyPr/>
                    <a:lstStyle/>
                    <a:p>
                      <a:pPr>
                        <a:spcAft>
                          <a:spcPts val="0"/>
                        </a:spcAft>
                      </a:pPr>
                      <a:r>
                        <a:rPr sz="1200" b="1" i="0">
                          <a:solidFill>
                            <a:srgbClr val="1E1B2E"/>
                          </a:solidFill>
                          <a:latin typeface="Calibri"/>
                        </a:rPr>
                        <a:t>Exam training</a:t>
                      </a:r>
                    </a:p>
                  </a:txBody>
                  <a:tcPr marL="73152" marR="54864" marT="27432" marB="27432" anchor="ctr">
                    <a:solidFill>
                      <a:srgbClr val="FFFFFF"/>
                    </a:solidFill>
                  </a:tcPr>
                </a:tc>
                <a:tc>
                  <a:txBody>
                    <a:bodyPr/>
                    <a:lstStyle/>
                    <a:p>
                      <a:pPr>
                        <a:spcAft>
                          <a:spcPts val="0"/>
                        </a:spcAft>
                      </a:pPr>
                      <a:r>
                        <a:rPr sz="1200" b="0" i="0">
                          <a:solidFill>
                            <a:srgbClr val="444455"/>
                          </a:solidFill>
                          <a:latin typeface="Calibri"/>
                        </a:rPr>
                        <a:t>Both</a:t>
                      </a:r>
                    </a:p>
                  </a:txBody>
                  <a:tcPr marL="73152" marR="54864" marT="27432" marB="27432" anchor="ctr">
                    <a:solidFill>
                      <a:srgbClr val="FFFFFF"/>
                    </a:solidFill>
                  </a:tcPr>
                </a:tc>
                <a:tc>
                  <a:txBody>
                    <a:bodyPr/>
                    <a:lstStyle/>
                    <a:p>
                      <a:pPr>
                        <a:spcAft>
                          <a:spcPts val="0"/>
                        </a:spcAft>
                      </a:pPr>
                      <a:r>
                        <a:rPr sz="1200" b="0" i="0">
                          <a:solidFill>
                            <a:srgbClr val="444455"/>
                          </a:solidFill>
                          <a:latin typeface="Calibri"/>
                        </a:rPr>
                        <a:t>a curated VIEW, not a real folder (next slide)</a:t>
                      </a:r>
                    </a:p>
                  </a:txBody>
                  <a:tcPr marL="73152" marR="54864" marT="27432" marB="27432" anchor="ctr">
                    <a:solidFill>
                      <a:srgbClr val="FFFFFF"/>
                    </a:solidFill>
                  </a:tcPr>
                </a:tc>
              </a:tr>
            </a:tbl>
          </a:graphicData>
        </a:graphic>
      </p:graphicFrame>
      <p:sp>
        <p:nvSpPr>
          <p:cNvPr id="10" name="Rounded Rectangle 9"/>
          <p:cNvSpPr/>
          <p:nvPr/>
        </p:nvSpPr>
        <p:spPr>
          <a:xfrm>
            <a:off x="548640" y="5532120"/>
            <a:ext cx="11064240" cy="868680"/>
          </a:xfrm>
          <a:prstGeom prst="roundRect">
            <a:avLst/>
          </a:prstGeom>
          <a:solidFill>
            <a:srgbClr val="F4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64592" tIns="118872"/>
          <a:lstStyle/>
          <a:p>
            <a:pPr algn="l">
              <a:spcBef>
                <a:spcPts val="0"/>
              </a:spcBef>
              <a:spcAft>
                <a:spcPts val="400"/>
              </a:spcAft>
            </a:pPr>
            <a:r>
              <a:rPr sz="1400" b="1" i="0">
                <a:solidFill>
                  <a:srgbClr val="5B5BE6"/>
                </a:solidFill>
                <a:latin typeface="Calibri"/>
              </a:rPr>
              <a:t>Notice “Health” sits in Both</a:t>
            </a:r>
          </a:p>
          <a:p>
            <a:pPr algn="l">
              <a:spcBef>
                <a:spcPts val="0"/>
              </a:spcBef>
              <a:spcAft>
                <a:spcPts val="500"/>
              </a:spcAft>
            </a:pPr>
            <a:r>
              <a:rPr sz="1350" b="0" i="0">
                <a:solidFill>
                  <a:srgbClr val="444455"/>
                </a:solidFill>
                <a:latin typeface="Calibri"/>
              </a:rPr>
              <a:t>That's exactly why Mode is a lens, not a wall (slide 11). A doctor's visit and workplace health share vocabulary; the Field belongs to both modes and surfaces in whichever one you're in. Nothing moves, each topic just gains a parent + a mode tag.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5B5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424160" cy="365760"/>
          </a:xfrm>
          <a:prstGeom prst="rect">
            <a:avLst/>
          </a:prstGeom>
          <a:noFill/>
        </p:spPr>
        <p:txBody>
          <a:bodyPr wrap="square" anchor="t" lIns="45720" rIns="45720" tIns="18288" bIns="18288">
            <a:spAutoFit/>
          </a:bodyPr>
          <a:lstStyle/>
          <a:p>
            <a:pPr algn="l">
              <a:spcBef>
                <a:spcPts val="0"/>
              </a:spcBef>
              <a:spcAft>
                <a:spcPts val="200"/>
              </a:spcAft>
            </a:pPr>
            <a:r>
              <a:rPr sz="1200" b="1" i="0">
                <a:solidFill>
                  <a:srgbClr val="5B5BE6"/>
                </a:solidFill>
                <a:latin typeface="Calibri"/>
              </a:rPr>
              <a:t>SLIDE 14  ·  THE FULL DESIGN (3 OF 5)</a:t>
            </a:r>
          </a:p>
        </p:txBody>
      </p:sp>
      <p:sp>
        <p:nvSpPr>
          <p:cNvPr id="5" name="TextBox 4"/>
          <p:cNvSpPr txBox="1"/>
          <p:nvPr/>
        </p:nvSpPr>
        <p:spPr>
          <a:xfrm>
            <a:off x="502920" y="585216"/>
            <a:ext cx="10881360" cy="868680"/>
          </a:xfrm>
          <a:prstGeom prst="rect">
            <a:avLst/>
          </a:prstGeom>
          <a:noFill/>
        </p:spPr>
        <p:txBody>
          <a:bodyPr wrap="square" anchor="t" lIns="45720" rIns="45720" tIns="18288" bIns="18288">
            <a:spAutoFit/>
          </a:bodyPr>
          <a:lstStyle/>
          <a:p>
            <a:pPr algn="l">
              <a:spcBef>
                <a:spcPts val="0"/>
              </a:spcBef>
              <a:spcAft>
                <a:spcPts val="0"/>
              </a:spcAft>
            </a:pPr>
            <a:r>
              <a:rPr sz="2600" b="1" i="0">
                <a:solidFill>
                  <a:srgbClr val="1E1B2E"/>
                </a:solidFill>
                <a:latin typeface="Calibri"/>
              </a:rPr>
              <a:t>The missing middle: sub-topics</a:t>
            </a:r>
          </a:p>
        </p:txBody>
      </p:sp>
      <p:sp>
        <p:nvSpPr>
          <p:cNvPr id="6" name="Rounded Rectangle 5"/>
          <p:cNvSpPr/>
          <p:nvPr/>
        </p:nvSpPr>
        <p:spPr>
          <a:xfrm>
            <a:off x="11338560" y="310896"/>
            <a:ext cx="566928" cy="384048"/>
          </a:xfrm>
          <a:prstGeom prst="roundRect">
            <a:avLst/>
          </a:prstGeom>
          <a:solidFill>
            <a:srgbClr val="F4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i="0">
                <a:solidFill>
                  <a:srgbClr val="5B5BE6"/>
                </a:solidFill>
                <a:latin typeface="Calibri"/>
              </a:rPr>
              <a:t>14</a:t>
            </a:r>
          </a:p>
        </p:txBody>
      </p:sp>
      <p:sp>
        <p:nvSpPr>
          <p:cNvPr id="7" name="Rectangle 6"/>
          <p:cNvSpPr/>
          <p:nvPr/>
        </p:nvSpPr>
        <p:spPr>
          <a:xfrm>
            <a:off x="502920" y="1335024"/>
            <a:ext cx="1920240" cy="36576"/>
          </a:xfrm>
          <a:prstGeom prst="rect">
            <a:avLst/>
          </a:prstGeom>
          <a:solidFill>
            <a:srgbClr val="5B5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hot-03-subtheme.png"/>
          <p:cNvPicPr>
            <a:picLocks noChangeAspect="1"/>
          </p:cNvPicPr>
          <p:nvPr/>
        </p:nvPicPr>
        <p:blipFill>
          <a:blip r:embed="rId2"/>
          <a:stretch>
            <a:fillRect/>
          </a:stretch>
        </p:blipFill>
        <p:spPr>
          <a:xfrm>
            <a:off x="640080" y="1600200"/>
            <a:ext cx="2065645" cy="4846320"/>
          </a:xfrm>
          <a:prstGeom prst="rect">
            <a:avLst/>
          </a:prstGeom>
        </p:spPr>
      </p:pic>
      <p:sp>
        <p:nvSpPr>
          <p:cNvPr id="9" name="Rounded Rectangle 8"/>
          <p:cNvSpPr/>
          <p:nvPr/>
        </p:nvSpPr>
        <p:spPr>
          <a:xfrm>
            <a:off x="640080" y="1600200"/>
            <a:ext cx="2065645" cy="4846320"/>
          </a:xfrm>
          <a:prstGeom prst="roundRect">
            <a:avLst/>
          </a:prstGeom>
          <a:noFill/>
          <a:ln w="15240">
            <a:solidFill>
              <a:srgbClr val="CFCD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0080" y="1216152"/>
            <a:ext cx="2065645" cy="310896"/>
          </a:xfrm>
          <a:prstGeom prst="roundRect">
            <a:avLst/>
          </a:prstGeom>
          <a:solidFill>
            <a:srgbClr val="2A9D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FFFFFF"/>
                </a:solidFill>
                <a:latin typeface="Calibri"/>
              </a:rPr>
              <a:t>PROPOSED  ·  Behörde sub-topics</a:t>
            </a:r>
          </a:p>
        </p:txBody>
      </p:sp>
      <p:sp>
        <p:nvSpPr>
          <p:cNvPr id="11" name="TextBox 10"/>
          <p:cNvSpPr txBox="1"/>
          <p:nvPr/>
        </p:nvSpPr>
        <p:spPr>
          <a:xfrm>
            <a:off x="3208645" y="1737360"/>
            <a:ext cx="8525850" cy="4572000"/>
          </a:xfrm>
          <a:prstGeom prst="rect">
            <a:avLst/>
          </a:prstGeom>
          <a:noFill/>
        </p:spPr>
        <p:txBody>
          <a:bodyPr wrap="square" anchor="t" lIns="45720" rIns="45720" tIns="18288" bIns="18288">
            <a:spAutoFit/>
          </a:bodyPr>
          <a:lstStyle/>
          <a:p>
            <a:pPr algn="l">
              <a:spcBef>
                <a:spcPts val="0"/>
              </a:spcBef>
              <a:spcAft>
                <a:spcPts val="800"/>
              </a:spcAft>
            </a:pPr>
            <a:r>
              <a:rPr sz="1600" b="1" i="0">
                <a:solidFill>
                  <a:srgbClr val="1E1B2E"/>
                </a:solidFill>
                <a:latin typeface="Calibri"/>
              </a:rPr>
              <a:t>Today, tapping “Behörde” dumps 28 words in one pile.</a:t>
            </a:r>
          </a:p>
          <a:p>
            <a:pPr algn="l">
              <a:spcBef>
                <a:spcPts val="0"/>
              </a:spcBef>
              <a:spcAft>
                <a:spcPts val="1200"/>
              </a:spcAft>
            </a:pPr>
            <a:r>
              <a:rPr sz="1450" b="0" i="0">
                <a:solidFill>
                  <a:srgbClr val="444455"/>
                </a:solidFill>
                <a:latin typeface="Calibri"/>
              </a:rPr>
              <a:t>Instead, split each topic into a few clear sub-topics (left). The hints already exist: our “situations” list per topic becomes the sub-topics almost word-for-word.</a:t>
            </a:r>
          </a:p>
          <a:p>
            <a:pPr algn="l">
              <a:spcBef>
                <a:spcPts val="0"/>
              </a:spcBef>
              <a:spcAft>
                <a:spcPts val="500"/>
              </a:spcAft>
            </a:pPr>
            <a:r>
              <a:rPr sz="1500" b="1" i="0">
                <a:solidFill>
                  <a:srgbClr val="2A9D6E"/>
                </a:solidFill>
                <a:latin typeface="Calibri"/>
              </a:rPr>
              <a:t>Why it's the highest-value single change</a:t>
            </a:r>
          </a:p>
          <a:p>
            <a:pPr>
              <a:spcBef>
                <a:spcPts val="0"/>
              </a:spcBef>
              <a:spcAft>
                <a:spcPts val="700"/>
              </a:spcAft>
            </a:pPr>
            <a:r>
              <a:rPr sz="1400" b="1" i="0">
                <a:solidFill>
                  <a:srgbClr val="5B5BE6"/>
                </a:solidFill>
                <a:latin typeface="Calibri"/>
              </a:rPr>
              <a:t>•  </a:t>
            </a:r>
            <a:r>
              <a:rPr sz="1400" b="1" i="0">
                <a:solidFill>
                  <a:srgbClr val="444455"/>
                </a:solidFill>
                <a:latin typeface="Calibri"/>
              </a:rPr>
              <a:t>Navigable. </a:t>
            </a:r>
            <a:r>
              <a:rPr sz="1400" b="0" i="0">
                <a:solidFill>
                  <a:srgbClr val="444455"/>
                </a:solidFill>
                <a:latin typeface="Calibri"/>
              </a:rPr>
              <a:t>“I need the appeal-letter words,” not “somewhere in these 28.”</a:t>
            </a:r>
          </a:p>
          <a:p>
            <a:pPr>
              <a:spcBef>
                <a:spcPts val="0"/>
              </a:spcBef>
              <a:spcAft>
                <a:spcPts val="700"/>
              </a:spcAft>
            </a:pPr>
            <a:r>
              <a:rPr sz="1400" b="1" i="0">
                <a:solidFill>
                  <a:srgbClr val="5B5BE6"/>
                </a:solidFill>
                <a:latin typeface="Calibri"/>
              </a:rPr>
              <a:t>•  </a:t>
            </a:r>
            <a:r>
              <a:rPr sz="1400" b="1" i="0">
                <a:solidFill>
                  <a:srgbClr val="444455"/>
                </a:solidFill>
                <a:latin typeface="Calibri"/>
              </a:rPr>
              <a:t>Smarter coaching. </a:t>
            </a:r>
            <a:r>
              <a:rPr sz="1400" b="0" i="0">
                <a:solidFill>
                  <a:srgbClr val="444455"/>
                </a:solidFill>
                <a:latin typeface="Calibri"/>
              </a:rPr>
              <a:t>“You're weak on official letters,” not just “on Behörde.”</a:t>
            </a:r>
          </a:p>
          <a:p>
            <a:pPr>
              <a:spcBef>
                <a:spcPts val="0"/>
              </a:spcBef>
              <a:spcAft>
                <a:spcPts val="700"/>
              </a:spcAft>
            </a:pPr>
            <a:r>
              <a:rPr sz="1400" b="1" i="0">
                <a:solidFill>
                  <a:srgbClr val="5B5BE6"/>
                </a:solidFill>
                <a:latin typeface="Calibri"/>
              </a:rPr>
              <a:t>•  </a:t>
            </a:r>
            <a:r>
              <a:rPr sz="1400" b="1" i="0">
                <a:solidFill>
                  <a:srgbClr val="444455"/>
                </a:solidFill>
                <a:latin typeface="Calibri"/>
              </a:rPr>
              <a:t>Zero-risk rollout. </a:t>
            </a:r>
            <a:r>
              <a:rPr sz="1400" b="0" i="0">
                <a:solidFill>
                  <a:srgbClr val="444455"/>
                </a:solidFill>
                <a:latin typeface="Calibri"/>
              </a:rPr>
              <a:t>Items with no sub-topic yet just roll up to the topic, like today.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5B5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424160" cy="365760"/>
          </a:xfrm>
          <a:prstGeom prst="rect">
            <a:avLst/>
          </a:prstGeom>
          <a:noFill/>
        </p:spPr>
        <p:txBody>
          <a:bodyPr wrap="square" anchor="t" lIns="45720" rIns="45720" tIns="18288" bIns="18288">
            <a:spAutoFit/>
          </a:bodyPr>
          <a:lstStyle/>
          <a:p>
            <a:pPr algn="l">
              <a:spcBef>
                <a:spcPts val="0"/>
              </a:spcBef>
              <a:spcAft>
                <a:spcPts val="200"/>
              </a:spcAft>
            </a:pPr>
            <a:r>
              <a:rPr sz="1200" b="1" i="0">
                <a:solidFill>
                  <a:srgbClr val="5B5BE6"/>
                </a:solidFill>
                <a:latin typeface="Calibri"/>
              </a:rPr>
              <a:t>SLIDE 15  ·  THE FULL DESIGN (4 OF 5)</a:t>
            </a:r>
          </a:p>
        </p:txBody>
      </p:sp>
      <p:sp>
        <p:nvSpPr>
          <p:cNvPr id="5" name="TextBox 4"/>
          <p:cNvSpPr txBox="1"/>
          <p:nvPr/>
        </p:nvSpPr>
        <p:spPr>
          <a:xfrm>
            <a:off x="502920" y="585216"/>
            <a:ext cx="10881360" cy="868680"/>
          </a:xfrm>
          <a:prstGeom prst="rect">
            <a:avLst/>
          </a:prstGeom>
          <a:noFill/>
        </p:spPr>
        <p:txBody>
          <a:bodyPr wrap="square" anchor="t" lIns="45720" rIns="45720" tIns="18288" bIns="18288">
            <a:spAutoFit/>
          </a:bodyPr>
          <a:lstStyle/>
          <a:p>
            <a:pPr algn="l">
              <a:spcBef>
                <a:spcPts val="0"/>
              </a:spcBef>
              <a:spcAft>
                <a:spcPts val="0"/>
              </a:spcAft>
            </a:pPr>
            <a:r>
              <a:rPr sz="2600" b="1" i="0">
                <a:solidFill>
                  <a:srgbClr val="1E1B2E"/>
                </a:solidFill>
                <a:latin typeface="Calibri"/>
              </a:rPr>
              <a:t>“Exam prep” is a saved search, not a folder</a:t>
            </a:r>
          </a:p>
        </p:txBody>
      </p:sp>
      <p:sp>
        <p:nvSpPr>
          <p:cNvPr id="6" name="Rounded Rectangle 5"/>
          <p:cNvSpPr/>
          <p:nvPr/>
        </p:nvSpPr>
        <p:spPr>
          <a:xfrm>
            <a:off x="11338560" y="310896"/>
            <a:ext cx="566928" cy="384048"/>
          </a:xfrm>
          <a:prstGeom prst="roundRect">
            <a:avLst/>
          </a:prstGeom>
          <a:solidFill>
            <a:srgbClr val="F4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i="0">
                <a:solidFill>
                  <a:srgbClr val="5B5BE6"/>
                </a:solidFill>
                <a:latin typeface="Calibri"/>
              </a:rPr>
              <a:t>15</a:t>
            </a:r>
          </a:p>
        </p:txBody>
      </p:sp>
      <p:sp>
        <p:nvSpPr>
          <p:cNvPr id="7" name="Rectangle 6"/>
          <p:cNvSpPr/>
          <p:nvPr/>
        </p:nvSpPr>
        <p:spPr>
          <a:xfrm>
            <a:off x="502920" y="1335024"/>
            <a:ext cx="1920240" cy="36576"/>
          </a:xfrm>
          <a:prstGeom prst="rect">
            <a:avLst/>
          </a:prstGeom>
          <a:solidFill>
            <a:srgbClr val="5B5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572768"/>
            <a:ext cx="11064240" cy="1097280"/>
          </a:xfrm>
          <a:prstGeom prst="rect">
            <a:avLst/>
          </a:prstGeom>
          <a:noFill/>
        </p:spPr>
        <p:txBody>
          <a:bodyPr wrap="square" anchor="t" lIns="45720" rIns="45720" tIns="18288" bIns="18288">
            <a:spAutoFit/>
          </a:bodyPr>
          <a:lstStyle/>
          <a:p>
            <a:pPr algn="l">
              <a:spcBef>
                <a:spcPts val="0"/>
              </a:spcBef>
              <a:spcAft>
                <a:spcPts val="600"/>
              </a:spcAft>
            </a:pPr>
            <a:r>
              <a:rPr sz="1500" b="0" i="0">
                <a:solidFill>
                  <a:srgbClr val="444455"/>
                </a:solidFill>
                <a:latin typeface="Calibri"/>
              </a:rPr>
              <a:t>Same principle as Mode: some things are searches, not places. An exam set borrows care-sector words + negotiation phrases + e-mail grammar; it doesn't own them.</a:t>
            </a:r>
          </a:p>
        </p:txBody>
      </p:sp>
      <p:graphicFrame>
        <p:nvGraphicFramePr>
          <p:cNvPr id="9" name="Table 8"/>
          <p:cNvGraphicFramePr>
            <a:graphicFrameLocks noGrp="1"/>
          </p:cNvGraphicFramePr>
          <p:nvPr/>
        </p:nvGraphicFramePr>
        <p:xfrm>
          <a:off x="548640" y="2788920"/>
          <a:ext cx="11064240" cy="2514600"/>
        </p:xfrm>
        <a:graphic>
          <a:graphicData uri="http://schemas.openxmlformats.org/drawingml/2006/table">
            <a:tbl>
              <a:tblPr>
                <a:tableStyleId>{5C22544A-7EE6-4342-B048-85BDC9FD1C3A}</a:tableStyleId>
              </a:tblPr>
              <a:tblGrid>
                <a:gridCol w="2926080"/>
                <a:gridCol w="4846320"/>
                <a:gridCol w="3291840"/>
              </a:tblGrid>
              <a:tr h="502920">
                <a:tc>
                  <a:txBody>
                    <a:bodyPr/>
                    <a:lstStyle/>
                    <a:p>
                      <a:pPr>
                        <a:spcAft>
                          <a:spcPts val="0"/>
                        </a:spcAft>
                      </a:pPr>
                      <a:r>
                        <a:rPr sz="1100" b="1" i="0">
                          <a:solidFill>
                            <a:srgbClr val="FFFFFF"/>
                          </a:solidFill>
                          <a:latin typeface="Calibri"/>
                        </a:rPr>
                        <a:t>The learner wants…</a:t>
                      </a:r>
                    </a:p>
                  </a:txBody>
                  <a:tcPr marL="73152" marR="54864" marT="27432" marB="27432" anchor="ctr">
                    <a:solidFill>
                      <a:srgbClr val="5B5BE6"/>
                    </a:solidFill>
                  </a:tcPr>
                </a:tc>
                <a:tc>
                  <a:txBody>
                    <a:bodyPr/>
                    <a:lstStyle/>
                    <a:p>
                      <a:pPr>
                        <a:spcAft>
                          <a:spcPts val="0"/>
                        </a:spcAft>
                      </a:pPr>
                      <a:r>
                        <a:rPr sz="1100" b="1" i="0">
                          <a:solidFill>
                            <a:srgbClr val="FFFFFF"/>
                          </a:solidFill>
                          <a:latin typeface="Calibri"/>
                        </a:rPr>
                        <a:t>We build it as…</a:t>
                      </a:r>
                    </a:p>
                  </a:txBody>
                  <a:tcPr marL="73152" marR="54864" marT="27432" marB="27432" anchor="ctr">
                    <a:solidFill>
                      <a:srgbClr val="5B5BE6"/>
                    </a:solidFill>
                  </a:tcPr>
                </a:tc>
                <a:tc>
                  <a:txBody>
                    <a:bodyPr/>
                    <a:lstStyle/>
                    <a:p>
                      <a:pPr>
                        <a:spcAft>
                          <a:spcPts val="0"/>
                        </a:spcAft>
                      </a:pPr>
                      <a:r>
                        <a:rPr sz="1100" b="1" i="0">
                          <a:solidFill>
                            <a:srgbClr val="FFFFFF"/>
                          </a:solidFill>
                          <a:latin typeface="Calibri"/>
                        </a:rPr>
                        <a:t>NOT as…</a:t>
                      </a:r>
                    </a:p>
                  </a:txBody>
                  <a:tcPr marL="73152" marR="54864" marT="27432" marB="27432" anchor="ctr">
                    <a:solidFill>
                      <a:srgbClr val="5B5BE6"/>
                    </a:solidFill>
                  </a:tcPr>
                </a:tc>
              </a:tr>
              <a:tr h="502920">
                <a:tc>
                  <a:txBody>
                    <a:bodyPr/>
                    <a:lstStyle/>
                    <a:p>
                      <a:pPr>
                        <a:spcAft>
                          <a:spcPts val="0"/>
                        </a:spcAft>
                      </a:pPr>
                      <a:r>
                        <a:rPr sz="1250" b="1" i="0">
                          <a:solidFill>
                            <a:srgbClr val="1E1B2E"/>
                          </a:solidFill>
                          <a:latin typeface="Calibri"/>
                        </a:rPr>
                        <a:t>telc B2 Beruf prep</a:t>
                      </a:r>
                    </a:p>
                  </a:txBody>
                  <a:tcPr marL="73152" marR="54864" marT="27432" marB="27432" anchor="ctr">
                    <a:solidFill>
                      <a:srgbClr val="FFFFFF"/>
                    </a:solidFill>
                  </a:tcPr>
                </a:tc>
                <a:tc>
                  <a:txBody>
                    <a:bodyPr/>
                    <a:lstStyle/>
                    <a:p>
                      <a:pPr>
                        <a:spcAft>
                          <a:spcPts val="0"/>
                        </a:spcAft>
                      </a:pPr>
                      <a:r>
                        <a:rPr sz="1250" b="0" i="0">
                          <a:solidFill>
                            <a:srgbClr val="444455"/>
                          </a:solidFill>
                          <a:latin typeface="Calibri"/>
                        </a:rPr>
                        <a:t>a saved search: exam tag = telc</a:t>
                      </a:r>
                    </a:p>
                  </a:txBody>
                  <a:tcPr marL="73152" marR="54864" marT="27432" marB="27432" anchor="ctr">
                    <a:solidFill>
                      <a:srgbClr val="FFFFFF"/>
                    </a:solidFill>
                  </a:tcPr>
                </a:tc>
                <a:tc>
                  <a:txBody>
                    <a:bodyPr/>
                    <a:lstStyle/>
                    <a:p>
                      <a:pPr>
                        <a:spcAft>
                          <a:spcPts val="0"/>
                        </a:spcAft>
                      </a:pPr>
                      <a:r>
                        <a:rPr sz="1250" b="0" i="0">
                          <a:solidFill>
                            <a:srgbClr val="444455"/>
                          </a:solidFill>
                          <a:latin typeface="Calibri"/>
                        </a:rPr>
                        <a:t>a folder that copies content</a:t>
                      </a:r>
                    </a:p>
                  </a:txBody>
                  <a:tcPr marL="73152" marR="54864" marT="27432" marB="27432" anchor="ctr">
                    <a:solidFill>
                      <a:srgbClr val="FFFFFF"/>
                    </a:solidFill>
                  </a:tcPr>
                </a:tc>
              </a:tr>
              <a:tr h="502920">
                <a:tc>
                  <a:txBody>
                    <a:bodyPr/>
                    <a:lstStyle/>
                    <a:p>
                      <a:pPr>
                        <a:spcAft>
                          <a:spcPts val="0"/>
                        </a:spcAft>
                      </a:pPr>
                      <a:r>
                        <a:rPr sz="1250" b="1" i="0">
                          <a:solidFill>
                            <a:srgbClr val="1E1B2E"/>
                          </a:solidFill>
                          <a:latin typeface="Calibri"/>
                        </a:rPr>
                        <a:t>Formal e-mail phrases</a:t>
                      </a:r>
                    </a:p>
                  </a:txBody>
                  <a:tcPr marL="73152" marR="54864" marT="27432" marB="27432" anchor="ctr">
                    <a:solidFill>
                      <a:srgbClr val="F7F6FC"/>
                    </a:solidFill>
                  </a:tcPr>
                </a:tc>
                <a:tc>
                  <a:txBody>
                    <a:bodyPr/>
                    <a:lstStyle/>
                    <a:p>
                      <a:pPr>
                        <a:spcAft>
                          <a:spcPts val="0"/>
                        </a:spcAft>
                      </a:pPr>
                      <a:r>
                        <a:rPr sz="1250" b="0" i="0">
                          <a:solidFill>
                            <a:srgbClr val="444455"/>
                          </a:solidFill>
                          <a:latin typeface="Calibri"/>
                        </a:rPr>
                        <a:t>“formal” + “request/opinion” labels</a:t>
                      </a:r>
                    </a:p>
                  </a:txBody>
                  <a:tcPr marL="73152" marR="54864" marT="27432" marB="27432" anchor="ctr">
                    <a:solidFill>
                      <a:srgbClr val="F7F6FC"/>
                    </a:solidFill>
                  </a:tcPr>
                </a:tc>
                <a:tc>
                  <a:txBody>
                    <a:bodyPr/>
                    <a:lstStyle/>
                    <a:p>
                      <a:pPr>
                        <a:spcAft>
                          <a:spcPts val="0"/>
                        </a:spcAft>
                      </a:pPr>
                      <a:r>
                        <a:rPr sz="1250" b="0" i="0">
                          <a:solidFill>
                            <a:srgbClr val="444455"/>
                          </a:solidFill>
                          <a:latin typeface="Calibri"/>
                        </a:rPr>
                        <a:t>a “Formal” topic</a:t>
                      </a:r>
                    </a:p>
                  </a:txBody>
                  <a:tcPr marL="73152" marR="54864" marT="27432" marB="27432" anchor="ctr">
                    <a:solidFill>
                      <a:srgbClr val="F7F6FC"/>
                    </a:solidFill>
                  </a:tcPr>
                </a:tc>
              </a:tr>
              <a:tr h="502920">
                <a:tc>
                  <a:txBody>
                    <a:bodyPr/>
                    <a:lstStyle/>
                    <a:p>
                      <a:pPr>
                        <a:spcAft>
                          <a:spcPts val="0"/>
                        </a:spcAft>
                      </a:pPr>
                      <a:r>
                        <a:rPr sz="1250" b="1" i="0">
                          <a:solidFill>
                            <a:srgbClr val="1E1B2E"/>
                          </a:solidFill>
                          <a:latin typeface="Calibri"/>
                        </a:rPr>
                        <a:t>Everything at level B2.1</a:t>
                      </a:r>
                    </a:p>
                  </a:txBody>
                  <a:tcPr marL="73152" marR="54864" marT="27432" marB="27432" anchor="ctr">
                    <a:solidFill>
                      <a:srgbClr val="FFFFFF"/>
                    </a:solidFill>
                  </a:tcPr>
                </a:tc>
                <a:tc>
                  <a:txBody>
                    <a:bodyPr/>
                    <a:lstStyle/>
                    <a:p>
                      <a:pPr>
                        <a:spcAft>
                          <a:spcPts val="0"/>
                        </a:spcAft>
                      </a:pPr>
                      <a:r>
                        <a:rPr sz="1250" b="0" i="0">
                          <a:solidFill>
                            <a:srgbClr val="444455"/>
                          </a:solidFill>
                          <a:latin typeface="Calibri"/>
                        </a:rPr>
                        <a:t>“level = B2.1” across the app</a:t>
                      </a:r>
                    </a:p>
                  </a:txBody>
                  <a:tcPr marL="73152" marR="54864" marT="27432" marB="27432" anchor="ctr">
                    <a:solidFill>
                      <a:srgbClr val="FFFFFF"/>
                    </a:solidFill>
                  </a:tcPr>
                </a:tc>
                <a:tc>
                  <a:txBody>
                    <a:bodyPr/>
                    <a:lstStyle/>
                    <a:p>
                      <a:pPr>
                        <a:spcAft>
                          <a:spcPts val="0"/>
                        </a:spcAft>
                      </a:pPr>
                      <a:r>
                        <a:rPr sz="1250" b="0" i="0">
                          <a:solidFill>
                            <a:srgbClr val="444455"/>
                          </a:solidFill>
                          <a:latin typeface="Calibri"/>
                        </a:rPr>
                        <a:t>a “B2” island</a:t>
                      </a:r>
                    </a:p>
                  </a:txBody>
                  <a:tcPr marL="73152" marR="54864" marT="27432" marB="27432" anchor="ctr">
                    <a:solidFill>
                      <a:srgbClr val="FFFFFF"/>
                    </a:solidFill>
                  </a:tcPr>
                </a:tc>
              </a:tr>
              <a:tr h="502920">
                <a:tc>
                  <a:txBody>
                    <a:bodyPr/>
                    <a:lstStyle/>
                    <a:p>
                      <a:pPr>
                        <a:spcAft>
                          <a:spcPts val="0"/>
                        </a:spcAft>
                      </a:pPr>
                      <a:r>
                        <a:rPr sz="1250" b="1" i="0">
                          <a:solidFill>
                            <a:srgbClr val="1E1B2E"/>
                          </a:solidFill>
                          <a:latin typeface="Calibri"/>
                        </a:rPr>
                        <a:t>My weak spots</a:t>
                      </a:r>
                    </a:p>
                  </a:txBody>
                  <a:tcPr marL="73152" marR="54864" marT="27432" marB="27432" anchor="ctr">
                    <a:solidFill>
                      <a:srgbClr val="F7F6FC"/>
                    </a:solidFill>
                  </a:tcPr>
                </a:tc>
                <a:tc>
                  <a:txBody>
                    <a:bodyPr/>
                    <a:lstStyle/>
                    <a:p>
                      <a:pPr>
                        <a:spcAft>
                          <a:spcPts val="0"/>
                        </a:spcAft>
                      </a:pPr>
                      <a:r>
                        <a:rPr sz="1250" b="0" i="0">
                          <a:solidFill>
                            <a:srgbClr val="444455"/>
                          </a:solidFill>
                          <a:latin typeface="Calibri"/>
                        </a:rPr>
                        <a:t>“still learning” (from review data)</a:t>
                      </a:r>
                    </a:p>
                  </a:txBody>
                  <a:tcPr marL="73152" marR="54864" marT="27432" marB="27432" anchor="ctr">
                    <a:solidFill>
                      <a:srgbClr val="F7F6FC"/>
                    </a:solidFill>
                  </a:tcPr>
                </a:tc>
                <a:tc>
                  <a:txBody>
                    <a:bodyPr/>
                    <a:lstStyle/>
                    <a:p>
                      <a:pPr>
                        <a:spcAft>
                          <a:spcPts val="0"/>
                        </a:spcAft>
                      </a:pPr>
                      <a:r>
                        <a:rPr sz="1250" b="0" i="0">
                          <a:solidFill>
                            <a:srgbClr val="444455"/>
                          </a:solidFill>
                          <a:latin typeface="Calibri"/>
                        </a:rPr>
                        <a:t>—</a:t>
                      </a:r>
                    </a:p>
                  </a:txBody>
                  <a:tcPr marL="73152" marR="54864" marT="27432" marB="27432" anchor="ctr">
                    <a:solidFill>
                      <a:srgbClr val="F7F6FC"/>
                    </a:solidFill>
                  </a:tcPr>
                </a:tc>
              </a:tr>
            </a:tbl>
          </a:graphicData>
        </a:graphic>
      </p:graphicFrame>
      <p:sp>
        <p:nvSpPr>
          <p:cNvPr id="10" name="Rounded Rectangle 9"/>
          <p:cNvSpPr/>
          <p:nvPr/>
        </p:nvSpPr>
        <p:spPr>
          <a:xfrm>
            <a:off x="548640" y="5669280"/>
            <a:ext cx="11064240" cy="822960"/>
          </a:xfrm>
          <a:prstGeom prst="roundRect">
            <a:avLst/>
          </a:prstGeom>
          <a:solidFill>
            <a:srgbClr val="F4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64592" tIns="118872"/>
          <a:lstStyle/>
          <a:p>
            <a:pPr algn="l">
              <a:spcBef>
                <a:spcPts val="0"/>
              </a:spcBef>
              <a:spcAft>
                <a:spcPts val="400"/>
              </a:spcAft>
            </a:pPr>
            <a:r>
              <a:rPr sz="1400" b="1" i="0">
                <a:solidFill>
                  <a:srgbClr val="5B5BE6"/>
                </a:solidFill>
                <a:latin typeface="Calibri"/>
              </a:rPr>
              <a:t>Why it matters</a:t>
            </a:r>
          </a:p>
          <a:p>
            <a:pPr algn="l">
              <a:spcBef>
                <a:spcPts val="0"/>
              </a:spcBef>
              <a:spcAft>
                <a:spcPts val="500"/>
              </a:spcAft>
            </a:pPr>
            <a:r>
              <a:rPr sz="1350" b="0" i="0">
                <a:solidFill>
                  <a:srgbClr val="444455"/>
                </a:solidFill>
                <a:latin typeface="Calibri"/>
              </a:rPr>
              <a:t>Keeping these as searches (not folders) stops us copying the same word into ten places. That copying is exactly what makes Babbel-style course-islands so hard to maintain.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5B5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424160" cy="365760"/>
          </a:xfrm>
          <a:prstGeom prst="rect">
            <a:avLst/>
          </a:prstGeom>
          <a:noFill/>
        </p:spPr>
        <p:txBody>
          <a:bodyPr wrap="square" anchor="t" lIns="45720" rIns="45720" tIns="18288" bIns="18288">
            <a:spAutoFit/>
          </a:bodyPr>
          <a:lstStyle/>
          <a:p>
            <a:pPr algn="l">
              <a:spcBef>
                <a:spcPts val="0"/>
              </a:spcBef>
              <a:spcAft>
                <a:spcPts val="200"/>
              </a:spcAft>
            </a:pPr>
            <a:r>
              <a:rPr sz="1200" b="1" i="0">
                <a:solidFill>
                  <a:srgbClr val="5B5BE6"/>
                </a:solidFill>
                <a:latin typeface="Calibri"/>
              </a:rPr>
              <a:t>SLIDE 16  ·  THE FULL DESIGN (5 OF 5)</a:t>
            </a:r>
          </a:p>
        </p:txBody>
      </p:sp>
      <p:sp>
        <p:nvSpPr>
          <p:cNvPr id="5" name="TextBox 4"/>
          <p:cNvSpPr txBox="1"/>
          <p:nvPr/>
        </p:nvSpPr>
        <p:spPr>
          <a:xfrm>
            <a:off x="502920" y="585216"/>
            <a:ext cx="10881360" cy="868680"/>
          </a:xfrm>
          <a:prstGeom prst="rect">
            <a:avLst/>
          </a:prstGeom>
          <a:noFill/>
        </p:spPr>
        <p:txBody>
          <a:bodyPr wrap="square" anchor="t" lIns="45720" rIns="45720" tIns="18288" bIns="18288">
            <a:spAutoFit/>
          </a:bodyPr>
          <a:lstStyle/>
          <a:p>
            <a:pPr algn="l">
              <a:spcBef>
                <a:spcPts val="0"/>
              </a:spcBef>
              <a:spcAft>
                <a:spcPts val="0"/>
              </a:spcAft>
            </a:pPr>
            <a:r>
              <a:rPr sz="2600" b="1" i="0">
                <a:solidFill>
                  <a:srgbClr val="1E1B2E"/>
                </a:solidFill>
                <a:latin typeface="Calibri"/>
              </a:rPr>
              <a:t>The whole picture on one screen</a:t>
            </a:r>
          </a:p>
        </p:txBody>
      </p:sp>
      <p:sp>
        <p:nvSpPr>
          <p:cNvPr id="6" name="Rounded Rectangle 5"/>
          <p:cNvSpPr/>
          <p:nvPr/>
        </p:nvSpPr>
        <p:spPr>
          <a:xfrm>
            <a:off x="11338560" y="310896"/>
            <a:ext cx="566928" cy="384048"/>
          </a:xfrm>
          <a:prstGeom prst="roundRect">
            <a:avLst/>
          </a:prstGeom>
          <a:solidFill>
            <a:srgbClr val="F4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i="0">
                <a:solidFill>
                  <a:srgbClr val="5B5BE6"/>
                </a:solidFill>
                <a:latin typeface="Calibri"/>
              </a:rPr>
              <a:t>16</a:t>
            </a:r>
          </a:p>
        </p:txBody>
      </p:sp>
      <p:sp>
        <p:nvSpPr>
          <p:cNvPr id="7" name="Rectangle 6"/>
          <p:cNvSpPr/>
          <p:nvPr/>
        </p:nvSpPr>
        <p:spPr>
          <a:xfrm>
            <a:off x="502920" y="1335024"/>
            <a:ext cx="1920240" cy="36576"/>
          </a:xfrm>
          <a:prstGeom prst="rect">
            <a:avLst/>
          </a:prstGeom>
          <a:solidFill>
            <a:srgbClr val="5B5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72768"/>
            <a:ext cx="11064240" cy="4114800"/>
          </a:xfrm>
          <a:prstGeom prst="rect">
            <a:avLst/>
          </a:prstGeom>
          <a:solidFill>
            <a:srgbClr val="1B1A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109728" bIns="109728"/>
          <a:lstStyle/>
          <a:p>
            <a:pPr algn="ctr">
              <a:spcAft>
                <a:spcPts val="100"/>
              </a:spcAft>
            </a:pPr>
            <a:r>
              <a:rPr sz="1200" b="0" i="0">
                <a:solidFill>
                  <a:srgbClr val="10B7CF"/>
                </a:solidFill>
                <a:latin typeface="Consolas"/>
              </a:rPr>
              <a:t>MODE  ▸  Work   |   Personal   |   Both          (a lens, set once, switchable)</a:t>
            </a:r>
          </a:p>
          <a:p>
            <a:pPr>
              <a:spcAft>
                <a:spcPts val="100"/>
              </a:spcAft>
            </a:pPr>
            <a:r>
              <a:rPr sz="1200" b="0" i="0">
                <a:solidFill>
                  <a:srgbClr val="E8E6F5"/>
                </a:solidFill>
                <a:latin typeface="Consolas"/>
              </a:rPr>
              <a:t>  │   scopes the tree below + turns mode-specific labels on/off</a:t>
            </a:r>
          </a:p>
          <a:p>
            <a:pPr>
              <a:spcAft>
                <a:spcPts val="100"/>
              </a:spcAft>
            </a:pPr>
            <a:r>
              <a:rPr sz="1200" b="0" i="0">
                <a:solidFill>
                  <a:srgbClr val="E8E6F5"/>
                </a:solidFill>
                <a:latin typeface="Consolas"/>
              </a:rPr>
              <a:t>  ▼</a:t>
            </a:r>
          </a:p>
          <a:p>
            <a:pPr>
              <a:spcAft>
                <a:spcPts val="100"/>
              </a:spcAft>
            </a:pPr>
            <a:r>
              <a:rPr sz="1200" b="0" i="0">
                <a:solidFill>
                  <a:srgbClr val="10B7CF"/>
                </a:solidFill>
                <a:latin typeface="Consolas"/>
              </a:rPr>
              <a:t>FIELD  Working life</a:t>
            </a:r>
          </a:p>
          <a:p>
            <a:pPr>
              <a:spcAft>
                <a:spcPts val="100"/>
              </a:spcAft>
            </a:pPr>
            <a:r>
              <a:rPr sz="1200" b="0" i="0">
                <a:solidFill>
                  <a:srgbClr val="E8E6F5"/>
                </a:solidFill>
                <a:latin typeface="Consolas"/>
              </a:rPr>
              <a:t>   ├─ TOPIC  Meetings &amp; teamwork   [B1–B2]   ├─ Running a meeting · Making a point</a:t>
            </a:r>
          </a:p>
          <a:p>
            <a:pPr>
              <a:spcAft>
                <a:spcPts val="100"/>
              </a:spcAft>
            </a:pPr>
            <a:r>
              <a:rPr sz="1200" b="0" i="0">
                <a:solidFill>
                  <a:srgbClr val="E8E6F5"/>
                </a:solidFill>
                <a:latin typeface="Consolas"/>
              </a:rPr>
              <a:t>   └─ TOPIC  Conflict resolution    [B2]</a:t>
            </a:r>
          </a:p>
          <a:p>
            <a:pPr>
              <a:spcAft>
                <a:spcPts val="100"/>
              </a:spcAft>
            </a:pPr>
            <a:r>
              <a:rPr sz="1200" b="0" i="0">
                <a:solidFill>
                  <a:srgbClr val="10B7CF"/>
                </a:solidFill>
                <a:latin typeface="Consolas"/>
              </a:rPr>
              <a:t>FIELD  Everyday life &amp; errands</a:t>
            </a:r>
          </a:p>
          <a:p>
            <a:pPr>
              <a:spcAft>
                <a:spcPts val="100"/>
              </a:spcAft>
            </a:pPr>
            <a:r>
              <a:rPr sz="1200" b="0" i="0">
                <a:solidFill>
                  <a:srgbClr val="E8E6F5"/>
                </a:solidFill>
                <a:latin typeface="Consolas"/>
              </a:rPr>
              <a:t>   └─ TOPIC  Authorities &amp; bureaucracy   ├─ Registration · Forms · Official letters</a:t>
            </a:r>
          </a:p>
          <a:p>
            <a:pPr>
              <a:spcAft>
                <a:spcPts val="100"/>
              </a:spcAft>
            </a:pPr>
            <a:r>
              <a:rPr sz="1200" b="0" i="0">
                <a:solidFill>
                  <a:srgbClr val="E8E6F5"/>
                </a:solidFill>
                <a:latin typeface="Consolas"/>
              </a:rPr>
              <a:t/>
            </a:r>
          </a:p>
          <a:p>
            <a:pPr>
              <a:spcAft>
                <a:spcPts val="100"/>
              </a:spcAft>
            </a:pPr>
            <a:r>
              <a:rPr sz="1200" b="0" i="0">
                <a:solidFill>
                  <a:srgbClr val="E8E6F5"/>
                </a:solidFill>
                <a:latin typeface="Consolas"/>
              </a:rPr>
              <a:t>SHARED LABELS:  level · formality · word type · usefulness · exam · “still learning”</a:t>
            </a:r>
          </a:p>
          <a:p>
            <a:pPr>
              <a:spcAft>
                <a:spcPts val="100"/>
              </a:spcAft>
            </a:pPr>
            <a:r>
              <a:rPr sz="1200" b="0" i="0">
                <a:solidFill>
                  <a:srgbClr val="E8E6F5"/>
                </a:solidFill>
                <a:latin typeface="Consolas"/>
              </a:rPr>
              <a:t>WORK-ONLY LABELS:  sector · workplace situation · who you talk to · task type</a:t>
            </a:r>
          </a:p>
        </p:txBody>
      </p:sp>
      <p:sp>
        <p:nvSpPr>
          <p:cNvPr id="9" name="TextBox 8"/>
          <p:cNvSpPr txBox="1"/>
          <p:nvPr/>
        </p:nvSpPr>
        <p:spPr>
          <a:xfrm>
            <a:off x="548640" y="5897880"/>
            <a:ext cx="11064240" cy="548640"/>
          </a:xfrm>
          <a:prstGeom prst="rect">
            <a:avLst/>
          </a:prstGeom>
          <a:noFill/>
        </p:spPr>
        <p:txBody>
          <a:bodyPr wrap="square" anchor="t" lIns="45720" rIns="45720" tIns="18288" bIns="18288">
            <a:spAutoFit/>
          </a:bodyPr>
          <a:lstStyle/>
          <a:p>
            <a:pPr algn="l">
              <a:spcBef>
                <a:spcPts val="0"/>
              </a:spcBef>
              <a:spcAft>
                <a:spcPts val="600"/>
              </a:spcAft>
            </a:pPr>
            <a:r>
              <a:rPr sz="1400" b="1" i="0">
                <a:solidFill>
                  <a:srgbClr val="5B5BE6"/>
                </a:solidFill>
                <a:latin typeface="Calibri"/>
              </a:rPr>
              <a:t>One lens on top, three folder levels you can see, and labels you switch on. No fourth folder level.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1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2A9D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0"/>
            <a:ext cx="10515600" cy="2194560"/>
          </a:xfrm>
          <a:prstGeom prst="rect">
            <a:avLst/>
          </a:prstGeom>
          <a:noFill/>
        </p:spPr>
        <p:txBody>
          <a:bodyPr wrap="square" anchor="t" lIns="45720" rIns="45720" tIns="18288" bIns="18288">
            <a:spAutoFit/>
          </a:bodyPr>
          <a:lstStyle/>
          <a:p>
            <a:pPr algn="l">
              <a:spcBef>
                <a:spcPts val="0"/>
              </a:spcBef>
              <a:spcAft>
                <a:spcPts val="800"/>
              </a:spcAft>
            </a:pPr>
            <a:r>
              <a:rPr sz="1400" b="1" i="0">
                <a:solidFill>
                  <a:srgbClr val="10B7CF"/>
                </a:solidFill>
                <a:latin typeface="Calibri"/>
              </a:rPr>
              <a:t>SEE IT IN ACTION</a:t>
            </a:r>
          </a:p>
          <a:p>
            <a:pPr algn="l">
              <a:spcBef>
                <a:spcPts val="0"/>
              </a:spcBef>
              <a:spcAft>
                <a:spcPts val="1000"/>
              </a:spcAft>
            </a:pPr>
            <a:r>
              <a:rPr sz="4000" b="1" i="0">
                <a:solidFill>
                  <a:srgbClr val="FFFFFF"/>
                </a:solidFill>
                <a:latin typeface="Calibri"/>
              </a:rPr>
              <a:t>How the app would look</a:t>
            </a:r>
          </a:p>
          <a:p>
            <a:pPr algn="l">
              <a:spcBef>
                <a:spcPts val="0"/>
              </a:spcBef>
              <a:spcAft>
                <a:spcPts val="600"/>
              </a:spcAft>
            </a:pPr>
            <a:r>
              <a:rPr sz="1700" b="0" i="0">
                <a:solidFill>
                  <a:srgbClr val="C9C6DE"/>
                </a:solidFill>
                <a:latin typeface="Calibri"/>
              </a:rPr>
              <a:t>The next screens are mockups inside Genauly, including the new Mode picker and Work-mode browser. “Proposed” screens are design concepts, not the live app yet.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2A9D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424160" cy="365760"/>
          </a:xfrm>
          <a:prstGeom prst="rect">
            <a:avLst/>
          </a:prstGeom>
          <a:noFill/>
        </p:spPr>
        <p:txBody>
          <a:bodyPr wrap="square" anchor="t" lIns="45720" rIns="45720" tIns="18288" bIns="18288">
            <a:spAutoFit/>
          </a:bodyPr>
          <a:lstStyle/>
          <a:p>
            <a:pPr algn="l">
              <a:spcBef>
                <a:spcPts val="0"/>
              </a:spcBef>
              <a:spcAft>
                <a:spcPts val="200"/>
              </a:spcAft>
            </a:pPr>
            <a:r>
              <a:rPr sz="1200" b="1" i="0">
                <a:solidFill>
                  <a:srgbClr val="2A9D6E"/>
                </a:solidFill>
                <a:latin typeface="Calibri"/>
              </a:rPr>
              <a:t>SEE IT IN ACTION (1 OF 8)</a:t>
            </a:r>
          </a:p>
        </p:txBody>
      </p:sp>
      <p:sp>
        <p:nvSpPr>
          <p:cNvPr id="5" name="TextBox 4"/>
          <p:cNvSpPr txBox="1"/>
          <p:nvPr/>
        </p:nvSpPr>
        <p:spPr>
          <a:xfrm>
            <a:off x="502920" y="585216"/>
            <a:ext cx="10881360" cy="868680"/>
          </a:xfrm>
          <a:prstGeom prst="rect">
            <a:avLst/>
          </a:prstGeom>
          <a:noFill/>
        </p:spPr>
        <p:txBody>
          <a:bodyPr wrap="square" anchor="t" lIns="45720" rIns="45720" tIns="18288" bIns="18288">
            <a:spAutoFit/>
          </a:bodyPr>
          <a:lstStyle/>
          <a:p>
            <a:pPr algn="l">
              <a:spcBef>
                <a:spcPts val="0"/>
              </a:spcBef>
              <a:spcAft>
                <a:spcPts val="0"/>
              </a:spcAft>
            </a:pPr>
            <a:r>
              <a:rPr sz="2600" b="1" i="0">
                <a:solidFill>
                  <a:srgbClr val="1E1B2E"/>
                </a:solidFill>
                <a:latin typeface="Calibri"/>
              </a:rPr>
              <a:t>Before vs. after: the vocabulary screen</a:t>
            </a:r>
          </a:p>
        </p:txBody>
      </p:sp>
      <p:sp>
        <p:nvSpPr>
          <p:cNvPr id="6" name="Rounded Rectangle 5"/>
          <p:cNvSpPr/>
          <p:nvPr/>
        </p:nvSpPr>
        <p:spPr>
          <a:xfrm>
            <a:off x="11338560" y="310896"/>
            <a:ext cx="566928" cy="384048"/>
          </a:xfrm>
          <a:prstGeom prst="roundRect">
            <a:avLst/>
          </a:prstGeom>
          <a:solidFill>
            <a:srgbClr val="F4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i="0">
                <a:solidFill>
                  <a:srgbClr val="5B5BE6"/>
                </a:solidFill>
                <a:latin typeface="Calibri"/>
              </a:rPr>
              <a:t>17</a:t>
            </a:r>
          </a:p>
        </p:txBody>
      </p:sp>
      <p:sp>
        <p:nvSpPr>
          <p:cNvPr id="7" name="Rectangle 6"/>
          <p:cNvSpPr/>
          <p:nvPr/>
        </p:nvSpPr>
        <p:spPr>
          <a:xfrm>
            <a:off x="502920" y="1335024"/>
            <a:ext cx="1920240" cy="36576"/>
          </a:xfrm>
          <a:prstGeom prst="rect">
            <a:avLst/>
          </a:prstGeom>
          <a:solidFill>
            <a:srgbClr val="2A9D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hot-01-before.png"/>
          <p:cNvPicPr>
            <a:picLocks noChangeAspect="1"/>
          </p:cNvPicPr>
          <p:nvPr/>
        </p:nvPicPr>
        <p:blipFill>
          <a:blip r:embed="rId2"/>
          <a:stretch>
            <a:fillRect/>
          </a:stretch>
        </p:blipFill>
        <p:spPr>
          <a:xfrm>
            <a:off x="960120" y="1783080"/>
            <a:ext cx="1968209" cy="4617720"/>
          </a:xfrm>
          <a:prstGeom prst="rect">
            <a:avLst/>
          </a:prstGeom>
        </p:spPr>
      </p:pic>
      <p:sp>
        <p:nvSpPr>
          <p:cNvPr id="9" name="Rounded Rectangle 8"/>
          <p:cNvSpPr/>
          <p:nvPr/>
        </p:nvSpPr>
        <p:spPr>
          <a:xfrm>
            <a:off x="960120" y="1783080"/>
            <a:ext cx="1968209" cy="4617720"/>
          </a:xfrm>
          <a:prstGeom prst="roundRect">
            <a:avLst/>
          </a:prstGeom>
          <a:noFill/>
          <a:ln w="15240">
            <a:solidFill>
              <a:srgbClr val="CFCD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60120" y="1399032"/>
            <a:ext cx="1968209" cy="310896"/>
          </a:xfrm>
          <a:prstGeom prst="roundRect">
            <a:avLst/>
          </a:prstGeom>
          <a:solidFill>
            <a:srgbClr val="B0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FFFFFF"/>
                </a:solidFill>
                <a:latin typeface="Calibri"/>
              </a:rPr>
              <a:t>TODAY</a:t>
            </a:r>
          </a:p>
        </p:txBody>
      </p:sp>
      <p:pic>
        <p:nvPicPr>
          <p:cNvPr id="11" name="Picture 10" descr="shot-02-after-browser.png"/>
          <p:cNvPicPr>
            <a:picLocks noChangeAspect="1"/>
          </p:cNvPicPr>
          <p:nvPr/>
        </p:nvPicPr>
        <p:blipFill>
          <a:blip r:embed="rId3"/>
          <a:stretch>
            <a:fillRect/>
          </a:stretch>
        </p:blipFill>
        <p:spPr>
          <a:xfrm>
            <a:off x="3703320" y="1783080"/>
            <a:ext cx="1968209" cy="4617720"/>
          </a:xfrm>
          <a:prstGeom prst="rect">
            <a:avLst/>
          </a:prstGeom>
        </p:spPr>
      </p:pic>
      <p:sp>
        <p:nvSpPr>
          <p:cNvPr id="12" name="Rounded Rectangle 11"/>
          <p:cNvSpPr/>
          <p:nvPr/>
        </p:nvSpPr>
        <p:spPr>
          <a:xfrm>
            <a:off x="3703320" y="1783080"/>
            <a:ext cx="1968209" cy="4617720"/>
          </a:xfrm>
          <a:prstGeom prst="roundRect">
            <a:avLst/>
          </a:prstGeom>
          <a:noFill/>
          <a:ln w="15240">
            <a:solidFill>
              <a:srgbClr val="CFCD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703320" y="1399032"/>
            <a:ext cx="1968209" cy="310896"/>
          </a:xfrm>
          <a:prstGeom prst="roundRect">
            <a:avLst/>
          </a:prstGeom>
          <a:solidFill>
            <a:srgbClr val="2A9D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FFFFFF"/>
                </a:solidFill>
                <a:latin typeface="Calibri"/>
              </a:rPr>
              <a:t>PROPOSED</a:t>
            </a:r>
          </a:p>
        </p:txBody>
      </p:sp>
      <p:sp>
        <p:nvSpPr>
          <p:cNvPr id="14" name="TextBox 13"/>
          <p:cNvSpPr txBox="1"/>
          <p:nvPr/>
        </p:nvSpPr>
        <p:spPr>
          <a:xfrm>
            <a:off x="6766560" y="1828800"/>
            <a:ext cx="5059375" cy="4389120"/>
          </a:xfrm>
          <a:prstGeom prst="rect">
            <a:avLst/>
          </a:prstGeom>
          <a:noFill/>
        </p:spPr>
        <p:txBody>
          <a:bodyPr wrap="square" anchor="t" lIns="45720" rIns="45720" tIns="18288" bIns="18288">
            <a:spAutoFit/>
          </a:bodyPr>
          <a:lstStyle/>
          <a:p>
            <a:pPr algn="l">
              <a:spcBef>
                <a:spcPts val="0"/>
              </a:spcBef>
              <a:spcAft>
                <a:spcPts val="800"/>
              </a:spcAft>
            </a:pPr>
            <a:r>
              <a:rPr sz="1600" b="1" i="0">
                <a:solidFill>
                  <a:srgbClr val="1E1B2E"/>
                </a:solidFill>
                <a:latin typeface="Calibri"/>
              </a:rPr>
              <a:t>What changed</a:t>
            </a:r>
          </a:p>
          <a:p>
            <a:pPr>
              <a:spcBef>
                <a:spcPts val="0"/>
              </a:spcBef>
              <a:spcAft>
                <a:spcPts val="700"/>
              </a:spcAft>
            </a:pPr>
            <a:r>
              <a:rPr sz="1400" b="1" i="0">
                <a:solidFill>
                  <a:srgbClr val="5B5BE6"/>
                </a:solidFill>
                <a:latin typeface="Calibri"/>
              </a:rPr>
              <a:t>•  </a:t>
            </a:r>
            <a:r>
              <a:rPr sz="1400" b="1" i="0">
                <a:solidFill>
                  <a:srgbClr val="444455"/>
                </a:solidFill>
                <a:latin typeface="Calibri"/>
              </a:rPr>
              <a:t>A real filter bar </a:t>
            </a:r>
            <a:r>
              <a:rPr sz="1400" b="0" i="0">
                <a:solidFill>
                  <a:srgbClr val="444455"/>
                </a:solidFill>
                <a:latin typeface="Calibri"/>
              </a:rPr>
              <a:t>(Topic · Level · Filter) replaces the dropdown.</a:t>
            </a:r>
          </a:p>
          <a:p>
            <a:pPr>
              <a:spcBef>
                <a:spcPts val="0"/>
              </a:spcBef>
              <a:spcAft>
                <a:spcPts val="700"/>
              </a:spcAft>
            </a:pPr>
            <a:r>
              <a:rPr sz="1400" b="1" i="0">
                <a:solidFill>
                  <a:srgbClr val="5B5BE6"/>
                </a:solidFill>
                <a:latin typeface="Calibri"/>
              </a:rPr>
              <a:t>•  </a:t>
            </a:r>
            <a:r>
              <a:rPr sz="1400" b="1" i="0">
                <a:solidFill>
                  <a:srgbClr val="444455"/>
                </a:solidFill>
                <a:latin typeface="Calibri"/>
              </a:rPr>
              <a:t>Every word shows its level </a:t>
            </a:r>
            <a:r>
              <a:rPr sz="1400" b="0" i="0">
                <a:solidFill>
                  <a:srgbClr val="444455"/>
                </a:solidFill>
                <a:latin typeface="Calibri"/>
              </a:rPr>
              <a:t>and formality at a glance.</a:t>
            </a:r>
          </a:p>
          <a:p>
            <a:pPr>
              <a:spcBef>
                <a:spcPts val="0"/>
              </a:spcBef>
              <a:spcAft>
                <a:spcPts val="700"/>
              </a:spcAft>
            </a:pPr>
            <a:r>
              <a:rPr sz="1400" b="1" i="0">
                <a:solidFill>
                  <a:srgbClr val="5B5BE6"/>
                </a:solidFill>
                <a:latin typeface="Calibri"/>
              </a:rPr>
              <a:t>•  </a:t>
            </a:r>
            <a:r>
              <a:rPr sz="1400" b="1" i="0">
                <a:solidFill>
                  <a:srgbClr val="444455"/>
                </a:solidFill>
                <a:latin typeface="Calibri"/>
              </a:rPr>
              <a:t>A live count </a:t>
            </a:r>
            <a:r>
              <a:rPr sz="1400" b="0" i="0">
                <a:solidFill>
                  <a:srgbClr val="444455"/>
                </a:solidFill>
                <a:latin typeface="Calibri"/>
              </a:rPr>
              <a:t>tells you what you're looking at.</a:t>
            </a:r>
          </a:p>
          <a:p>
            <a:pPr>
              <a:spcBef>
                <a:spcPts val="0"/>
              </a:spcBef>
              <a:spcAft>
                <a:spcPts val="700"/>
              </a:spcAft>
            </a:pPr>
            <a:r>
              <a:rPr sz="1400" b="1" i="0">
                <a:solidFill>
                  <a:srgbClr val="5B5BE6"/>
                </a:solidFill>
                <a:latin typeface="Calibri"/>
              </a:rPr>
              <a:t>•  </a:t>
            </a:r>
            <a:r>
              <a:rPr sz="1400" b="1" i="0">
                <a:solidFill>
                  <a:srgbClr val="444455"/>
                </a:solidFill>
                <a:latin typeface="Calibri"/>
              </a:rPr>
              <a:t>“Still learning” status </a:t>
            </a:r>
            <a:r>
              <a:rPr sz="1400" b="0" i="0">
                <a:solidFill>
                  <a:srgbClr val="444455"/>
                </a:solidFill>
                <a:latin typeface="Calibri"/>
              </a:rPr>
              <a:t>gives practice a target.</a:t>
            </a:r>
          </a:p>
        </p:txBody>
      </p:sp>
      <p:sp>
        <p:nvSpPr>
          <p:cNvPr id="15" name="Rounded Rectangle 14"/>
          <p:cNvSpPr/>
          <p:nvPr/>
        </p:nvSpPr>
        <p:spPr>
          <a:xfrm>
            <a:off x="6766560" y="5074920"/>
            <a:ext cx="5059375" cy="1371600"/>
          </a:xfrm>
          <a:prstGeom prst="roundRect">
            <a:avLst/>
          </a:prstGeom>
          <a:solidFill>
            <a:srgbClr val="EAF7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64592" tIns="118872"/>
          <a:lstStyle/>
          <a:p>
            <a:pPr algn="l">
              <a:spcBef>
                <a:spcPts val="0"/>
              </a:spcBef>
              <a:spcAft>
                <a:spcPts val="400"/>
              </a:spcAft>
            </a:pPr>
            <a:r>
              <a:rPr sz="1400" b="1" i="0">
                <a:solidFill>
                  <a:srgbClr val="2A9D6E"/>
                </a:solidFill>
                <a:latin typeface="Calibri"/>
              </a:rPr>
              <a:t>Same data, friendlier surface</a:t>
            </a:r>
          </a:p>
          <a:p>
            <a:pPr algn="l">
              <a:spcBef>
                <a:spcPts val="0"/>
              </a:spcBef>
              <a:spcAft>
                <a:spcPts val="500"/>
              </a:spcAft>
            </a:pPr>
            <a:r>
              <a:rPr sz="1350" b="0" i="0">
                <a:solidFill>
                  <a:srgbClr val="444455"/>
                </a:solidFill>
                <a:latin typeface="Calibri"/>
              </a:rPr>
              <a:t>Nothing about the words changed. We added labels and let the learner filter on them.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2A9D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424160" cy="365760"/>
          </a:xfrm>
          <a:prstGeom prst="rect">
            <a:avLst/>
          </a:prstGeom>
          <a:noFill/>
        </p:spPr>
        <p:txBody>
          <a:bodyPr wrap="square" anchor="t" lIns="45720" rIns="45720" tIns="18288" bIns="18288">
            <a:spAutoFit/>
          </a:bodyPr>
          <a:lstStyle/>
          <a:p>
            <a:pPr algn="l">
              <a:spcBef>
                <a:spcPts val="0"/>
              </a:spcBef>
              <a:spcAft>
                <a:spcPts val="200"/>
              </a:spcAft>
            </a:pPr>
            <a:r>
              <a:rPr sz="1200" b="1" i="0">
                <a:solidFill>
                  <a:srgbClr val="2A9D6E"/>
                </a:solidFill>
                <a:latin typeface="Calibri"/>
              </a:rPr>
              <a:t>SEE IT IN ACTION (2 OF 8)</a:t>
            </a:r>
          </a:p>
        </p:txBody>
      </p:sp>
      <p:sp>
        <p:nvSpPr>
          <p:cNvPr id="5" name="TextBox 4"/>
          <p:cNvSpPr txBox="1"/>
          <p:nvPr/>
        </p:nvSpPr>
        <p:spPr>
          <a:xfrm>
            <a:off x="502920" y="585216"/>
            <a:ext cx="10881360" cy="868680"/>
          </a:xfrm>
          <a:prstGeom prst="rect">
            <a:avLst/>
          </a:prstGeom>
          <a:noFill/>
        </p:spPr>
        <p:txBody>
          <a:bodyPr wrap="square" anchor="t" lIns="45720" rIns="45720" tIns="18288" bIns="18288">
            <a:spAutoFit/>
          </a:bodyPr>
          <a:lstStyle/>
          <a:p>
            <a:pPr algn="l">
              <a:spcBef>
                <a:spcPts val="0"/>
              </a:spcBef>
              <a:spcAft>
                <a:spcPts val="0"/>
              </a:spcAft>
            </a:pPr>
            <a:r>
              <a:rPr sz="2600" b="1" i="0">
                <a:solidFill>
                  <a:srgbClr val="1E1B2E"/>
                </a:solidFill>
                <a:latin typeface="Calibri"/>
              </a:rPr>
              <a:t>Sign-up: pick your Mode</a:t>
            </a:r>
          </a:p>
        </p:txBody>
      </p:sp>
      <p:sp>
        <p:nvSpPr>
          <p:cNvPr id="6" name="Rounded Rectangle 5"/>
          <p:cNvSpPr/>
          <p:nvPr/>
        </p:nvSpPr>
        <p:spPr>
          <a:xfrm>
            <a:off x="11338560" y="310896"/>
            <a:ext cx="566928" cy="384048"/>
          </a:xfrm>
          <a:prstGeom prst="roundRect">
            <a:avLst/>
          </a:prstGeom>
          <a:solidFill>
            <a:srgbClr val="F4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i="0">
                <a:solidFill>
                  <a:srgbClr val="5B5BE6"/>
                </a:solidFill>
                <a:latin typeface="Calibri"/>
              </a:rPr>
              <a:t>18</a:t>
            </a:r>
          </a:p>
        </p:txBody>
      </p:sp>
      <p:sp>
        <p:nvSpPr>
          <p:cNvPr id="7" name="Rectangle 6"/>
          <p:cNvSpPr/>
          <p:nvPr/>
        </p:nvSpPr>
        <p:spPr>
          <a:xfrm>
            <a:off x="502920" y="1335024"/>
            <a:ext cx="1920240" cy="36576"/>
          </a:xfrm>
          <a:prstGeom prst="rect">
            <a:avLst/>
          </a:prstGeom>
          <a:solidFill>
            <a:srgbClr val="2A9D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hot-07-mode-onboarding.png"/>
          <p:cNvPicPr>
            <a:picLocks noChangeAspect="1"/>
          </p:cNvPicPr>
          <p:nvPr/>
        </p:nvPicPr>
        <p:blipFill>
          <a:blip r:embed="rId2"/>
          <a:stretch>
            <a:fillRect/>
          </a:stretch>
        </p:blipFill>
        <p:spPr>
          <a:xfrm>
            <a:off x="640080" y="1691640"/>
            <a:ext cx="2026670" cy="4754880"/>
          </a:xfrm>
          <a:prstGeom prst="rect">
            <a:avLst/>
          </a:prstGeom>
        </p:spPr>
      </p:pic>
      <p:sp>
        <p:nvSpPr>
          <p:cNvPr id="9" name="Rounded Rectangle 8"/>
          <p:cNvSpPr/>
          <p:nvPr/>
        </p:nvSpPr>
        <p:spPr>
          <a:xfrm>
            <a:off x="640080" y="1691640"/>
            <a:ext cx="2026670" cy="4754880"/>
          </a:xfrm>
          <a:prstGeom prst="roundRect">
            <a:avLst/>
          </a:prstGeom>
          <a:noFill/>
          <a:ln w="15240">
            <a:solidFill>
              <a:srgbClr val="CFCD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0080" y="1307592"/>
            <a:ext cx="2026670" cy="310896"/>
          </a:xfrm>
          <a:prstGeom prst="roundRect">
            <a:avLst/>
          </a:prstGeom>
          <a:solidFill>
            <a:srgbClr val="2A9D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FFFFFF"/>
                </a:solidFill>
                <a:latin typeface="Calibri"/>
              </a:rPr>
              <a:t>PROPOSED  ·  Onboarding</a:t>
            </a:r>
          </a:p>
        </p:txBody>
      </p:sp>
      <p:sp>
        <p:nvSpPr>
          <p:cNvPr id="11" name="TextBox 10"/>
          <p:cNvSpPr txBox="1"/>
          <p:nvPr/>
        </p:nvSpPr>
        <p:spPr>
          <a:xfrm>
            <a:off x="4206240" y="1828800"/>
            <a:ext cx="7573975" cy="4572000"/>
          </a:xfrm>
          <a:prstGeom prst="rect">
            <a:avLst/>
          </a:prstGeom>
          <a:noFill/>
        </p:spPr>
        <p:txBody>
          <a:bodyPr wrap="square" anchor="t" lIns="45720" rIns="45720" tIns="18288" bIns="18288">
            <a:spAutoFit/>
          </a:bodyPr>
          <a:lstStyle/>
          <a:p>
            <a:pPr algn="l">
              <a:spcBef>
                <a:spcPts val="0"/>
              </a:spcBef>
              <a:spcAft>
                <a:spcPts val="800"/>
              </a:spcAft>
            </a:pPr>
            <a:r>
              <a:rPr sz="1600" b="1" i="0">
                <a:solidFill>
                  <a:srgbClr val="1E1B2E"/>
                </a:solidFill>
                <a:latin typeface="Calibri"/>
              </a:rPr>
              <a:t>One friendly question sets the whole experience.</a:t>
            </a:r>
          </a:p>
          <a:p>
            <a:pPr algn="l">
              <a:spcBef>
                <a:spcPts val="0"/>
              </a:spcBef>
              <a:spcAft>
                <a:spcPts val="1200"/>
              </a:spcAft>
            </a:pPr>
            <a:r>
              <a:rPr sz="1450" b="0" i="0">
                <a:solidFill>
                  <a:srgbClr val="444455"/>
                </a:solidFill>
                <a:latin typeface="Calibri"/>
              </a:rPr>
              <a:t>“What do you want German for?” Work, Personal life, or Both. That single choice quietly configures topics, goal cards and which filters appear, so the very first screen already feels made for this learner.</a:t>
            </a:r>
          </a:p>
          <a:p>
            <a:pPr>
              <a:spcBef>
                <a:spcPts val="0"/>
              </a:spcBef>
              <a:spcAft>
                <a:spcPts val="700"/>
              </a:spcAft>
            </a:pPr>
            <a:r>
              <a:rPr sz="1400" b="1" i="0">
                <a:solidFill>
                  <a:srgbClr val="5B5BE6"/>
                </a:solidFill>
                <a:latin typeface="Calibri"/>
              </a:rPr>
              <a:t>•  </a:t>
            </a:r>
            <a:r>
              <a:rPr sz="1400" b="1" i="0">
                <a:solidFill>
                  <a:srgbClr val="444455"/>
                </a:solidFill>
                <a:latin typeface="Calibri"/>
              </a:rPr>
              <a:t>It's one tap, not a long quiz. </a:t>
            </a:r>
            <a:r>
              <a:rPr sz="1400" b="0" i="0">
                <a:solidFill>
                  <a:srgbClr val="444455"/>
                </a:solidFill>
                <a:latin typeface="Calibri"/>
              </a:rPr>
              <a:t>We refine over time, not all upfront.</a:t>
            </a:r>
          </a:p>
          <a:p>
            <a:pPr>
              <a:spcBef>
                <a:spcPts val="0"/>
              </a:spcBef>
              <a:spcAft>
                <a:spcPts val="700"/>
              </a:spcAft>
            </a:pPr>
            <a:r>
              <a:rPr sz="1400" b="1" i="0">
                <a:solidFill>
                  <a:srgbClr val="5B5BE6"/>
                </a:solidFill>
                <a:latin typeface="Calibri"/>
              </a:rPr>
              <a:t>•  </a:t>
            </a:r>
            <a:r>
              <a:rPr sz="1400" b="1" i="0">
                <a:solidFill>
                  <a:srgbClr val="444455"/>
                </a:solidFill>
                <a:latin typeface="Calibri"/>
              </a:rPr>
              <a:t>Changeable forever. </a:t>
            </a:r>
            <a:r>
              <a:rPr sz="1400" b="0" i="0">
                <a:solidFill>
                  <a:srgbClr val="444455"/>
                </a:solidFill>
                <a:latin typeface="Calibri"/>
              </a:rPr>
              <a:t>A small mode switch lives in the header (see next slide).</a:t>
            </a:r>
          </a:p>
        </p:txBody>
      </p:sp>
      <p:sp>
        <p:nvSpPr>
          <p:cNvPr id="12" name="Rounded Rectangle 11"/>
          <p:cNvSpPr/>
          <p:nvPr/>
        </p:nvSpPr>
        <p:spPr>
          <a:xfrm>
            <a:off x="4206240" y="4937760"/>
            <a:ext cx="7573975" cy="1417320"/>
          </a:xfrm>
          <a:prstGeom prst="roundRect">
            <a:avLst/>
          </a:prstGeom>
          <a:solidFill>
            <a:srgbClr val="EAF7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64592" tIns="118872"/>
          <a:lstStyle/>
          <a:p>
            <a:pPr algn="l">
              <a:spcBef>
                <a:spcPts val="0"/>
              </a:spcBef>
              <a:spcAft>
                <a:spcPts val="400"/>
              </a:spcAft>
            </a:pPr>
            <a:r>
              <a:rPr sz="1400" b="1" i="0">
                <a:solidFill>
                  <a:srgbClr val="2A9D6E"/>
                </a:solidFill>
                <a:latin typeface="Calibri"/>
              </a:rPr>
              <a:t>Why open with this</a:t>
            </a:r>
          </a:p>
          <a:p>
            <a:pPr algn="l">
              <a:spcBef>
                <a:spcPts val="0"/>
              </a:spcBef>
              <a:spcAft>
                <a:spcPts val="500"/>
              </a:spcAft>
            </a:pPr>
            <a:r>
              <a:rPr sz="1350" b="0" i="0">
                <a:solidFill>
                  <a:srgbClr val="444455"/>
                </a:solidFill>
                <a:latin typeface="Calibri"/>
              </a:rPr>
              <a:t>It's the single most useful thing to know about a learner, and the thing the app ignores today. Babbel and Duolingo both open this way for the same reason.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2A9D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424160" cy="365760"/>
          </a:xfrm>
          <a:prstGeom prst="rect">
            <a:avLst/>
          </a:prstGeom>
          <a:noFill/>
        </p:spPr>
        <p:txBody>
          <a:bodyPr wrap="square" anchor="t" lIns="45720" rIns="45720" tIns="18288" bIns="18288">
            <a:spAutoFit/>
          </a:bodyPr>
          <a:lstStyle/>
          <a:p>
            <a:pPr algn="l">
              <a:spcBef>
                <a:spcPts val="0"/>
              </a:spcBef>
              <a:spcAft>
                <a:spcPts val="200"/>
              </a:spcAft>
            </a:pPr>
            <a:r>
              <a:rPr sz="1200" b="1" i="0">
                <a:solidFill>
                  <a:srgbClr val="2A9D6E"/>
                </a:solidFill>
                <a:latin typeface="Calibri"/>
              </a:rPr>
              <a:t>SEE IT IN ACTION (3 OF 8)</a:t>
            </a:r>
          </a:p>
        </p:txBody>
      </p:sp>
      <p:sp>
        <p:nvSpPr>
          <p:cNvPr id="5" name="TextBox 4"/>
          <p:cNvSpPr txBox="1"/>
          <p:nvPr/>
        </p:nvSpPr>
        <p:spPr>
          <a:xfrm>
            <a:off x="502920" y="585216"/>
            <a:ext cx="10881360" cy="868680"/>
          </a:xfrm>
          <a:prstGeom prst="rect">
            <a:avLst/>
          </a:prstGeom>
          <a:noFill/>
        </p:spPr>
        <p:txBody>
          <a:bodyPr wrap="square" anchor="t" lIns="45720" rIns="45720" tIns="18288" bIns="18288">
            <a:spAutoFit/>
          </a:bodyPr>
          <a:lstStyle/>
          <a:p>
            <a:pPr algn="l">
              <a:spcBef>
                <a:spcPts val="0"/>
              </a:spcBef>
              <a:spcAft>
                <a:spcPts val="0"/>
              </a:spcAft>
            </a:pPr>
            <a:r>
              <a:rPr sz="2600" b="1" i="0">
                <a:solidFill>
                  <a:srgbClr val="1E1B2E"/>
                </a:solidFill>
                <a:latin typeface="Calibri"/>
              </a:rPr>
              <a:t>Work mode: sector, situation, counterpart</a:t>
            </a:r>
          </a:p>
        </p:txBody>
      </p:sp>
      <p:sp>
        <p:nvSpPr>
          <p:cNvPr id="6" name="Rounded Rectangle 5"/>
          <p:cNvSpPr/>
          <p:nvPr/>
        </p:nvSpPr>
        <p:spPr>
          <a:xfrm>
            <a:off x="11338560" y="310896"/>
            <a:ext cx="566928" cy="384048"/>
          </a:xfrm>
          <a:prstGeom prst="roundRect">
            <a:avLst/>
          </a:prstGeom>
          <a:solidFill>
            <a:srgbClr val="F4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i="0">
                <a:solidFill>
                  <a:srgbClr val="5B5BE6"/>
                </a:solidFill>
                <a:latin typeface="Calibri"/>
              </a:rPr>
              <a:t>19</a:t>
            </a:r>
          </a:p>
        </p:txBody>
      </p:sp>
      <p:sp>
        <p:nvSpPr>
          <p:cNvPr id="7" name="Rectangle 6"/>
          <p:cNvSpPr/>
          <p:nvPr/>
        </p:nvSpPr>
        <p:spPr>
          <a:xfrm>
            <a:off x="502920" y="1335024"/>
            <a:ext cx="1920240" cy="36576"/>
          </a:xfrm>
          <a:prstGeom prst="rect">
            <a:avLst/>
          </a:prstGeom>
          <a:solidFill>
            <a:srgbClr val="2A9D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hot-08-work-mode.png"/>
          <p:cNvPicPr>
            <a:picLocks noChangeAspect="1"/>
          </p:cNvPicPr>
          <p:nvPr/>
        </p:nvPicPr>
        <p:blipFill>
          <a:blip r:embed="rId2"/>
          <a:stretch>
            <a:fillRect/>
          </a:stretch>
        </p:blipFill>
        <p:spPr>
          <a:xfrm>
            <a:off x="640080" y="1691640"/>
            <a:ext cx="2026670" cy="4754880"/>
          </a:xfrm>
          <a:prstGeom prst="rect">
            <a:avLst/>
          </a:prstGeom>
        </p:spPr>
      </p:pic>
      <p:sp>
        <p:nvSpPr>
          <p:cNvPr id="9" name="Rounded Rectangle 8"/>
          <p:cNvSpPr/>
          <p:nvPr/>
        </p:nvSpPr>
        <p:spPr>
          <a:xfrm>
            <a:off x="640080" y="1691640"/>
            <a:ext cx="2026670" cy="4754880"/>
          </a:xfrm>
          <a:prstGeom prst="roundRect">
            <a:avLst/>
          </a:prstGeom>
          <a:noFill/>
          <a:ln w="15240">
            <a:solidFill>
              <a:srgbClr val="CFCD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0080" y="1307592"/>
            <a:ext cx="2026670" cy="310896"/>
          </a:xfrm>
          <a:prstGeom prst="roundRect">
            <a:avLst/>
          </a:prstGeom>
          <a:solidFill>
            <a:srgbClr val="2A9D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FFFFFF"/>
                </a:solidFill>
                <a:latin typeface="Calibri"/>
              </a:rPr>
              <a:t>PROPOSED  ·  Work mode</a:t>
            </a:r>
          </a:p>
        </p:txBody>
      </p:sp>
      <p:sp>
        <p:nvSpPr>
          <p:cNvPr id="11" name="TextBox 10"/>
          <p:cNvSpPr txBox="1"/>
          <p:nvPr/>
        </p:nvSpPr>
        <p:spPr>
          <a:xfrm>
            <a:off x="4206240" y="1828800"/>
            <a:ext cx="7573975" cy="4572000"/>
          </a:xfrm>
          <a:prstGeom prst="rect">
            <a:avLst/>
          </a:prstGeom>
          <a:noFill/>
        </p:spPr>
        <p:txBody>
          <a:bodyPr wrap="square" anchor="t" lIns="45720" rIns="45720" tIns="18288" bIns="18288">
            <a:spAutoFit/>
          </a:bodyPr>
          <a:lstStyle/>
          <a:p>
            <a:pPr algn="l">
              <a:spcBef>
                <a:spcPts val="0"/>
              </a:spcBef>
              <a:spcAft>
                <a:spcPts val="800"/>
              </a:spcAft>
            </a:pPr>
            <a:r>
              <a:rPr sz="1600" b="1" i="0">
                <a:solidFill>
                  <a:srgbClr val="1E1B2E"/>
                </a:solidFill>
                <a:latin typeface="Calibri"/>
              </a:rPr>
              <a:t>This is the payoff of the whole Mode idea.</a:t>
            </a:r>
          </a:p>
          <a:p>
            <a:pPr algn="l">
              <a:spcBef>
                <a:spcPts val="0"/>
              </a:spcBef>
              <a:spcAft>
                <a:spcPts val="1000"/>
              </a:spcAft>
            </a:pPr>
            <a:r>
              <a:rPr sz="1450" b="0" i="0">
                <a:solidFill>
                  <a:srgbClr val="444455"/>
                </a:solidFill>
                <a:latin typeface="Calibri"/>
              </a:rPr>
              <a:t>A care worker has set Mode = Work and Sector = Care. The screen now offers job-specific labels no general app gives: the workplace situation (shift handover) and who they're speaking to (a manager), which sets the right formality automatically.</a:t>
            </a:r>
          </a:p>
          <a:p>
            <a:pPr>
              <a:spcBef>
                <a:spcPts val="0"/>
              </a:spcBef>
              <a:spcAft>
                <a:spcPts val="700"/>
              </a:spcAft>
            </a:pPr>
            <a:r>
              <a:rPr sz="1400" b="1" i="0">
                <a:solidFill>
                  <a:srgbClr val="5B5BE6"/>
                </a:solidFill>
                <a:latin typeface="Calibri"/>
              </a:rPr>
              <a:t>•  </a:t>
            </a:r>
            <a:r>
              <a:rPr sz="1400" b="1" i="0">
                <a:solidFill>
                  <a:srgbClr val="444455"/>
                </a:solidFill>
                <a:latin typeface="Calibri"/>
              </a:rPr>
              <a:t>The header pill </a:t>
            </a:r>
            <a:r>
              <a:rPr sz="1400" b="0" i="0">
                <a:solidFill>
                  <a:srgbClr val="444455"/>
                </a:solidFill>
                <a:latin typeface="Calibri"/>
              </a:rPr>
              <a:t>(“Beruf”) is the always-there mode switch.</a:t>
            </a:r>
          </a:p>
          <a:p>
            <a:pPr>
              <a:spcBef>
                <a:spcPts val="0"/>
              </a:spcBef>
              <a:spcAft>
                <a:spcPts val="700"/>
              </a:spcAft>
            </a:pPr>
            <a:r>
              <a:rPr sz="1400" b="1" i="0">
                <a:solidFill>
                  <a:srgbClr val="5B5BE6"/>
                </a:solidFill>
                <a:latin typeface="Calibri"/>
              </a:rPr>
              <a:t>•  </a:t>
            </a:r>
            <a:r>
              <a:rPr sz="1400" b="1" i="0">
                <a:solidFill>
                  <a:srgbClr val="444455"/>
                </a:solidFill>
                <a:latin typeface="Calibri"/>
              </a:rPr>
              <a:t>Words are real care vocabulary: </a:t>
            </a:r>
            <a:r>
              <a:rPr sz="1400" b="0" i="0">
                <a:solidFill>
                  <a:srgbClr val="444455"/>
                </a:solidFill>
                <a:latin typeface="Calibri"/>
              </a:rPr>
              <a:t>Übergabe, Dienstplan, Medikamentengabe, each tagged “Care”.</a:t>
            </a:r>
          </a:p>
        </p:txBody>
      </p:sp>
      <p:sp>
        <p:nvSpPr>
          <p:cNvPr id="12" name="Rounded Rectangle 11"/>
          <p:cNvSpPr/>
          <p:nvPr/>
        </p:nvSpPr>
        <p:spPr>
          <a:xfrm>
            <a:off x="4206240" y="5074920"/>
            <a:ext cx="7573975" cy="1371600"/>
          </a:xfrm>
          <a:prstGeom prst="roundRect">
            <a:avLst/>
          </a:prstGeom>
          <a:solidFill>
            <a:srgbClr val="EAF7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64592" tIns="118872"/>
          <a:lstStyle/>
          <a:p>
            <a:pPr algn="l">
              <a:spcBef>
                <a:spcPts val="0"/>
              </a:spcBef>
              <a:spcAft>
                <a:spcPts val="400"/>
              </a:spcAft>
            </a:pPr>
            <a:r>
              <a:rPr sz="1400" b="1" i="0">
                <a:solidFill>
                  <a:srgbClr val="2A9D6E"/>
                </a:solidFill>
                <a:latin typeface="Calibri"/>
              </a:rPr>
              <a:t>Directly mirrors the German system</a:t>
            </a:r>
          </a:p>
          <a:p>
            <a:pPr algn="l">
              <a:spcBef>
                <a:spcPts val="0"/>
              </a:spcBef>
              <a:spcAft>
                <a:spcPts val="500"/>
              </a:spcAft>
            </a:pPr>
            <a:r>
              <a:rPr sz="1350" b="0" i="0">
                <a:solidFill>
                  <a:srgbClr val="444455"/>
                </a:solidFill>
                <a:latin typeface="Calibri"/>
              </a:rPr>
              <a:t>“Care sector” + “talking to a supervisor” are exactly the axes telc and the state courses use. This screen is what makes us credible for job-German learners.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2A9D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424160" cy="365760"/>
          </a:xfrm>
          <a:prstGeom prst="rect">
            <a:avLst/>
          </a:prstGeom>
          <a:noFill/>
        </p:spPr>
        <p:txBody>
          <a:bodyPr wrap="square" anchor="t" lIns="45720" rIns="45720" tIns="18288" bIns="18288">
            <a:spAutoFit/>
          </a:bodyPr>
          <a:lstStyle/>
          <a:p>
            <a:pPr algn="l">
              <a:spcBef>
                <a:spcPts val="0"/>
              </a:spcBef>
              <a:spcAft>
                <a:spcPts val="200"/>
              </a:spcAft>
            </a:pPr>
            <a:r>
              <a:rPr sz="1200" b="1" i="0">
                <a:solidFill>
                  <a:srgbClr val="2A9D6E"/>
                </a:solidFill>
                <a:latin typeface="Calibri"/>
              </a:rPr>
              <a:t>SEE IT IN ACTION (4 OF 8)</a:t>
            </a:r>
          </a:p>
        </p:txBody>
      </p:sp>
      <p:sp>
        <p:nvSpPr>
          <p:cNvPr id="5" name="TextBox 4"/>
          <p:cNvSpPr txBox="1"/>
          <p:nvPr/>
        </p:nvSpPr>
        <p:spPr>
          <a:xfrm>
            <a:off x="502920" y="585216"/>
            <a:ext cx="10881360" cy="868680"/>
          </a:xfrm>
          <a:prstGeom prst="rect">
            <a:avLst/>
          </a:prstGeom>
          <a:noFill/>
        </p:spPr>
        <p:txBody>
          <a:bodyPr wrap="square" anchor="t" lIns="45720" rIns="45720" tIns="18288" bIns="18288">
            <a:spAutoFit/>
          </a:bodyPr>
          <a:lstStyle/>
          <a:p>
            <a:pPr algn="l">
              <a:spcBef>
                <a:spcPts val="0"/>
              </a:spcBef>
              <a:spcAft>
                <a:spcPts val="0"/>
              </a:spcAft>
            </a:pPr>
            <a:r>
              <a:rPr sz="2600" b="1" i="0">
                <a:solidFill>
                  <a:srgbClr val="1E1B2E"/>
                </a:solidFill>
                <a:latin typeface="Calibri"/>
              </a:rPr>
              <a:t>Start from a goal, not a word list</a:t>
            </a:r>
          </a:p>
        </p:txBody>
      </p:sp>
      <p:sp>
        <p:nvSpPr>
          <p:cNvPr id="6" name="Rounded Rectangle 5"/>
          <p:cNvSpPr/>
          <p:nvPr/>
        </p:nvSpPr>
        <p:spPr>
          <a:xfrm>
            <a:off x="11338560" y="310896"/>
            <a:ext cx="566928" cy="384048"/>
          </a:xfrm>
          <a:prstGeom prst="roundRect">
            <a:avLst/>
          </a:prstGeom>
          <a:solidFill>
            <a:srgbClr val="F4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i="0">
                <a:solidFill>
                  <a:srgbClr val="5B5BE6"/>
                </a:solidFill>
                <a:latin typeface="Calibri"/>
              </a:rPr>
              <a:t>20</a:t>
            </a:r>
          </a:p>
        </p:txBody>
      </p:sp>
      <p:sp>
        <p:nvSpPr>
          <p:cNvPr id="7" name="Rectangle 6"/>
          <p:cNvSpPr/>
          <p:nvPr/>
        </p:nvSpPr>
        <p:spPr>
          <a:xfrm>
            <a:off x="502920" y="1335024"/>
            <a:ext cx="1920240" cy="36576"/>
          </a:xfrm>
          <a:prstGeom prst="rect">
            <a:avLst/>
          </a:prstGeom>
          <a:solidFill>
            <a:srgbClr val="2A9D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hot-04-intent.png"/>
          <p:cNvPicPr>
            <a:picLocks noChangeAspect="1"/>
          </p:cNvPicPr>
          <p:nvPr/>
        </p:nvPicPr>
        <p:blipFill>
          <a:blip r:embed="rId2"/>
          <a:stretch>
            <a:fillRect/>
          </a:stretch>
        </p:blipFill>
        <p:spPr>
          <a:xfrm>
            <a:off x="640080" y="1691640"/>
            <a:ext cx="2026670" cy="4754880"/>
          </a:xfrm>
          <a:prstGeom prst="rect">
            <a:avLst/>
          </a:prstGeom>
        </p:spPr>
      </p:pic>
      <p:sp>
        <p:nvSpPr>
          <p:cNvPr id="9" name="Rounded Rectangle 8"/>
          <p:cNvSpPr/>
          <p:nvPr/>
        </p:nvSpPr>
        <p:spPr>
          <a:xfrm>
            <a:off x="640080" y="1691640"/>
            <a:ext cx="2026670" cy="4754880"/>
          </a:xfrm>
          <a:prstGeom prst="roundRect">
            <a:avLst/>
          </a:prstGeom>
          <a:noFill/>
          <a:ln w="15240">
            <a:solidFill>
              <a:srgbClr val="CFCD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0080" y="1307592"/>
            <a:ext cx="2026670" cy="310896"/>
          </a:xfrm>
          <a:prstGeom prst="roundRect">
            <a:avLst/>
          </a:prstGeom>
          <a:solidFill>
            <a:srgbClr val="2A9D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FFFFFF"/>
                </a:solidFill>
                <a:latin typeface="Calibri"/>
              </a:rPr>
              <a:t>PROPOSED  ·  Home screen</a:t>
            </a:r>
          </a:p>
        </p:txBody>
      </p:sp>
      <p:sp>
        <p:nvSpPr>
          <p:cNvPr id="11" name="TextBox 10"/>
          <p:cNvSpPr txBox="1"/>
          <p:nvPr/>
        </p:nvSpPr>
        <p:spPr>
          <a:xfrm>
            <a:off x="4206240" y="1828800"/>
            <a:ext cx="7573975" cy="4572000"/>
          </a:xfrm>
          <a:prstGeom prst="rect">
            <a:avLst/>
          </a:prstGeom>
          <a:noFill/>
        </p:spPr>
        <p:txBody>
          <a:bodyPr wrap="square" anchor="t" lIns="45720" rIns="45720" tIns="18288" bIns="18288">
            <a:spAutoFit/>
          </a:bodyPr>
          <a:lstStyle/>
          <a:p>
            <a:pPr algn="l">
              <a:spcBef>
                <a:spcPts val="0"/>
              </a:spcBef>
              <a:spcAft>
                <a:spcPts val="800"/>
              </a:spcAft>
            </a:pPr>
            <a:r>
              <a:rPr sz="1600" b="1" i="0">
                <a:solidFill>
                  <a:srgbClr val="1E1B2E"/>
                </a:solidFill>
                <a:latin typeface="Calibri"/>
              </a:rPr>
              <a:t>The home screen leads with real situations, tuned to your Mode.</a:t>
            </a:r>
          </a:p>
          <a:p>
            <a:pPr algn="l">
              <a:spcBef>
                <a:spcPts val="0"/>
              </a:spcBef>
              <a:spcAft>
                <a:spcPts val="1200"/>
              </a:spcAft>
            </a:pPr>
            <a:r>
              <a:rPr sz="1450" b="0" i="0">
                <a:solidFill>
                  <a:srgbClr val="444455"/>
                </a:solidFill>
                <a:latin typeface="Calibri"/>
              </a:rPr>
              <a:t>Tapping a card sets the right labels behind the scenes and drops the learner straight into the matching words, phrases and exercises. Work mode shows work goals; Personal mode shows life goals.</a:t>
            </a:r>
          </a:p>
          <a:p>
            <a:pPr>
              <a:spcBef>
                <a:spcPts val="0"/>
              </a:spcBef>
              <a:spcAft>
                <a:spcPts val="700"/>
              </a:spcAft>
            </a:pPr>
            <a:r>
              <a:rPr sz="1400" b="1" i="0">
                <a:solidFill>
                  <a:srgbClr val="5B5BE6"/>
                </a:solidFill>
                <a:latin typeface="Calibri"/>
              </a:rPr>
              <a:t>•  </a:t>
            </a:r>
            <a:r>
              <a:rPr sz="1400" b="1" i="0">
                <a:solidFill>
                  <a:srgbClr val="444455"/>
                </a:solidFill>
                <a:latin typeface="Calibri"/>
              </a:rPr>
              <a:t>“Register at the Bürgeramt” </a:t>
            </a:r>
            <a:r>
              <a:rPr sz="1400" b="0" i="0">
                <a:solidFill>
                  <a:srgbClr val="444455"/>
                </a:solidFill>
                <a:latin typeface="Calibri"/>
              </a:rPr>
              <a:t>→ Behörde, B1–B2, 15-min set.</a:t>
            </a:r>
          </a:p>
          <a:p>
            <a:pPr>
              <a:spcBef>
                <a:spcPts val="0"/>
              </a:spcBef>
              <a:spcAft>
                <a:spcPts val="700"/>
              </a:spcAft>
            </a:pPr>
            <a:r>
              <a:rPr sz="1400" b="1" i="0">
                <a:solidFill>
                  <a:srgbClr val="5B5BE6"/>
                </a:solidFill>
                <a:latin typeface="Calibri"/>
              </a:rPr>
              <a:t>•  </a:t>
            </a:r>
            <a:r>
              <a:rPr sz="1400" b="1" i="0">
                <a:solidFill>
                  <a:srgbClr val="444455"/>
                </a:solidFill>
                <a:latin typeface="Calibri"/>
              </a:rPr>
              <a:t>“Practice a job interview” </a:t>
            </a:r>
            <a:r>
              <a:rPr sz="1400" b="0" i="0">
                <a:solidFill>
                  <a:srgbClr val="444455"/>
                </a:solidFill>
                <a:latin typeface="Calibri"/>
              </a:rPr>
              <a:t>→ work topics, B2, speaking.</a:t>
            </a:r>
          </a:p>
          <a:p>
            <a:pPr algn="l">
              <a:spcBef>
                <a:spcPts val="0"/>
              </a:spcBef>
              <a:spcAft>
                <a:spcPts val="0"/>
              </a:spcAft>
            </a:pPr>
            <a:r>
              <a:rPr sz="1350" b="0" i="1">
                <a:solidFill>
                  <a:srgbClr val="777488"/>
                </a:solidFill>
                <a:latin typeface="Calibri"/>
              </a:rPr>
              <a:t>Browsing by topic still exists, just below. This is the welcome mat, not the only door.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2A9D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424160" cy="365760"/>
          </a:xfrm>
          <a:prstGeom prst="rect">
            <a:avLst/>
          </a:prstGeom>
          <a:noFill/>
        </p:spPr>
        <p:txBody>
          <a:bodyPr wrap="square" anchor="t" lIns="45720" rIns="45720" tIns="18288" bIns="18288">
            <a:spAutoFit/>
          </a:bodyPr>
          <a:lstStyle/>
          <a:p>
            <a:pPr algn="l">
              <a:spcBef>
                <a:spcPts val="0"/>
              </a:spcBef>
              <a:spcAft>
                <a:spcPts val="200"/>
              </a:spcAft>
            </a:pPr>
            <a:r>
              <a:rPr sz="1200" b="1" i="0">
                <a:solidFill>
                  <a:srgbClr val="2A9D6E"/>
                </a:solidFill>
                <a:latin typeface="Calibri"/>
              </a:rPr>
              <a:t>SEE IT IN ACTION (5 OF 8)</a:t>
            </a:r>
          </a:p>
        </p:txBody>
      </p:sp>
      <p:sp>
        <p:nvSpPr>
          <p:cNvPr id="5" name="TextBox 4"/>
          <p:cNvSpPr txBox="1"/>
          <p:nvPr/>
        </p:nvSpPr>
        <p:spPr>
          <a:xfrm>
            <a:off x="502920" y="585216"/>
            <a:ext cx="10881360" cy="868680"/>
          </a:xfrm>
          <a:prstGeom prst="rect">
            <a:avLst/>
          </a:prstGeom>
          <a:noFill/>
        </p:spPr>
        <p:txBody>
          <a:bodyPr wrap="square" anchor="t" lIns="45720" rIns="45720" tIns="18288" bIns="18288">
            <a:spAutoFit/>
          </a:bodyPr>
          <a:lstStyle/>
          <a:p>
            <a:pPr algn="l">
              <a:spcBef>
                <a:spcPts val="0"/>
              </a:spcBef>
              <a:spcAft>
                <a:spcPts val="0"/>
              </a:spcAft>
            </a:pPr>
            <a:r>
              <a:rPr sz="2600" b="1" i="0">
                <a:solidFill>
                  <a:srgbClr val="1E1B2E"/>
                </a:solidFill>
                <a:latin typeface="Calibri"/>
              </a:rPr>
              <a:t>Drilling into a topic</a:t>
            </a:r>
          </a:p>
        </p:txBody>
      </p:sp>
      <p:sp>
        <p:nvSpPr>
          <p:cNvPr id="6" name="Rounded Rectangle 5"/>
          <p:cNvSpPr/>
          <p:nvPr/>
        </p:nvSpPr>
        <p:spPr>
          <a:xfrm>
            <a:off x="11338560" y="310896"/>
            <a:ext cx="566928" cy="384048"/>
          </a:xfrm>
          <a:prstGeom prst="roundRect">
            <a:avLst/>
          </a:prstGeom>
          <a:solidFill>
            <a:srgbClr val="F4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i="0">
                <a:solidFill>
                  <a:srgbClr val="5B5BE6"/>
                </a:solidFill>
                <a:latin typeface="Calibri"/>
              </a:rPr>
              <a:t>21</a:t>
            </a:r>
          </a:p>
        </p:txBody>
      </p:sp>
      <p:sp>
        <p:nvSpPr>
          <p:cNvPr id="7" name="Rectangle 6"/>
          <p:cNvSpPr/>
          <p:nvPr/>
        </p:nvSpPr>
        <p:spPr>
          <a:xfrm>
            <a:off x="502920" y="1335024"/>
            <a:ext cx="1920240" cy="36576"/>
          </a:xfrm>
          <a:prstGeom prst="rect">
            <a:avLst/>
          </a:prstGeom>
          <a:solidFill>
            <a:srgbClr val="2A9D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hot-03-subtheme.png"/>
          <p:cNvPicPr>
            <a:picLocks noChangeAspect="1"/>
          </p:cNvPicPr>
          <p:nvPr/>
        </p:nvPicPr>
        <p:blipFill>
          <a:blip r:embed="rId2"/>
          <a:stretch>
            <a:fillRect/>
          </a:stretch>
        </p:blipFill>
        <p:spPr>
          <a:xfrm>
            <a:off x="640080" y="1691640"/>
            <a:ext cx="2026670" cy="4754880"/>
          </a:xfrm>
          <a:prstGeom prst="rect">
            <a:avLst/>
          </a:prstGeom>
        </p:spPr>
      </p:pic>
      <p:sp>
        <p:nvSpPr>
          <p:cNvPr id="9" name="Rounded Rectangle 8"/>
          <p:cNvSpPr/>
          <p:nvPr/>
        </p:nvSpPr>
        <p:spPr>
          <a:xfrm>
            <a:off x="640080" y="1691640"/>
            <a:ext cx="2026670" cy="4754880"/>
          </a:xfrm>
          <a:prstGeom prst="roundRect">
            <a:avLst/>
          </a:prstGeom>
          <a:noFill/>
          <a:ln w="15240">
            <a:solidFill>
              <a:srgbClr val="CFCD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0080" y="1307592"/>
            <a:ext cx="2026670" cy="310896"/>
          </a:xfrm>
          <a:prstGeom prst="roundRect">
            <a:avLst/>
          </a:prstGeom>
          <a:solidFill>
            <a:srgbClr val="2A9D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FFFFFF"/>
                </a:solidFill>
                <a:latin typeface="Calibri"/>
              </a:rPr>
              <a:t>PROPOSED  ·  Sub-topic picker</a:t>
            </a:r>
          </a:p>
        </p:txBody>
      </p:sp>
      <p:sp>
        <p:nvSpPr>
          <p:cNvPr id="11" name="TextBox 10"/>
          <p:cNvSpPr txBox="1"/>
          <p:nvPr/>
        </p:nvSpPr>
        <p:spPr>
          <a:xfrm>
            <a:off x="4206240" y="1828800"/>
            <a:ext cx="7573975" cy="4572000"/>
          </a:xfrm>
          <a:prstGeom prst="rect">
            <a:avLst/>
          </a:prstGeom>
          <a:noFill/>
        </p:spPr>
        <p:txBody>
          <a:bodyPr wrap="square" anchor="t" lIns="45720" rIns="45720" tIns="18288" bIns="18288">
            <a:spAutoFit/>
          </a:bodyPr>
          <a:lstStyle/>
          <a:p>
            <a:pPr algn="l">
              <a:spcBef>
                <a:spcPts val="0"/>
              </a:spcBef>
              <a:spcAft>
                <a:spcPts val="800"/>
              </a:spcAft>
            </a:pPr>
            <a:r>
              <a:rPr sz="1600" b="1" i="0">
                <a:solidFill>
                  <a:srgbClr val="1E1B2E"/>
                </a:solidFill>
                <a:latin typeface="Calibri"/>
              </a:rPr>
              <a:t>Inside “Authorities &amp; bureaucracy.”</a:t>
            </a:r>
          </a:p>
          <a:p>
            <a:pPr algn="l">
              <a:spcBef>
                <a:spcPts val="0"/>
              </a:spcBef>
              <a:spcAft>
                <a:spcPts val="1200"/>
              </a:spcAft>
            </a:pPr>
            <a:r>
              <a:rPr sz="1450" b="0" i="0">
                <a:solidFill>
                  <a:srgbClr val="444455"/>
                </a:solidFill>
                <a:latin typeface="Calibri"/>
              </a:rPr>
              <a:t>Instead of 28 words in one list, the learner picks a clear sub-topic. Each row shows how much content sits inside and at what level, so there are no surprises.</a:t>
            </a:r>
          </a:p>
          <a:p>
            <a:pPr algn="l">
              <a:spcBef>
                <a:spcPts val="0"/>
              </a:spcBef>
              <a:spcAft>
                <a:spcPts val="1200"/>
              </a:spcAft>
            </a:pPr>
            <a:r>
              <a:rPr sz="1450" b="0" i="0">
                <a:solidFill>
                  <a:srgbClr val="444455"/>
                </a:solidFill>
                <a:latin typeface="Calibri"/>
              </a:rPr>
              <a:t>The same pattern works for every topic, so the app feels consistent as it grows from 11 topics to 50.</a:t>
            </a:r>
          </a:p>
        </p:txBody>
      </p:sp>
      <p:sp>
        <p:nvSpPr>
          <p:cNvPr id="12" name="Rounded Rectangle 11"/>
          <p:cNvSpPr/>
          <p:nvPr/>
        </p:nvSpPr>
        <p:spPr>
          <a:xfrm>
            <a:off x="4206240" y="4754880"/>
            <a:ext cx="7573975" cy="1371600"/>
          </a:xfrm>
          <a:prstGeom prst="roundRect">
            <a:avLst/>
          </a:prstGeom>
          <a:solidFill>
            <a:srgbClr val="EAF7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64592" tIns="118872"/>
          <a:lstStyle/>
          <a:p>
            <a:pPr algn="l">
              <a:spcBef>
                <a:spcPts val="0"/>
              </a:spcBef>
              <a:spcAft>
                <a:spcPts val="400"/>
              </a:spcAft>
            </a:pPr>
            <a:r>
              <a:rPr sz="1400" b="1" i="0">
                <a:solidFill>
                  <a:srgbClr val="2A9D6E"/>
                </a:solidFill>
                <a:latin typeface="Calibri"/>
              </a:rPr>
              <a:t>Where the sub-topics come from</a:t>
            </a:r>
          </a:p>
          <a:p>
            <a:pPr algn="l">
              <a:spcBef>
                <a:spcPts val="0"/>
              </a:spcBef>
              <a:spcAft>
                <a:spcPts val="500"/>
              </a:spcAft>
            </a:pPr>
            <a:r>
              <a:rPr sz="1350" b="0" i="0">
                <a:solidFill>
                  <a:srgbClr val="444455"/>
                </a:solidFill>
                <a:latin typeface="Calibri"/>
              </a:rPr>
              <a:t>We already wrote a “situations” list for every topic. Those lines become these sub-topics almost directly, so this is mostly relabeling, not new writing.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2A9D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424160" cy="365760"/>
          </a:xfrm>
          <a:prstGeom prst="rect">
            <a:avLst/>
          </a:prstGeom>
          <a:noFill/>
        </p:spPr>
        <p:txBody>
          <a:bodyPr wrap="square" anchor="t" lIns="45720" rIns="45720" tIns="18288" bIns="18288">
            <a:spAutoFit/>
          </a:bodyPr>
          <a:lstStyle/>
          <a:p>
            <a:pPr algn="l">
              <a:spcBef>
                <a:spcPts val="0"/>
              </a:spcBef>
              <a:spcAft>
                <a:spcPts val="200"/>
              </a:spcAft>
            </a:pPr>
            <a:r>
              <a:rPr sz="1200" b="1" i="0">
                <a:solidFill>
                  <a:srgbClr val="2A9D6E"/>
                </a:solidFill>
                <a:latin typeface="Calibri"/>
              </a:rPr>
              <a:t>SEE IT IN ACTION (6 OF 8)</a:t>
            </a:r>
          </a:p>
        </p:txBody>
      </p:sp>
      <p:sp>
        <p:nvSpPr>
          <p:cNvPr id="5" name="TextBox 4"/>
          <p:cNvSpPr txBox="1"/>
          <p:nvPr/>
        </p:nvSpPr>
        <p:spPr>
          <a:xfrm>
            <a:off x="502920" y="585216"/>
            <a:ext cx="10881360" cy="868680"/>
          </a:xfrm>
          <a:prstGeom prst="rect">
            <a:avLst/>
          </a:prstGeom>
          <a:noFill/>
        </p:spPr>
        <p:txBody>
          <a:bodyPr wrap="square" anchor="t" lIns="45720" rIns="45720" tIns="18288" bIns="18288">
            <a:spAutoFit/>
          </a:bodyPr>
          <a:lstStyle/>
          <a:p>
            <a:pPr algn="l">
              <a:spcBef>
                <a:spcPts val="0"/>
              </a:spcBef>
              <a:spcAft>
                <a:spcPts val="0"/>
              </a:spcAft>
            </a:pPr>
            <a:r>
              <a:rPr sz="2600" b="1" i="0">
                <a:solidFill>
                  <a:srgbClr val="1E1B2E"/>
                </a:solidFill>
                <a:latin typeface="Calibri"/>
              </a:rPr>
              <a:t>Everything about a word, in one place</a:t>
            </a:r>
          </a:p>
        </p:txBody>
      </p:sp>
      <p:sp>
        <p:nvSpPr>
          <p:cNvPr id="6" name="Rounded Rectangle 5"/>
          <p:cNvSpPr/>
          <p:nvPr/>
        </p:nvSpPr>
        <p:spPr>
          <a:xfrm>
            <a:off x="11338560" y="310896"/>
            <a:ext cx="566928" cy="384048"/>
          </a:xfrm>
          <a:prstGeom prst="roundRect">
            <a:avLst/>
          </a:prstGeom>
          <a:solidFill>
            <a:srgbClr val="F4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i="0">
                <a:solidFill>
                  <a:srgbClr val="5B5BE6"/>
                </a:solidFill>
                <a:latin typeface="Calibri"/>
              </a:rPr>
              <a:t>22</a:t>
            </a:r>
          </a:p>
        </p:txBody>
      </p:sp>
      <p:sp>
        <p:nvSpPr>
          <p:cNvPr id="7" name="Rectangle 6"/>
          <p:cNvSpPr/>
          <p:nvPr/>
        </p:nvSpPr>
        <p:spPr>
          <a:xfrm>
            <a:off x="502920" y="1335024"/>
            <a:ext cx="1920240" cy="36576"/>
          </a:xfrm>
          <a:prstGeom prst="rect">
            <a:avLst/>
          </a:prstGeom>
          <a:solidFill>
            <a:srgbClr val="2A9D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hot-05-cross-module.png"/>
          <p:cNvPicPr>
            <a:picLocks noChangeAspect="1"/>
          </p:cNvPicPr>
          <p:nvPr/>
        </p:nvPicPr>
        <p:blipFill>
          <a:blip r:embed="rId2"/>
          <a:stretch>
            <a:fillRect/>
          </a:stretch>
        </p:blipFill>
        <p:spPr>
          <a:xfrm>
            <a:off x="640080" y="1691640"/>
            <a:ext cx="2026670" cy="4754880"/>
          </a:xfrm>
          <a:prstGeom prst="rect">
            <a:avLst/>
          </a:prstGeom>
        </p:spPr>
      </p:pic>
      <p:sp>
        <p:nvSpPr>
          <p:cNvPr id="9" name="Rounded Rectangle 8"/>
          <p:cNvSpPr/>
          <p:nvPr/>
        </p:nvSpPr>
        <p:spPr>
          <a:xfrm>
            <a:off x="640080" y="1691640"/>
            <a:ext cx="2026670" cy="4754880"/>
          </a:xfrm>
          <a:prstGeom prst="roundRect">
            <a:avLst/>
          </a:prstGeom>
          <a:noFill/>
          <a:ln w="15240">
            <a:solidFill>
              <a:srgbClr val="CFCD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0080" y="1307592"/>
            <a:ext cx="2026670" cy="310896"/>
          </a:xfrm>
          <a:prstGeom prst="roundRect">
            <a:avLst/>
          </a:prstGeom>
          <a:solidFill>
            <a:srgbClr val="2A9D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FFFFFF"/>
                </a:solidFill>
                <a:latin typeface="Calibri"/>
              </a:rPr>
              <a:t>PROPOSED  ·  Word detail</a:t>
            </a:r>
          </a:p>
        </p:txBody>
      </p:sp>
      <p:sp>
        <p:nvSpPr>
          <p:cNvPr id="11" name="TextBox 10"/>
          <p:cNvSpPr txBox="1"/>
          <p:nvPr/>
        </p:nvSpPr>
        <p:spPr>
          <a:xfrm>
            <a:off x="4206240" y="1828800"/>
            <a:ext cx="7573975" cy="4572000"/>
          </a:xfrm>
          <a:prstGeom prst="rect">
            <a:avLst/>
          </a:prstGeom>
          <a:noFill/>
        </p:spPr>
        <p:txBody>
          <a:bodyPr wrap="square" anchor="t" lIns="45720" rIns="45720" tIns="18288" bIns="18288">
            <a:spAutoFit/>
          </a:bodyPr>
          <a:lstStyle/>
          <a:p>
            <a:pPr algn="l">
              <a:spcBef>
                <a:spcPts val="0"/>
              </a:spcBef>
              <a:spcAft>
                <a:spcPts val="800"/>
              </a:spcAft>
            </a:pPr>
            <a:r>
              <a:rPr sz="1600" b="1" i="0">
                <a:solidFill>
                  <a:srgbClr val="1E1B2E"/>
                </a:solidFill>
                <a:latin typeface="Calibri"/>
              </a:rPr>
              <a:t>Tap a word, see the whole web around it.</a:t>
            </a:r>
          </a:p>
          <a:p>
            <a:pPr algn="l">
              <a:spcBef>
                <a:spcPts val="0"/>
              </a:spcBef>
              <a:spcAft>
                <a:spcPts val="1200"/>
              </a:spcAft>
            </a:pPr>
            <a:r>
              <a:rPr sz="1450" b="0" i="0">
                <a:solidFill>
                  <a:srgbClr val="444455"/>
                </a:solidFill>
                <a:latin typeface="Calibri"/>
              </a:rPr>
              <a:t>Because every module shares the same topic labels, one word can show its matching collocation, a ready phrase, a writing task and a role-play, all automatically.</a:t>
            </a:r>
          </a:p>
          <a:p>
            <a:pPr>
              <a:spcBef>
                <a:spcPts val="0"/>
              </a:spcBef>
              <a:spcAft>
                <a:spcPts val="700"/>
              </a:spcAft>
            </a:pPr>
            <a:r>
              <a:rPr sz="1400" b="1" i="0">
                <a:solidFill>
                  <a:srgbClr val="5B5BE6"/>
                </a:solidFill>
                <a:latin typeface="Calibri"/>
              </a:rPr>
              <a:t>•  </a:t>
            </a:r>
            <a:r>
              <a:rPr sz="1400" b="1" i="0">
                <a:solidFill>
                  <a:srgbClr val="444455"/>
                </a:solidFill>
                <a:latin typeface="Calibri"/>
              </a:rPr>
              <a:t>der Bescheid </a:t>
            </a:r>
            <a:r>
              <a:rPr sz="1400" b="0" i="0">
                <a:solidFill>
                  <a:srgbClr val="444455"/>
                </a:solidFill>
                <a:latin typeface="Calibri"/>
              </a:rPr>
              <a:t>→ “einen Bescheid erhalten” (collocation)</a:t>
            </a:r>
          </a:p>
          <a:p>
            <a:pPr>
              <a:spcBef>
                <a:spcPts val="0"/>
              </a:spcBef>
              <a:spcAft>
                <a:spcPts val="700"/>
              </a:spcAft>
            </a:pPr>
            <a:r>
              <a:rPr sz="1400" b="1" i="0">
                <a:solidFill>
                  <a:srgbClr val="5B5BE6"/>
                </a:solidFill>
                <a:latin typeface="Calibri"/>
              </a:rPr>
              <a:t>•  </a:t>
            </a:r>
            <a:r>
              <a:rPr sz="1400" b="1" i="0">
                <a:solidFill>
                  <a:srgbClr val="444455"/>
                </a:solidFill>
                <a:latin typeface="Calibri"/>
              </a:rPr>
              <a:t>→ “Hiermit lege ich Widerspruch ein…” </a:t>
            </a:r>
            <a:r>
              <a:rPr sz="1400" b="0" i="0">
                <a:solidFill>
                  <a:srgbClr val="444455"/>
                </a:solidFill>
                <a:latin typeface="Calibri"/>
              </a:rPr>
              <a:t>(phrase)</a:t>
            </a:r>
          </a:p>
          <a:p>
            <a:pPr>
              <a:spcBef>
                <a:spcPts val="0"/>
              </a:spcBef>
              <a:spcAft>
                <a:spcPts val="700"/>
              </a:spcAft>
            </a:pPr>
            <a:r>
              <a:rPr sz="1400" b="1" i="0">
                <a:solidFill>
                  <a:srgbClr val="5B5BE6"/>
                </a:solidFill>
                <a:latin typeface="Calibri"/>
              </a:rPr>
              <a:t>•  </a:t>
            </a:r>
            <a:r>
              <a:rPr sz="1400" b="1" i="0">
                <a:solidFill>
                  <a:srgbClr val="444455"/>
                </a:solidFill>
                <a:latin typeface="Calibri"/>
              </a:rPr>
              <a:t>→ “Write an objection letter” </a:t>
            </a:r>
            <a:r>
              <a:rPr sz="1400" b="0" i="0">
                <a:solidFill>
                  <a:srgbClr val="444455"/>
                </a:solidFill>
                <a:latin typeface="Calibri"/>
              </a:rPr>
              <a:t>(writing task)</a:t>
            </a:r>
          </a:p>
        </p:txBody>
      </p:sp>
      <p:sp>
        <p:nvSpPr>
          <p:cNvPr id="12" name="Rounded Rectangle 11"/>
          <p:cNvSpPr/>
          <p:nvPr/>
        </p:nvSpPr>
        <p:spPr>
          <a:xfrm>
            <a:off x="4206240" y="5074920"/>
            <a:ext cx="7573975" cy="1371600"/>
          </a:xfrm>
          <a:prstGeom prst="roundRect">
            <a:avLst/>
          </a:prstGeom>
          <a:solidFill>
            <a:srgbClr val="EAF7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64592" tIns="118872"/>
          <a:lstStyle/>
          <a:p>
            <a:pPr algn="l">
              <a:spcBef>
                <a:spcPts val="0"/>
              </a:spcBef>
              <a:spcAft>
                <a:spcPts val="400"/>
              </a:spcAft>
            </a:pPr>
            <a:r>
              <a:rPr sz="1400" b="1" i="0">
                <a:solidFill>
                  <a:srgbClr val="2A9D6E"/>
                </a:solidFill>
                <a:latin typeface="Calibri"/>
              </a:rPr>
              <a:t>The payoff competitors can't copy</a:t>
            </a:r>
          </a:p>
          <a:p>
            <a:pPr algn="l">
              <a:spcBef>
                <a:spcPts val="0"/>
              </a:spcBef>
              <a:spcAft>
                <a:spcPts val="500"/>
              </a:spcAft>
            </a:pPr>
            <a:r>
              <a:rPr sz="1350" b="0" i="0">
                <a:solidFill>
                  <a:srgbClr val="444455"/>
                </a:solidFill>
                <a:latin typeface="Calibri"/>
              </a:rPr>
              <a:t>Apps with walled-off courses can't link like this. Shared labels turn four modules into one connected learning web.</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2A9D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424160" cy="365760"/>
          </a:xfrm>
          <a:prstGeom prst="rect">
            <a:avLst/>
          </a:prstGeom>
          <a:noFill/>
        </p:spPr>
        <p:txBody>
          <a:bodyPr wrap="square" anchor="t" lIns="45720" rIns="45720" tIns="18288" bIns="18288">
            <a:spAutoFit/>
          </a:bodyPr>
          <a:lstStyle/>
          <a:p>
            <a:pPr algn="l">
              <a:spcBef>
                <a:spcPts val="0"/>
              </a:spcBef>
              <a:spcAft>
                <a:spcPts val="200"/>
              </a:spcAft>
            </a:pPr>
            <a:r>
              <a:rPr sz="1200" b="1" i="0">
                <a:solidFill>
                  <a:srgbClr val="2A9D6E"/>
                </a:solidFill>
                <a:latin typeface="Calibri"/>
              </a:rPr>
              <a:t>SEE IT IN ACTION (7 OF 8)</a:t>
            </a:r>
          </a:p>
        </p:txBody>
      </p:sp>
      <p:sp>
        <p:nvSpPr>
          <p:cNvPr id="5" name="TextBox 4"/>
          <p:cNvSpPr txBox="1"/>
          <p:nvPr/>
        </p:nvSpPr>
        <p:spPr>
          <a:xfrm>
            <a:off x="502920" y="585216"/>
            <a:ext cx="10881360" cy="868680"/>
          </a:xfrm>
          <a:prstGeom prst="rect">
            <a:avLst/>
          </a:prstGeom>
          <a:noFill/>
        </p:spPr>
        <p:txBody>
          <a:bodyPr wrap="square" anchor="t" lIns="45720" rIns="45720" tIns="18288" bIns="18288">
            <a:spAutoFit/>
          </a:bodyPr>
          <a:lstStyle/>
          <a:p>
            <a:pPr algn="l">
              <a:spcBef>
                <a:spcPts val="0"/>
              </a:spcBef>
              <a:spcAft>
                <a:spcPts val="0"/>
              </a:spcAft>
            </a:pPr>
            <a:r>
              <a:rPr sz="2600" b="1" i="0">
                <a:solidFill>
                  <a:srgbClr val="1E1B2E"/>
                </a:solidFill>
                <a:latin typeface="Calibri"/>
              </a:rPr>
              <a:t>The “Advanced” filter (for power users)</a:t>
            </a:r>
          </a:p>
        </p:txBody>
      </p:sp>
      <p:sp>
        <p:nvSpPr>
          <p:cNvPr id="6" name="Rounded Rectangle 5"/>
          <p:cNvSpPr/>
          <p:nvPr/>
        </p:nvSpPr>
        <p:spPr>
          <a:xfrm>
            <a:off x="11338560" y="310896"/>
            <a:ext cx="566928" cy="384048"/>
          </a:xfrm>
          <a:prstGeom prst="roundRect">
            <a:avLst/>
          </a:prstGeom>
          <a:solidFill>
            <a:srgbClr val="F4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i="0">
                <a:solidFill>
                  <a:srgbClr val="5B5BE6"/>
                </a:solidFill>
                <a:latin typeface="Calibri"/>
              </a:rPr>
              <a:t>23</a:t>
            </a:r>
          </a:p>
        </p:txBody>
      </p:sp>
      <p:sp>
        <p:nvSpPr>
          <p:cNvPr id="7" name="Rectangle 6"/>
          <p:cNvSpPr/>
          <p:nvPr/>
        </p:nvSpPr>
        <p:spPr>
          <a:xfrm>
            <a:off x="502920" y="1335024"/>
            <a:ext cx="1920240" cy="36576"/>
          </a:xfrm>
          <a:prstGeom prst="rect">
            <a:avLst/>
          </a:prstGeom>
          <a:solidFill>
            <a:srgbClr val="2A9D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hot-06-filter-sheet.png"/>
          <p:cNvPicPr>
            <a:picLocks noChangeAspect="1"/>
          </p:cNvPicPr>
          <p:nvPr/>
        </p:nvPicPr>
        <p:blipFill>
          <a:blip r:embed="rId2"/>
          <a:stretch>
            <a:fillRect/>
          </a:stretch>
        </p:blipFill>
        <p:spPr>
          <a:xfrm>
            <a:off x="640080" y="1691640"/>
            <a:ext cx="2026670" cy="4754880"/>
          </a:xfrm>
          <a:prstGeom prst="rect">
            <a:avLst/>
          </a:prstGeom>
        </p:spPr>
      </p:pic>
      <p:sp>
        <p:nvSpPr>
          <p:cNvPr id="9" name="Rounded Rectangle 8"/>
          <p:cNvSpPr/>
          <p:nvPr/>
        </p:nvSpPr>
        <p:spPr>
          <a:xfrm>
            <a:off x="640080" y="1691640"/>
            <a:ext cx="2026670" cy="4754880"/>
          </a:xfrm>
          <a:prstGeom prst="roundRect">
            <a:avLst/>
          </a:prstGeom>
          <a:noFill/>
          <a:ln w="15240">
            <a:solidFill>
              <a:srgbClr val="CFCD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0080" y="1307592"/>
            <a:ext cx="2026670" cy="310896"/>
          </a:xfrm>
          <a:prstGeom prst="roundRect">
            <a:avLst/>
          </a:prstGeom>
          <a:solidFill>
            <a:srgbClr val="2A9D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FFFFFF"/>
                </a:solidFill>
                <a:latin typeface="Calibri"/>
              </a:rPr>
              <a:t>PROPOSED  ·  Filter sheet</a:t>
            </a:r>
          </a:p>
        </p:txBody>
      </p:sp>
      <p:sp>
        <p:nvSpPr>
          <p:cNvPr id="11" name="TextBox 10"/>
          <p:cNvSpPr txBox="1"/>
          <p:nvPr/>
        </p:nvSpPr>
        <p:spPr>
          <a:xfrm>
            <a:off x="4206240" y="1828800"/>
            <a:ext cx="7573975" cy="4572000"/>
          </a:xfrm>
          <a:prstGeom prst="rect">
            <a:avLst/>
          </a:prstGeom>
          <a:noFill/>
        </p:spPr>
        <p:txBody>
          <a:bodyPr wrap="square" anchor="t" lIns="45720" rIns="45720" tIns="18288" bIns="18288">
            <a:spAutoFit/>
          </a:bodyPr>
          <a:lstStyle/>
          <a:p>
            <a:pPr algn="l">
              <a:spcBef>
                <a:spcPts val="0"/>
              </a:spcBef>
              <a:spcAft>
                <a:spcPts val="800"/>
              </a:spcAft>
            </a:pPr>
            <a:r>
              <a:rPr sz="1600" b="1" i="0">
                <a:solidFill>
                  <a:srgbClr val="1E1B2E"/>
                </a:solidFill>
                <a:latin typeface="Calibri"/>
              </a:rPr>
              <a:t>Beginners never see this. Power users love it.</a:t>
            </a:r>
          </a:p>
          <a:p>
            <a:pPr algn="l">
              <a:spcBef>
                <a:spcPts val="0"/>
              </a:spcBef>
              <a:spcAft>
                <a:spcPts val="1200"/>
              </a:spcAft>
            </a:pPr>
            <a:r>
              <a:rPr sz="1450" b="0" i="0">
                <a:solidFill>
                  <a:srgbClr val="444455"/>
                </a:solidFill>
                <a:latin typeface="Calibri"/>
              </a:rPr>
              <a:t>Tapping “Filter” slides up this sheet. Three details make it feel smart, not fiddly:</a:t>
            </a:r>
          </a:p>
          <a:p>
            <a:pPr>
              <a:spcBef>
                <a:spcPts val="0"/>
              </a:spcBef>
              <a:spcAft>
                <a:spcPts val="700"/>
              </a:spcAft>
            </a:pPr>
            <a:r>
              <a:rPr sz="1400" b="1" i="0">
                <a:solidFill>
                  <a:srgbClr val="5B5BE6"/>
                </a:solidFill>
                <a:latin typeface="Calibri"/>
              </a:rPr>
              <a:t>•  </a:t>
            </a:r>
            <a:r>
              <a:rPr sz="1400" b="1" i="0">
                <a:solidFill>
                  <a:srgbClr val="444455"/>
                </a:solidFill>
                <a:latin typeface="Calibri"/>
              </a:rPr>
              <a:t>Live counts </a:t>
            </a:r>
            <a:r>
              <a:rPr sz="1400" b="0" i="0">
                <a:solidFill>
                  <a:srgbClr val="444455"/>
                </a:solidFill>
                <a:latin typeface="Calibri"/>
              </a:rPr>
              <a:t>on each option (“B2.1 (19)”).</a:t>
            </a:r>
          </a:p>
          <a:p>
            <a:pPr>
              <a:spcBef>
                <a:spcPts val="0"/>
              </a:spcBef>
              <a:spcAft>
                <a:spcPts val="700"/>
              </a:spcAft>
            </a:pPr>
            <a:r>
              <a:rPr sz="1400" b="1" i="0">
                <a:solidFill>
                  <a:srgbClr val="5B5BE6"/>
                </a:solidFill>
                <a:latin typeface="Calibri"/>
              </a:rPr>
              <a:t>•  </a:t>
            </a:r>
            <a:r>
              <a:rPr sz="1400" b="1" i="0">
                <a:solidFill>
                  <a:srgbClr val="444455"/>
                </a:solidFill>
                <a:latin typeface="Calibri"/>
              </a:rPr>
              <a:t>Dead ends greyed out </a:t>
            </a:r>
            <a:r>
              <a:rPr sz="1400" b="0" i="0">
                <a:solidFill>
                  <a:srgbClr val="444455"/>
                </a:solidFill>
                <a:latin typeface="Calibri"/>
              </a:rPr>
              <a:t>(“C1 (0)”), so no empty screens.</a:t>
            </a:r>
          </a:p>
          <a:p>
            <a:pPr>
              <a:spcBef>
                <a:spcPts val="0"/>
              </a:spcBef>
              <a:spcAft>
                <a:spcPts val="700"/>
              </a:spcAft>
            </a:pPr>
            <a:r>
              <a:rPr sz="1400" b="1" i="0">
                <a:solidFill>
                  <a:srgbClr val="5B5BE6"/>
                </a:solidFill>
                <a:latin typeface="Calibri"/>
              </a:rPr>
              <a:t>•  </a:t>
            </a:r>
            <a:r>
              <a:rPr sz="1400" b="1" i="0">
                <a:solidFill>
                  <a:srgbClr val="444455"/>
                </a:solidFill>
                <a:latin typeface="Calibri"/>
              </a:rPr>
              <a:t>“Hide mastered” </a:t>
            </a:r>
            <a:r>
              <a:rPr sz="1400" b="0" i="0">
                <a:solidFill>
                  <a:srgbClr val="444455"/>
                </a:solidFill>
                <a:latin typeface="Calibri"/>
              </a:rPr>
              <a:t>turns browsing into focused study.</a:t>
            </a:r>
          </a:p>
        </p:txBody>
      </p:sp>
      <p:sp>
        <p:nvSpPr>
          <p:cNvPr id="12" name="Rounded Rectangle 11"/>
          <p:cNvSpPr/>
          <p:nvPr/>
        </p:nvSpPr>
        <p:spPr>
          <a:xfrm>
            <a:off x="4206240" y="5074920"/>
            <a:ext cx="7573975" cy="1371600"/>
          </a:xfrm>
          <a:prstGeom prst="roundRect">
            <a:avLst/>
          </a:prstGeom>
          <a:solidFill>
            <a:srgbClr val="F4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64592" tIns="118872"/>
          <a:lstStyle/>
          <a:p>
            <a:pPr algn="l">
              <a:spcBef>
                <a:spcPts val="0"/>
              </a:spcBef>
              <a:spcAft>
                <a:spcPts val="400"/>
              </a:spcAft>
            </a:pPr>
            <a:r>
              <a:rPr sz="1400" b="1" i="0">
                <a:solidFill>
                  <a:srgbClr val="5B5BE6"/>
                </a:solidFill>
                <a:latin typeface="Calibri"/>
              </a:rPr>
              <a:t>The golden UX rule</a:t>
            </a:r>
          </a:p>
          <a:p>
            <a:pPr algn="l">
              <a:spcBef>
                <a:spcPts val="0"/>
              </a:spcBef>
              <a:spcAft>
                <a:spcPts val="500"/>
              </a:spcAft>
            </a:pPr>
            <a:r>
              <a:rPr sz="1350" b="0" i="0">
                <a:solidFill>
                  <a:srgbClr val="444455"/>
                </a:solidFill>
                <a:latin typeface="Calibri"/>
              </a:rPr>
              <a:t>The power must exist, but never in a beginner's face. Two simple filters by default; everything else one tap away.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2A9D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424160" cy="365760"/>
          </a:xfrm>
          <a:prstGeom prst="rect">
            <a:avLst/>
          </a:prstGeom>
          <a:noFill/>
        </p:spPr>
        <p:txBody>
          <a:bodyPr wrap="square" anchor="t" lIns="45720" rIns="45720" tIns="18288" bIns="18288">
            <a:spAutoFit/>
          </a:bodyPr>
          <a:lstStyle/>
          <a:p>
            <a:pPr algn="l">
              <a:spcBef>
                <a:spcPts val="0"/>
              </a:spcBef>
              <a:spcAft>
                <a:spcPts val="200"/>
              </a:spcAft>
            </a:pPr>
            <a:r>
              <a:rPr sz="1200" b="1" i="0">
                <a:solidFill>
                  <a:srgbClr val="2A9D6E"/>
                </a:solidFill>
                <a:latin typeface="Calibri"/>
              </a:rPr>
              <a:t>SEE IT IN ACTION (8 OF 8)</a:t>
            </a:r>
          </a:p>
        </p:txBody>
      </p:sp>
      <p:sp>
        <p:nvSpPr>
          <p:cNvPr id="5" name="TextBox 4"/>
          <p:cNvSpPr txBox="1"/>
          <p:nvPr/>
        </p:nvSpPr>
        <p:spPr>
          <a:xfrm>
            <a:off x="502920" y="585216"/>
            <a:ext cx="10881360" cy="868680"/>
          </a:xfrm>
          <a:prstGeom prst="rect">
            <a:avLst/>
          </a:prstGeom>
          <a:noFill/>
        </p:spPr>
        <p:txBody>
          <a:bodyPr wrap="square" anchor="t" lIns="45720" rIns="45720" tIns="18288" bIns="18288">
            <a:spAutoFit/>
          </a:bodyPr>
          <a:lstStyle/>
          <a:p>
            <a:pPr algn="l">
              <a:spcBef>
                <a:spcPts val="0"/>
              </a:spcBef>
              <a:spcAft>
                <a:spcPts val="0"/>
              </a:spcAft>
            </a:pPr>
            <a:r>
              <a:rPr sz="2600" b="1" i="0">
                <a:solidFill>
                  <a:srgbClr val="1E1B2E"/>
                </a:solidFill>
                <a:latin typeface="Calibri"/>
              </a:rPr>
              <a:t>The screens together</a:t>
            </a:r>
          </a:p>
        </p:txBody>
      </p:sp>
      <p:sp>
        <p:nvSpPr>
          <p:cNvPr id="6" name="Rounded Rectangle 5"/>
          <p:cNvSpPr/>
          <p:nvPr/>
        </p:nvSpPr>
        <p:spPr>
          <a:xfrm>
            <a:off x="11338560" y="310896"/>
            <a:ext cx="566928" cy="384048"/>
          </a:xfrm>
          <a:prstGeom prst="roundRect">
            <a:avLst/>
          </a:prstGeom>
          <a:solidFill>
            <a:srgbClr val="F4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i="0">
                <a:solidFill>
                  <a:srgbClr val="5B5BE6"/>
                </a:solidFill>
                <a:latin typeface="Calibri"/>
              </a:rPr>
              <a:t>24</a:t>
            </a:r>
          </a:p>
        </p:txBody>
      </p:sp>
      <p:sp>
        <p:nvSpPr>
          <p:cNvPr id="7" name="Rectangle 6"/>
          <p:cNvSpPr/>
          <p:nvPr/>
        </p:nvSpPr>
        <p:spPr>
          <a:xfrm>
            <a:off x="502920" y="1335024"/>
            <a:ext cx="1920240" cy="36576"/>
          </a:xfrm>
          <a:prstGeom prst="rect">
            <a:avLst/>
          </a:prstGeom>
          <a:solidFill>
            <a:srgbClr val="2A9D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hot-07-mode-onboarding.png"/>
          <p:cNvPicPr>
            <a:picLocks noChangeAspect="1"/>
          </p:cNvPicPr>
          <p:nvPr/>
        </p:nvPicPr>
        <p:blipFill>
          <a:blip r:embed="rId2"/>
          <a:stretch>
            <a:fillRect/>
          </a:stretch>
        </p:blipFill>
        <p:spPr>
          <a:xfrm>
            <a:off x="566928" y="1783080"/>
            <a:ext cx="1597951" cy="3749039"/>
          </a:xfrm>
          <a:prstGeom prst="rect">
            <a:avLst/>
          </a:prstGeom>
        </p:spPr>
      </p:pic>
      <p:sp>
        <p:nvSpPr>
          <p:cNvPr id="9" name="Rounded Rectangle 8"/>
          <p:cNvSpPr/>
          <p:nvPr/>
        </p:nvSpPr>
        <p:spPr>
          <a:xfrm>
            <a:off x="566928" y="1783080"/>
            <a:ext cx="1597951" cy="3749039"/>
          </a:xfrm>
          <a:prstGeom prst="roundRect">
            <a:avLst/>
          </a:prstGeom>
          <a:noFill/>
          <a:ln w="15240">
            <a:solidFill>
              <a:srgbClr val="CFCD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5623560"/>
            <a:ext cx="1597951" cy="365760"/>
          </a:xfrm>
          <a:prstGeom prst="rect">
            <a:avLst/>
          </a:prstGeom>
          <a:noFill/>
        </p:spPr>
        <p:txBody>
          <a:bodyPr wrap="square" anchor="t" lIns="45720" rIns="45720" tIns="18288" bIns="18288">
            <a:spAutoFit/>
          </a:bodyPr>
          <a:lstStyle/>
          <a:p>
            <a:pPr algn="ctr">
              <a:spcBef>
                <a:spcPts val="0"/>
              </a:spcBef>
              <a:spcAft>
                <a:spcPts val="600"/>
              </a:spcAft>
            </a:pPr>
            <a:r>
              <a:rPr sz="1150" b="1" i="0">
                <a:solidFill>
                  <a:srgbClr val="444455"/>
                </a:solidFill>
                <a:latin typeface="Calibri"/>
              </a:rPr>
              <a:t>Pick a Mode</a:t>
            </a:r>
          </a:p>
        </p:txBody>
      </p:sp>
      <p:pic>
        <p:nvPicPr>
          <p:cNvPr id="11" name="Picture 10" descr="shot-08-work-mode.png"/>
          <p:cNvPicPr>
            <a:picLocks noChangeAspect="1"/>
          </p:cNvPicPr>
          <p:nvPr/>
        </p:nvPicPr>
        <p:blipFill>
          <a:blip r:embed="rId3"/>
          <a:stretch>
            <a:fillRect/>
          </a:stretch>
        </p:blipFill>
        <p:spPr>
          <a:xfrm>
            <a:off x="2311183" y="1783080"/>
            <a:ext cx="1597951" cy="3749039"/>
          </a:xfrm>
          <a:prstGeom prst="rect">
            <a:avLst/>
          </a:prstGeom>
        </p:spPr>
      </p:pic>
      <p:sp>
        <p:nvSpPr>
          <p:cNvPr id="12" name="Rounded Rectangle 11"/>
          <p:cNvSpPr/>
          <p:nvPr/>
        </p:nvSpPr>
        <p:spPr>
          <a:xfrm>
            <a:off x="2311183" y="1783080"/>
            <a:ext cx="1597951" cy="3749039"/>
          </a:xfrm>
          <a:prstGeom prst="roundRect">
            <a:avLst/>
          </a:prstGeom>
          <a:noFill/>
          <a:ln w="15240">
            <a:solidFill>
              <a:srgbClr val="CFCD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11183" y="5623560"/>
            <a:ext cx="1597951" cy="365760"/>
          </a:xfrm>
          <a:prstGeom prst="rect">
            <a:avLst/>
          </a:prstGeom>
          <a:noFill/>
        </p:spPr>
        <p:txBody>
          <a:bodyPr wrap="square" anchor="t" lIns="45720" rIns="45720" tIns="18288" bIns="18288">
            <a:spAutoFit/>
          </a:bodyPr>
          <a:lstStyle/>
          <a:p>
            <a:pPr algn="ctr">
              <a:spcBef>
                <a:spcPts val="0"/>
              </a:spcBef>
              <a:spcAft>
                <a:spcPts val="600"/>
              </a:spcAft>
            </a:pPr>
            <a:r>
              <a:rPr sz="1150" b="1" i="0">
                <a:solidFill>
                  <a:srgbClr val="444455"/>
                </a:solidFill>
                <a:latin typeface="Calibri"/>
              </a:rPr>
              <a:t>Work mode</a:t>
            </a:r>
          </a:p>
        </p:txBody>
      </p:sp>
      <p:pic>
        <p:nvPicPr>
          <p:cNvPr id="14" name="Picture 13" descr="shot-02-after-browser.png"/>
          <p:cNvPicPr>
            <a:picLocks noChangeAspect="1"/>
          </p:cNvPicPr>
          <p:nvPr/>
        </p:nvPicPr>
        <p:blipFill>
          <a:blip r:embed="rId4"/>
          <a:stretch>
            <a:fillRect/>
          </a:stretch>
        </p:blipFill>
        <p:spPr>
          <a:xfrm>
            <a:off x="4055438" y="1783080"/>
            <a:ext cx="1597951" cy="3749039"/>
          </a:xfrm>
          <a:prstGeom prst="rect">
            <a:avLst/>
          </a:prstGeom>
        </p:spPr>
      </p:pic>
      <p:sp>
        <p:nvSpPr>
          <p:cNvPr id="15" name="Rounded Rectangle 14"/>
          <p:cNvSpPr/>
          <p:nvPr/>
        </p:nvSpPr>
        <p:spPr>
          <a:xfrm>
            <a:off x="4055438" y="1783080"/>
            <a:ext cx="1597951" cy="3749039"/>
          </a:xfrm>
          <a:prstGeom prst="roundRect">
            <a:avLst/>
          </a:prstGeom>
          <a:noFill/>
          <a:ln w="15240">
            <a:solidFill>
              <a:srgbClr val="CFCD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55438" y="5623560"/>
            <a:ext cx="1597951" cy="365760"/>
          </a:xfrm>
          <a:prstGeom prst="rect">
            <a:avLst/>
          </a:prstGeom>
          <a:noFill/>
        </p:spPr>
        <p:txBody>
          <a:bodyPr wrap="square" anchor="t" lIns="45720" rIns="45720" tIns="18288" bIns="18288">
            <a:spAutoFit/>
          </a:bodyPr>
          <a:lstStyle/>
          <a:p>
            <a:pPr algn="ctr">
              <a:spcBef>
                <a:spcPts val="0"/>
              </a:spcBef>
              <a:spcAft>
                <a:spcPts val="600"/>
              </a:spcAft>
            </a:pPr>
            <a:r>
              <a:rPr sz="1150" b="1" i="0">
                <a:solidFill>
                  <a:srgbClr val="444455"/>
                </a:solidFill>
                <a:latin typeface="Calibri"/>
              </a:rPr>
              <a:t>Filter &amp; browse</a:t>
            </a:r>
          </a:p>
        </p:txBody>
      </p:sp>
      <p:pic>
        <p:nvPicPr>
          <p:cNvPr id="17" name="Picture 16" descr="shot-03-subtheme.png"/>
          <p:cNvPicPr>
            <a:picLocks noChangeAspect="1"/>
          </p:cNvPicPr>
          <p:nvPr/>
        </p:nvPicPr>
        <p:blipFill>
          <a:blip r:embed="rId5"/>
          <a:stretch>
            <a:fillRect/>
          </a:stretch>
        </p:blipFill>
        <p:spPr>
          <a:xfrm>
            <a:off x="5799693" y="1783080"/>
            <a:ext cx="1597951" cy="3749039"/>
          </a:xfrm>
          <a:prstGeom prst="rect">
            <a:avLst/>
          </a:prstGeom>
        </p:spPr>
      </p:pic>
      <p:sp>
        <p:nvSpPr>
          <p:cNvPr id="18" name="Rounded Rectangle 17"/>
          <p:cNvSpPr/>
          <p:nvPr/>
        </p:nvSpPr>
        <p:spPr>
          <a:xfrm>
            <a:off x="5799693" y="1783080"/>
            <a:ext cx="1597951" cy="3749039"/>
          </a:xfrm>
          <a:prstGeom prst="roundRect">
            <a:avLst/>
          </a:prstGeom>
          <a:noFill/>
          <a:ln w="15240">
            <a:solidFill>
              <a:srgbClr val="CFCD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799693" y="5623560"/>
            <a:ext cx="1597951" cy="365760"/>
          </a:xfrm>
          <a:prstGeom prst="rect">
            <a:avLst/>
          </a:prstGeom>
          <a:noFill/>
        </p:spPr>
        <p:txBody>
          <a:bodyPr wrap="square" anchor="t" lIns="45720" rIns="45720" tIns="18288" bIns="18288">
            <a:spAutoFit/>
          </a:bodyPr>
          <a:lstStyle/>
          <a:p>
            <a:pPr algn="ctr">
              <a:spcBef>
                <a:spcPts val="0"/>
              </a:spcBef>
              <a:spcAft>
                <a:spcPts val="600"/>
              </a:spcAft>
            </a:pPr>
            <a:r>
              <a:rPr sz="1150" b="1" i="0">
                <a:solidFill>
                  <a:srgbClr val="444455"/>
                </a:solidFill>
                <a:latin typeface="Calibri"/>
              </a:rPr>
              <a:t>Sub-topics</a:t>
            </a:r>
          </a:p>
        </p:txBody>
      </p:sp>
      <p:pic>
        <p:nvPicPr>
          <p:cNvPr id="20" name="Picture 19" descr="shot-05-cross-module.png"/>
          <p:cNvPicPr>
            <a:picLocks noChangeAspect="1"/>
          </p:cNvPicPr>
          <p:nvPr/>
        </p:nvPicPr>
        <p:blipFill>
          <a:blip r:embed="rId6"/>
          <a:stretch>
            <a:fillRect/>
          </a:stretch>
        </p:blipFill>
        <p:spPr>
          <a:xfrm>
            <a:off x="7543948" y="1783080"/>
            <a:ext cx="1597951" cy="3749039"/>
          </a:xfrm>
          <a:prstGeom prst="rect">
            <a:avLst/>
          </a:prstGeom>
        </p:spPr>
      </p:pic>
      <p:sp>
        <p:nvSpPr>
          <p:cNvPr id="21" name="Rounded Rectangle 20"/>
          <p:cNvSpPr/>
          <p:nvPr/>
        </p:nvSpPr>
        <p:spPr>
          <a:xfrm>
            <a:off x="7543948" y="1783080"/>
            <a:ext cx="1597951" cy="3749039"/>
          </a:xfrm>
          <a:prstGeom prst="roundRect">
            <a:avLst/>
          </a:prstGeom>
          <a:noFill/>
          <a:ln w="15240">
            <a:solidFill>
              <a:srgbClr val="CFCD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43948" y="5623560"/>
            <a:ext cx="1597951" cy="365760"/>
          </a:xfrm>
          <a:prstGeom prst="rect">
            <a:avLst/>
          </a:prstGeom>
          <a:noFill/>
        </p:spPr>
        <p:txBody>
          <a:bodyPr wrap="square" anchor="t" lIns="45720" rIns="45720" tIns="18288" bIns="18288">
            <a:spAutoFit/>
          </a:bodyPr>
          <a:lstStyle/>
          <a:p>
            <a:pPr algn="ctr">
              <a:spcBef>
                <a:spcPts val="0"/>
              </a:spcBef>
              <a:spcAft>
                <a:spcPts val="600"/>
              </a:spcAft>
            </a:pPr>
            <a:r>
              <a:rPr sz="1150" b="1" i="0">
                <a:solidFill>
                  <a:srgbClr val="444455"/>
                </a:solidFill>
                <a:latin typeface="Calibri"/>
              </a:rPr>
              <a:t>Connected word</a:t>
            </a:r>
          </a:p>
        </p:txBody>
      </p:sp>
      <p:pic>
        <p:nvPicPr>
          <p:cNvPr id="23" name="Picture 22" descr="shot-06-filter-sheet.png"/>
          <p:cNvPicPr>
            <a:picLocks noChangeAspect="1"/>
          </p:cNvPicPr>
          <p:nvPr/>
        </p:nvPicPr>
        <p:blipFill>
          <a:blip r:embed="rId7"/>
          <a:stretch>
            <a:fillRect/>
          </a:stretch>
        </p:blipFill>
        <p:spPr>
          <a:xfrm>
            <a:off x="9288203" y="1783080"/>
            <a:ext cx="1597951" cy="3749039"/>
          </a:xfrm>
          <a:prstGeom prst="rect">
            <a:avLst/>
          </a:prstGeom>
        </p:spPr>
      </p:pic>
      <p:sp>
        <p:nvSpPr>
          <p:cNvPr id="24" name="Rounded Rectangle 23"/>
          <p:cNvSpPr/>
          <p:nvPr/>
        </p:nvSpPr>
        <p:spPr>
          <a:xfrm>
            <a:off x="9288203" y="1783080"/>
            <a:ext cx="1597951" cy="3749039"/>
          </a:xfrm>
          <a:prstGeom prst="roundRect">
            <a:avLst/>
          </a:prstGeom>
          <a:noFill/>
          <a:ln w="15240">
            <a:solidFill>
              <a:srgbClr val="CFCD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88203" y="5623560"/>
            <a:ext cx="1597951" cy="365760"/>
          </a:xfrm>
          <a:prstGeom prst="rect">
            <a:avLst/>
          </a:prstGeom>
          <a:noFill/>
        </p:spPr>
        <p:txBody>
          <a:bodyPr wrap="square" anchor="t" lIns="45720" rIns="45720" tIns="18288" bIns="18288">
            <a:spAutoFit/>
          </a:bodyPr>
          <a:lstStyle/>
          <a:p>
            <a:pPr algn="ctr">
              <a:spcBef>
                <a:spcPts val="0"/>
              </a:spcBef>
              <a:spcAft>
                <a:spcPts val="600"/>
              </a:spcAft>
            </a:pPr>
            <a:r>
              <a:rPr sz="1150" b="1" i="0">
                <a:solidFill>
                  <a:srgbClr val="444455"/>
                </a:solidFill>
                <a:latin typeface="Calibri"/>
              </a:rPr>
              <a:t>Advanced filter</a:t>
            </a:r>
          </a:p>
        </p:txBody>
      </p:sp>
      <p:sp>
        <p:nvSpPr>
          <p:cNvPr id="26" name="TextBox 25"/>
          <p:cNvSpPr txBox="1"/>
          <p:nvPr/>
        </p:nvSpPr>
        <p:spPr>
          <a:xfrm>
            <a:off x="548640" y="6126480"/>
            <a:ext cx="11064240" cy="457200"/>
          </a:xfrm>
          <a:prstGeom prst="rect">
            <a:avLst/>
          </a:prstGeom>
          <a:noFill/>
        </p:spPr>
        <p:txBody>
          <a:bodyPr wrap="square" anchor="t" lIns="45720" rIns="45720" tIns="18288" bIns="18288">
            <a:spAutoFit/>
          </a:bodyPr>
          <a:lstStyle/>
          <a:p>
            <a:pPr algn="ctr">
              <a:spcBef>
                <a:spcPts val="0"/>
              </a:spcBef>
              <a:spcAft>
                <a:spcPts val="600"/>
              </a:spcAft>
            </a:pPr>
            <a:r>
              <a:rPr sz="1400" b="1" i="0">
                <a:solidFill>
                  <a:srgbClr val="5B5BE6"/>
                </a:solidFill>
                <a:latin typeface="Calibri"/>
              </a:rPr>
              <a:t>One consistent design language from sign-up Mode through browsing, drilling, connecting and power-filtering.</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5B5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424160" cy="365760"/>
          </a:xfrm>
          <a:prstGeom prst="rect">
            <a:avLst/>
          </a:prstGeom>
          <a:noFill/>
        </p:spPr>
        <p:txBody>
          <a:bodyPr wrap="square" anchor="t" lIns="45720" rIns="45720" tIns="18288" bIns="18288">
            <a:spAutoFit/>
          </a:bodyPr>
          <a:lstStyle/>
          <a:p>
            <a:pPr algn="l">
              <a:spcBef>
                <a:spcPts val="0"/>
              </a:spcBef>
              <a:spcAft>
                <a:spcPts val="200"/>
              </a:spcAft>
            </a:pPr>
            <a:r>
              <a:rPr sz="1200" b="1" i="0">
                <a:solidFill>
                  <a:srgbClr val="5B5BE6"/>
                </a:solidFill>
                <a:latin typeface="Calibri"/>
              </a:rPr>
              <a:t>SLIDE 25  ·  HOW FILTERING WORKS (1 OF 4)</a:t>
            </a:r>
          </a:p>
        </p:txBody>
      </p:sp>
      <p:sp>
        <p:nvSpPr>
          <p:cNvPr id="5" name="TextBox 4"/>
          <p:cNvSpPr txBox="1"/>
          <p:nvPr/>
        </p:nvSpPr>
        <p:spPr>
          <a:xfrm>
            <a:off x="502920" y="585216"/>
            <a:ext cx="10881360" cy="868680"/>
          </a:xfrm>
          <a:prstGeom prst="rect">
            <a:avLst/>
          </a:prstGeom>
          <a:noFill/>
        </p:spPr>
        <p:txBody>
          <a:bodyPr wrap="square" anchor="t" lIns="45720" rIns="45720" tIns="18288" bIns="18288">
            <a:spAutoFit/>
          </a:bodyPr>
          <a:lstStyle/>
          <a:p>
            <a:pPr algn="l">
              <a:spcBef>
                <a:spcPts val="0"/>
              </a:spcBef>
              <a:spcAft>
                <a:spcPts val="0"/>
              </a:spcAft>
            </a:pPr>
            <a:r>
              <a:rPr sz="2600" b="1" i="0">
                <a:solidFill>
                  <a:srgbClr val="1E1B2E"/>
                </a:solidFill>
                <a:latin typeface="Calibri"/>
              </a:rPr>
              <a:t>Layers of filters</a:t>
            </a:r>
          </a:p>
        </p:txBody>
      </p:sp>
      <p:sp>
        <p:nvSpPr>
          <p:cNvPr id="6" name="Rounded Rectangle 5"/>
          <p:cNvSpPr/>
          <p:nvPr/>
        </p:nvSpPr>
        <p:spPr>
          <a:xfrm>
            <a:off x="11338560" y="310896"/>
            <a:ext cx="566928" cy="384048"/>
          </a:xfrm>
          <a:prstGeom prst="roundRect">
            <a:avLst/>
          </a:prstGeom>
          <a:solidFill>
            <a:srgbClr val="F4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i="0">
                <a:solidFill>
                  <a:srgbClr val="5B5BE6"/>
                </a:solidFill>
                <a:latin typeface="Calibri"/>
              </a:rPr>
              <a:t>25</a:t>
            </a:r>
          </a:p>
        </p:txBody>
      </p:sp>
      <p:sp>
        <p:nvSpPr>
          <p:cNvPr id="7" name="Rectangle 6"/>
          <p:cNvSpPr/>
          <p:nvPr/>
        </p:nvSpPr>
        <p:spPr>
          <a:xfrm>
            <a:off x="502920" y="1335024"/>
            <a:ext cx="1920240" cy="36576"/>
          </a:xfrm>
          <a:prstGeom prst="rect">
            <a:avLst/>
          </a:prstGeom>
          <a:solidFill>
            <a:srgbClr val="5B5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548640" y="1572768"/>
          <a:ext cx="11064240" cy="2743200"/>
        </p:xfrm>
        <a:graphic>
          <a:graphicData uri="http://schemas.openxmlformats.org/drawingml/2006/table">
            <a:tbl>
              <a:tblPr>
                <a:tableStyleId>{5C22544A-7EE6-4342-B048-85BDC9FD1C3A}</a:tableStyleId>
              </a:tblPr>
              <a:tblGrid>
                <a:gridCol w="2743200"/>
                <a:gridCol w="5852160"/>
                <a:gridCol w="2468880"/>
              </a:tblGrid>
              <a:tr h="548640">
                <a:tc>
                  <a:txBody>
                    <a:bodyPr/>
                    <a:lstStyle/>
                    <a:p>
                      <a:pPr>
                        <a:spcAft>
                          <a:spcPts val="0"/>
                        </a:spcAft>
                      </a:pPr>
                      <a:r>
                        <a:rPr sz="1100" b="1" i="0">
                          <a:solidFill>
                            <a:srgbClr val="FFFFFF"/>
                          </a:solidFill>
                          <a:latin typeface="Calibri"/>
                        </a:rPr>
                        <a:t>Layer</a:t>
                      </a:r>
                    </a:p>
                  </a:txBody>
                  <a:tcPr marL="73152" marR="54864" marT="27432" marB="27432" anchor="ctr">
                    <a:solidFill>
                      <a:srgbClr val="5B5BE6"/>
                    </a:solidFill>
                  </a:tcPr>
                </a:tc>
                <a:tc>
                  <a:txBody>
                    <a:bodyPr/>
                    <a:lstStyle/>
                    <a:p>
                      <a:pPr>
                        <a:spcAft>
                          <a:spcPts val="0"/>
                        </a:spcAft>
                      </a:pPr>
                      <a:r>
                        <a:rPr sz="1100" b="1" i="0">
                          <a:solidFill>
                            <a:srgbClr val="FFFFFF"/>
                          </a:solidFill>
                          <a:latin typeface="Calibri"/>
                        </a:rPr>
                        <a:t>Filters</a:t>
                      </a:r>
                    </a:p>
                  </a:txBody>
                  <a:tcPr marL="73152" marR="54864" marT="27432" marB="27432" anchor="ctr">
                    <a:solidFill>
                      <a:srgbClr val="5B5BE6"/>
                    </a:solidFill>
                  </a:tcPr>
                </a:tc>
                <a:tc>
                  <a:txBody>
                    <a:bodyPr/>
                    <a:lstStyle/>
                    <a:p>
                      <a:pPr>
                        <a:spcAft>
                          <a:spcPts val="0"/>
                        </a:spcAft>
                      </a:pPr>
                      <a:r>
                        <a:rPr sz="1100" b="1" i="0">
                          <a:solidFill>
                            <a:srgbClr val="FFFFFF"/>
                          </a:solidFill>
                          <a:latin typeface="Calibri"/>
                        </a:rPr>
                        <a:t>When shown</a:t>
                      </a:r>
                    </a:p>
                  </a:txBody>
                  <a:tcPr marL="73152" marR="54864" marT="27432" marB="27432" anchor="ctr">
                    <a:solidFill>
                      <a:srgbClr val="5B5BE6"/>
                    </a:solidFill>
                  </a:tcPr>
                </a:tc>
              </a:tr>
              <a:tr h="548640">
                <a:tc>
                  <a:txBody>
                    <a:bodyPr/>
                    <a:lstStyle/>
                    <a:p>
                      <a:pPr>
                        <a:spcAft>
                          <a:spcPts val="0"/>
                        </a:spcAft>
                      </a:pPr>
                      <a:r>
                        <a:rPr sz="1200" b="1" i="0">
                          <a:solidFill>
                            <a:srgbClr val="1E1B2E"/>
                          </a:solidFill>
                          <a:latin typeface="Calibri"/>
                        </a:rPr>
                        <a:t>Mode (the lens)</a:t>
                      </a:r>
                    </a:p>
                  </a:txBody>
                  <a:tcPr marL="73152" marR="54864" marT="27432" marB="27432" anchor="ctr">
                    <a:solidFill>
                      <a:srgbClr val="FFFFFF"/>
                    </a:solidFill>
                  </a:tcPr>
                </a:tc>
                <a:tc>
                  <a:txBody>
                    <a:bodyPr/>
                    <a:lstStyle/>
                    <a:p>
                      <a:pPr>
                        <a:spcAft>
                          <a:spcPts val="0"/>
                        </a:spcAft>
                      </a:pPr>
                      <a:r>
                        <a:rPr sz="1200" b="0" i="0">
                          <a:solidFill>
                            <a:srgbClr val="444455"/>
                          </a:solidFill>
                          <a:latin typeface="Calibri"/>
                        </a:rPr>
                        <a:t>Work / Personal / Both</a:t>
                      </a:r>
                    </a:p>
                  </a:txBody>
                  <a:tcPr marL="73152" marR="54864" marT="27432" marB="27432" anchor="ctr">
                    <a:solidFill>
                      <a:srgbClr val="FFFFFF"/>
                    </a:solidFill>
                  </a:tcPr>
                </a:tc>
                <a:tc>
                  <a:txBody>
                    <a:bodyPr/>
                    <a:lstStyle/>
                    <a:p>
                      <a:pPr>
                        <a:spcAft>
                          <a:spcPts val="0"/>
                        </a:spcAft>
                      </a:pPr>
                      <a:r>
                        <a:rPr sz="1200" b="0" i="0">
                          <a:solidFill>
                            <a:srgbClr val="444455"/>
                          </a:solidFill>
                          <a:latin typeface="Calibri"/>
                        </a:rPr>
                        <a:t>Header switch, set at sign-up</a:t>
                      </a:r>
                    </a:p>
                  </a:txBody>
                  <a:tcPr marL="73152" marR="54864" marT="27432" marB="27432" anchor="ctr">
                    <a:solidFill>
                      <a:srgbClr val="FFFFFF"/>
                    </a:solidFill>
                  </a:tcPr>
                </a:tc>
              </a:tr>
              <a:tr h="548640">
                <a:tc>
                  <a:txBody>
                    <a:bodyPr/>
                    <a:lstStyle/>
                    <a:p>
                      <a:pPr>
                        <a:spcAft>
                          <a:spcPts val="0"/>
                        </a:spcAft>
                      </a:pPr>
                      <a:r>
                        <a:rPr sz="1200" b="1" i="0">
                          <a:solidFill>
                            <a:srgbClr val="1E1B2E"/>
                          </a:solidFill>
                          <a:latin typeface="Calibri"/>
                        </a:rPr>
                        <a:t>Everyday (always there)</a:t>
                      </a:r>
                    </a:p>
                  </a:txBody>
                  <a:tcPr marL="73152" marR="54864" marT="27432" marB="27432" anchor="ctr">
                    <a:solidFill>
                      <a:srgbClr val="F7F6FC"/>
                    </a:solidFill>
                  </a:tcPr>
                </a:tc>
                <a:tc>
                  <a:txBody>
                    <a:bodyPr/>
                    <a:lstStyle/>
                    <a:p>
                      <a:pPr>
                        <a:spcAft>
                          <a:spcPts val="0"/>
                        </a:spcAft>
                      </a:pPr>
                      <a:r>
                        <a:rPr sz="1200" b="0" i="0">
                          <a:solidFill>
                            <a:srgbClr val="444455"/>
                          </a:solidFill>
                          <a:latin typeface="Calibri"/>
                        </a:rPr>
                        <a:t>Topic / Sub-topic · Level</a:t>
                      </a:r>
                    </a:p>
                  </a:txBody>
                  <a:tcPr marL="73152" marR="54864" marT="27432" marB="27432" anchor="ctr">
                    <a:solidFill>
                      <a:srgbClr val="F7F6FC"/>
                    </a:solidFill>
                  </a:tcPr>
                </a:tc>
                <a:tc>
                  <a:txBody>
                    <a:bodyPr/>
                    <a:lstStyle/>
                    <a:p>
                      <a:pPr>
                        <a:spcAft>
                          <a:spcPts val="0"/>
                        </a:spcAft>
                      </a:pPr>
                      <a:r>
                        <a:rPr sz="1200" b="0" i="0">
                          <a:solidFill>
                            <a:srgbClr val="444455"/>
                          </a:solidFill>
                          <a:latin typeface="Calibri"/>
                        </a:rPr>
                        <a:t>Right on the screen</a:t>
                      </a:r>
                    </a:p>
                  </a:txBody>
                  <a:tcPr marL="73152" marR="54864" marT="27432" marB="27432" anchor="ctr">
                    <a:solidFill>
                      <a:srgbClr val="F7F6FC"/>
                    </a:solidFill>
                  </a:tcPr>
                </a:tc>
              </a:tr>
              <a:tr h="548640">
                <a:tc>
                  <a:txBody>
                    <a:bodyPr/>
                    <a:lstStyle/>
                    <a:p>
                      <a:pPr>
                        <a:spcAft>
                          <a:spcPts val="0"/>
                        </a:spcAft>
                      </a:pPr>
                      <a:r>
                        <a:rPr sz="1200" b="1" i="0">
                          <a:solidFill>
                            <a:srgbClr val="1E1B2E"/>
                          </a:solidFill>
                          <a:latin typeface="Calibri"/>
                        </a:rPr>
                        <a:t>Handy (one tap away)</a:t>
                      </a:r>
                    </a:p>
                  </a:txBody>
                  <a:tcPr marL="73152" marR="54864" marT="27432" marB="27432" anchor="ctr">
                    <a:solidFill>
                      <a:srgbClr val="FFFFFF"/>
                    </a:solidFill>
                  </a:tcPr>
                </a:tc>
                <a:tc>
                  <a:txBody>
                    <a:bodyPr/>
                    <a:lstStyle/>
                    <a:p>
                      <a:pPr>
                        <a:spcAft>
                          <a:spcPts val="0"/>
                        </a:spcAft>
                      </a:pPr>
                      <a:r>
                        <a:rPr sz="1200" b="0" i="0">
                          <a:solidFill>
                            <a:srgbClr val="444455"/>
                          </a:solidFill>
                          <a:latin typeface="Calibri"/>
                        </a:rPr>
                        <a:t>Sector · Usefulness · Exam tag</a:t>
                      </a:r>
                    </a:p>
                  </a:txBody>
                  <a:tcPr marL="73152" marR="54864" marT="27432" marB="27432" anchor="ctr">
                    <a:solidFill>
                      <a:srgbClr val="FFFFFF"/>
                    </a:solidFill>
                  </a:tcPr>
                </a:tc>
                <a:tc>
                  <a:txBody>
                    <a:bodyPr/>
                    <a:lstStyle/>
                    <a:p>
                      <a:pPr>
                        <a:spcAft>
                          <a:spcPts val="0"/>
                        </a:spcAft>
                      </a:pPr>
                      <a:r>
                        <a:rPr sz="1200" b="0" i="0">
                          <a:solidFill>
                            <a:srgbClr val="444455"/>
                          </a:solidFill>
                          <a:latin typeface="Calibri"/>
                        </a:rPr>
                        <a:t>Behind “Filter”</a:t>
                      </a:r>
                    </a:p>
                  </a:txBody>
                  <a:tcPr marL="73152" marR="54864" marT="27432" marB="27432" anchor="ctr">
                    <a:solidFill>
                      <a:srgbClr val="FFFFFF"/>
                    </a:solidFill>
                  </a:tcPr>
                </a:tc>
              </a:tr>
              <a:tr h="548640">
                <a:tc>
                  <a:txBody>
                    <a:bodyPr/>
                    <a:lstStyle/>
                    <a:p>
                      <a:pPr>
                        <a:spcAft>
                          <a:spcPts val="0"/>
                        </a:spcAft>
                      </a:pPr>
                      <a:r>
                        <a:rPr sz="1200" b="1" i="0">
                          <a:solidFill>
                            <a:srgbClr val="1E1B2E"/>
                          </a:solidFill>
                          <a:latin typeface="Calibri"/>
                        </a:rPr>
                        <a:t>Power-user (advanced)</a:t>
                      </a:r>
                    </a:p>
                  </a:txBody>
                  <a:tcPr marL="73152" marR="54864" marT="27432" marB="27432" anchor="ctr">
                    <a:solidFill>
                      <a:srgbClr val="F7F6FC"/>
                    </a:solidFill>
                  </a:tcPr>
                </a:tc>
                <a:tc>
                  <a:txBody>
                    <a:bodyPr/>
                    <a:lstStyle/>
                    <a:p>
                      <a:pPr>
                        <a:spcAft>
                          <a:spcPts val="0"/>
                        </a:spcAft>
                      </a:pPr>
                      <a:r>
                        <a:rPr sz="1200" b="0" i="0">
                          <a:solidFill>
                            <a:srgbClr val="444455"/>
                          </a:solidFill>
                          <a:latin typeface="Calibri"/>
                        </a:rPr>
                        <a:t>Formality · Word type · Situation · Counterpart · “still learning”</a:t>
                      </a:r>
                    </a:p>
                  </a:txBody>
                  <a:tcPr marL="73152" marR="54864" marT="27432" marB="27432" anchor="ctr">
                    <a:solidFill>
                      <a:srgbClr val="F7F6FC"/>
                    </a:solidFill>
                  </a:tcPr>
                </a:tc>
                <a:tc>
                  <a:txBody>
                    <a:bodyPr/>
                    <a:lstStyle/>
                    <a:p>
                      <a:pPr>
                        <a:spcAft>
                          <a:spcPts val="0"/>
                        </a:spcAft>
                      </a:pPr>
                      <a:r>
                        <a:rPr sz="1200" b="0" i="0">
                          <a:solidFill>
                            <a:srgbClr val="444455"/>
                          </a:solidFill>
                          <a:latin typeface="Calibri"/>
                        </a:rPr>
                        <a:t>“Advanced” section</a:t>
                      </a:r>
                    </a:p>
                  </a:txBody>
                  <a:tcPr marL="73152" marR="54864" marT="27432" marB="27432" anchor="ctr">
                    <a:solidFill>
                      <a:srgbClr val="F7F6FC"/>
                    </a:solidFill>
                  </a:tcPr>
                </a:tc>
              </a:tr>
            </a:tbl>
          </a:graphicData>
        </a:graphic>
      </p:graphicFrame>
      <p:sp>
        <p:nvSpPr>
          <p:cNvPr id="9" name="TextBox 8"/>
          <p:cNvSpPr txBox="1"/>
          <p:nvPr/>
        </p:nvSpPr>
        <p:spPr>
          <a:xfrm>
            <a:off x="548640" y="3794760"/>
            <a:ext cx="11064240" cy="2651760"/>
          </a:xfrm>
          <a:prstGeom prst="rect">
            <a:avLst/>
          </a:prstGeom>
          <a:noFill/>
        </p:spPr>
        <p:txBody>
          <a:bodyPr wrap="square" anchor="t" lIns="45720" rIns="45720" tIns="18288" bIns="18288">
            <a:spAutoFit/>
          </a:bodyPr>
          <a:lstStyle/>
          <a:p>
            <a:pPr algn="l">
              <a:spcBef>
                <a:spcPts val="0"/>
              </a:spcBef>
              <a:spcAft>
                <a:spcPts val="600"/>
              </a:spcAft>
            </a:pPr>
            <a:r>
              <a:rPr sz="1600" b="1" i="0">
                <a:solidFill>
                  <a:srgbClr val="1E1B2E"/>
                </a:solidFill>
                <a:latin typeface="Calibri"/>
              </a:rPr>
              <a:t>Build order, plainly</a:t>
            </a:r>
          </a:p>
          <a:p>
            <a:pPr>
              <a:spcBef>
                <a:spcPts val="0"/>
              </a:spcBef>
              <a:spcAft>
                <a:spcPts val="700"/>
              </a:spcAft>
            </a:pPr>
            <a:r>
              <a:rPr sz="1500" b="1" i="0">
                <a:solidFill>
                  <a:srgbClr val="5B5BE6"/>
                </a:solidFill>
                <a:latin typeface="Calibri"/>
              </a:rPr>
              <a:t>•  </a:t>
            </a:r>
            <a:r>
              <a:rPr sz="1500" b="1" i="0">
                <a:solidFill>
                  <a:srgbClr val="444455"/>
                </a:solidFill>
                <a:latin typeface="Calibri"/>
              </a:rPr>
              <a:t>First: </a:t>
            </a:r>
            <a:r>
              <a:rPr sz="1500" b="0" i="0">
                <a:solidFill>
                  <a:srgbClr val="444455"/>
                </a:solidFill>
                <a:latin typeface="Calibri"/>
              </a:rPr>
              <a:t>Mode, Topic, Sub-topic, Level. These answer most of what people want.</a:t>
            </a:r>
          </a:p>
          <a:p>
            <a:pPr>
              <a:spcBef>
                <a:spcPts val="0"/>
              </a:spcBef>
              <a:spcAft>
                <a:spcPts val="700"/>
              </a:spcAft>
            </a:pPr>
            <a:r>
              <a:rPr sz="1500" b="1" i="0">
                <a:solidFill>
                  <a:srgbClr val="5B5BE6"/>
                </a:solidFill>
                <a:latin typeface="Calibri"/>
              </a:rPr>
              <a:t>•  </a:t>
            </a:r>
            <a:r>
              <a:rPr sz="1500" b="1" i="0">
                <a:solidFill>
                  <a:srgbClr val="444455"/>
                </a:solidFill>
                <a:latin typeface="Calibri"/>
              </a:rPr>
              <a:t>Second: </a:t>
            </a:r>
            <a:r>
              <a:rPr sz="1500" b="0" i="0">
                <a:solidFill>
                  <a:srgbClr val="444455"/>
                </a:solidFill>
                <a:latin typeface="Calibri"/>
              </a:rPr>
              <a:t>Sector, Exam tag, Usefulness, Formality.</a:t>
            </a:r>
          </a:p>
          <a:p>
            <a:pPr>
              <a:spcBef>
                <a:spcPts val="0"/>
              </a:spcBef>
              <a:spcAft>
                <a:spcPts val="700"/>
              </a:spcAft>
            </a:pPr>
            <a:r>
              <a:rPr sz="1500" b="1" i="0">
                <a:solidFill>
                  <a:srgbClr val="5B5BE6"/>
                </a:solidFill>
                <a:latin typeface="Calibri"/>
              </a:rPr>
              <a:t>•  </a:t>
            </a:r>
            <a:r>
              <a:rPr sz="1500" b="1" i="0">
                <a:solidFill>
                  <a:srgbClr val="444455"/>
                </a:solidFill>
                <a:latin typeface="Calibri"/>
              </a:rPr>
              <a:t>Last (mostly automatic): </a:t>
            </a:r>
            <a:r>
              <a:rPr sz="1500" b="0" i="0">
                <a:solidFill>
                  <a:srgbClr val="444455"/>
                </a:solidFill>
                <a:latin typeface="Calibri"/>
              </a:rPr>
              <a:t>Word type, Counterpart, and “still learning” (powers daily review).</a:t>
            </a:r>
          </a:p>
        </p:txBody>
      </p:sp>
      <p:sp>
        <p:nvSpPr>
          <p:cNvPr id="10" name="Rounded Rectangle 9"/>
          <p:cNvSpPr/>
          <p:nvPr/>
        </p:nvSpPr>
        <p:spPr>
          <a:xfrm>
            <a:off x="548640" y="5760720"/>
            <a:ext cx="11064240" cy="731520"/>
          </a:xfrm>
          <a:prstGeom prst="roundRect">
            <a:avLst/>
          </a:prstGeom>
          <a:solidFill>
            <a:srgbClr val="F4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64592" tIns="118872"/>
          <a:lstStyle/>
          <a:p>
            <a:pPr algn="l">
              <a:spcBef>
                <a:spcPts val="0"/>
              </a:spcBef>
              <a:spcAft>
                <a:spcPts val="400"/>
              </a:spcAft>
            </a:pPr>
            <a:r>
              <a:rPr sz="1400" b="1" i="0">
                <a:solidFill>
                  <a:srgbClr val="5B5BE6"/>
                </a:solidFill>
                <a:latin typeface="Calibri"/>
              </a:rPr>
              <a:t>The one to highlight</a:t>
            </a:r>
          </a:p>
          <a:p>
            <a:pPr algn="l">
              <a:spcBef>
                <a:spcPts val="0"/>
              </a:spcBef>
              <a:spcAft>
                <a:spcPts val="500"/>
              </a:spcAft>
            </a:pPr>
            <a:r>
              <a:rPr sz="1350" b="0" i="0">
                <a:solidFill>
                  <a:srgbClr val="444455"/>
                </a:solidFill>
                <a:latin typeface="Calibri"/>
              </a:rPr>
              <a:t>“Still learning” turns a word list into a study tool: hide what you've mastered, drill what's due. Most learners never toggle it by hand, but it drives the daily review under the hood.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5B5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424160" cy="365760"/>
          </a:xfrm>
          <a:prstGeom prst="rect">
            <a:avLst/>
          </a:prstGeom>
          <a:noFill/>
        </p:spPr>
        <p:txBody>
          <a:bodyPr wrap="square" anchor="t" lIns="45720" rIns="45720" tIns="18288" bIns="18288">
            <a:spAutoFit/>
          </a:bodyPr>
          <a:lstStyle/>
          <a:p>
            <a:pPr algn="l">
              <a:spcBef>
                <a:spcPts val="0"/>
              </a:spcBef>
              <a:spcAft>
                <a:spcPts val="200"/>
              </a:spcAft>
            </a:pPr>
            <a:r>
              <a:rPr sz="1200" b="1" i="0">
                <a:solidFill>
                  <a:srgbClr val="5B5BE6"/>
                </a:solidFill>
                <a:latin typeface="Calibri"/>
              </a:rPr>
              <a:t>SLIDE 26  ·  HOW FILTERING WORKS (2 OF 4)</a:t>
            </a:r>
          </a:p>
        </p:txBody>
      </p:sp>
      <p:sp>
        <p:nvSpPr>
          <p:cNvPr id="5" name="TextBox 4"/>
          <p:cNvSpPr txBox="1"/>
          <p:nvPr/>
        </p:nvSpPr>
        <p:spPr>
          <a:xfrm>
            <a:off x="502920" y="585216"/>
            <a:ext cx="10881360" cy="868680"/>
          </a:xfrm>
          <a:prstGeom prst="rect">
            <a:avLst/>
          </a:prstGeom>
          <a:noFill/>
        </p:spPr>
        <p:txBody>
          <a:bodyPr wrap="square" anchor="t" lIns="45720" rIns="45720" tIns="18288" bIns="18288">
            <a:spAutoFit/>
          </a:bodyPr>
          <a:lstStyle/>
          <a:p>
            <a:pPr algn="l">
              <a:spcBef>
                <a:spcPts val="0"/>
              </a:spcBef>
              <a:spcAft>
                <a:spcPts val="0"/>
              </a:spcAft>
            </a:pPr>
            <a:r>
              <a:rPr sz="2600" b="1" i="0">
                <a:solidFill>
                  <a:srgbClr val="1E1B2E"/>
                </a:solidFill>
                <a:latin typeface="Calibri"/>
              </a:rPr>
              <a:t>What makes filtering feel smart</a:t>
            </a:r>
          </a:p>
        </p:txBody>
      </p:sp>
      <p:sp>
        <p:nvSpPr>
          <p:cNvPr id="6" name="Rounded Rectangle 5"/>
          <p:cNvSpPr/>
          <p:nvPr/>
        </p:nvSpPr>
        <p:spPr>
          <a:xfrm>
            <a:off x="11338560" y="310896"/>
            <a:ext cx="566928" cy="384048"/>
          </a:xfrm>
          <a:prstGeom prst="roundRect">
            <a:avLst/>
          </a:prstGeom>
          <a:solidFill>
            <a:srgbClr val="F4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i="0">
                <a:solidFill>
                  <a:srgbClr val="5B5BE6"/>
                </a:solidFill>
                <a:latin typeface="Calibri"/>
              </a:rPr>
              <a:t>26</a:t>
            </a:r>
          </a:p>
        </p:txBody>
      </p:sp>
      <p:sp>
        <p:nvSpPr>
          <p:cNvPr id="7" name="Rectangle 6"/>
          <p:cNvSpPr/>
          <p:nvPr/>
        </p:nvSpPr>
        <p:spPr>
          <a:xfrm>
            <a:off x="502920" y="1335024"/>
            <a:ext cx="1920240" cy="36576"/>
          </a:xfrm>
          <a:prstGeom prst="rect">
            <a:avLst/>
          </a:prstGeom>
          <a:solidFill>
            <a:srgbClr val="5B5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572768"/>
            <a:ext cx="11064240" cy="4754880"/>
          </a:xfrm>
          <a:prstGeom prst="rect">
            <a:avLst/>
          </a:prstGeom>
          <a:noFill/>
        </p:spPr>
        <p:txBody>
          <a:bodyPr wrap="square" anchor="t" lIns="45720" rIns="45720" tIns="18288" bIns="18288">
            <a:spAutoFit/>
          </a:bodyPr>
          <a:lstStyle/>
          <a:p>
            <a:pPr>
              <a:spcBef>
                <a:spcPts val="0"/>
              </a:spcBef>
              <a:spcAft>
                <a:spcPts val="700"/>
              </a:spcAft>
            </a:pPr>
            <a:r>
              <a:rPr sz="1500" b="1" i="0">
                <a:solidFill>
                  <a:srgbClr val="5B5BE6"/>
                </a:solidFill>
                <a:latin typeface="Calibri"/>
              </a:rPr>
              <a:t>•  </a:t>
            </a:r>
            <a:r>
              <a:rPr sz="1500" b="1" i="0">
                <a:solidFill>
                  <a:srgbClr val="444455"/>
                </a:solidFill>
                <a:latin typeface="Calibri"/>
              </a:rPr>
              <a:t>Different labels narrow down. </a:t>
            </a:r>
            <a:r>
              <a:rPr sz="1500" b="0" i="0">
                <a:solidFill>
                  <a:srgbClr val="444455"/>
                </a:solidFill>
                <a:latin typeface="Calibri"/>
              </a:rPr>
              <a:t>“Care” + “B2” + “formal” shows only items that are all three.</a:t>
            </a:r>
          </a:p>
          <a:p>
            <a:pPr>
              <a:spcBef>
                <a:spcPts val="0"/>
              </a:spcBef>
              <a:spcAft>
                <a:spcPts val="700"/>
              </a:spcAft>
            </a:pPr>
            <a:r>
              <a:rPr sz="1500" b="1" i="0">
                <a:solidFill>
                  <a:srgbClr val="5B5BE6"/>
                </a:solidFill>
                <a:latin typeface="Calibri"/>
              </a:rPr>
              <a:t>•  </a:t>
            </a:r>
            <a:r>
              <a:rPr sz="1500" b="1" i="0">
                <a:solidFill>
                  <a:srgbClr val="444455"/>
                </a:solidFill>
                <a:latin typeface="Calibri"/>
              </a:rPr>
              <a:t>Same label widens. </a:t>
            </a:r>
            <a:r>
              <a:rPr sz="1500" b="0" i="0">
                <a:solidFill>
                  <a:srgbClr val="444455"/>
                </a:solidFill>
                <a:latin typeface="Calibri"/>
              </a:rPr>
              <a:t>Ticking both “B1” and “B2” shows either (a range).</a:t>
            </a:r>
          </a:p>
          <a:p>
            <a:pPr>
              <a:spcBef>
                <a:spcPts val="0"/>
              </a:spcBef>
              <a:spcAft>
                <a:spcPts val="700"/>
              </a:spcAft>
            </a:pPr>
            <a:r>
              <a:rPr sz="1500" b="1" i="0">
                <a:solidFill>
                  <a:srgbClr val="5B5BE6"/>
                </a:solidFill>
                <a:latin typeface="Calibri"/>
              </a:rPr>
              <a:t>•  </a:t>
            </a:r>
            <a:r>
              <a:rPr sz="1500" b="1" i="0">
                <a:solidFill>
                  <a:srgbClr val="444455"/>
                </a:solidFill>
                <a:latin typeface="Calibri"/>
              </a:rPr>
              <a:t>Always show counts. </a:t>
            </a:r>
            <a:r>
              <a:rPr sz="1500" b="0" i="0">
                <a:solidFill>
                  <a:srgbClr val="444455"/>
                </a:solidFill>
                <a:latin typeface="Calibri"/>
              </a:rPr>
              <a:t>Every option says how many items it'll show, and impossible ones are greyed out. This one detail is the difference between guided and frustrating.</a:t>
            </a:r>
          </a:p>
          <a:p>
            <a:pPr>
              <a:spcBef>
                <a:spcPts val="0"/>
              </a:spcBef>
              <a:spcAft>
                <a:spcPts val="700"/>
              </a:spcAft>
            </a:pPr>
            <a:r>
              <a:rPr sz="1500" b="1" i="0">
                <a:solidFill>
                  <a:srgbClr val="5B5BE6"/>
                </a:solidFill>
                <a:latin typeface="Calibri"/>
              </a:rPr>
              <a:t>•  </a:t>
            </a:r>
            <a:r>
              <a:rPr sz="1500" b="1" i="0">
                <a:solidFill>
                  <a:srgbClr val="444455"/>
                </a:solidFill>
                <a:latin typeface="Calibri"/>
              </a:rPr>
              <a:t>Never a blank screen. </a:t>
            </a:r>
            <a:r>
              <a:rPr sz="1500" b="0" i="0">
                <a:solidFill>
                  <a:srgbClr val="444455"/>
                </a:solidFill>
                <a:latin typeface="Calibri"/>
              </a:rPr>
              <a:t>If a combination has nothing, show “Nothing here yet. Nearest: 8 items at B2.2.”</a:t>
            </a:r>
          </a:p>
        </p:txBody>
      </p:sp>
      <p:sp>
        <p:nvSpPr>
          <p:cNvPr id="9" name="Rounded Rectangle 8"/>
          <p:cNvSpPr/>
          <p:nvPr/>
        </p:nvSpPr>
        <p:spPr>
          <a:xfrm>
            <a:off x="548640" y="4572000"/>
            <a:ext cx="11064240" cy="1828800"/>
          </a:xfrm>
          <a:prstGeom prst="roundRect">
            <a:avLst/>
          </a:prstGeom>
          <a:solidFill>
            <a:srgbClr val="F4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64592" tIns="118872"/>
          <a:lstStyle/>
          <a:p>
            <a:pPr algn="l">
              <a:spcBef>
                <a:spcPts val="0"/>
              </a:spcBef>
              <a:spcAft>
                <a:spcPts val="400"/>
              </a:spcAft>
            </a:pPr>
            <a:r>
              <a:rPr sz="1400" b="1" i="0">
                <a:solidFill>
                  <a:srgbClr val="5B5BE6"/>
                </a:solidFill>
                <a:latin typeface="Calibri"/>
              </a:rPr>
              <a:t>A quiet bonus: shareable links</a:t>
            </a:r>
          </a:p>
          <a:p>
            <a:pPr algn="l">
              <a:spcBef>
                <a:spcPts val="0"/>
              </a:spcBef>
              <a:spcAft>
                <a:spcPts val="500"/>
              </a:spcAft>
            </a:pPr>
            <a:r>
              <a:rPr sz="1350" b="0" i="0">
                <a:solidFill>
                  <a:srgbClr val="444455"/>
                </a:solidFill>
                <a:latin typeface="Calibri"/>
              </a:rPr>
              <a:t>Each filtered view lives in its web address, so “formal B2 care-sector words” becomes a bookmarkable link, and the writing coach can deep-link straight to the right practice. Empty combinations also double as our content to-do list: they show exactly what to write next.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5B5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424160" cy="365760"/>
          </a:xfrm>
          <a:prstGeom prst="rect">
            <a:avLst/>
          </a:prstGeom>
          <a:noFill/>
        </p:spPr>
        <p:txBody>
          <a:bodyPr wrap="square" anchor="t" lIns="45720" rIns="45720" tIns="18288" bIns="18288">
            <a:spAutoFit/>
          </a:bodyPr>
          <a:lstStyle/>
          <a:p>
            <a:pPr algn="l">
              <a:spcBef>
                <a:spcPts val="0"/>
              </a:spcBef>
              <a:spcAft>
                <a:spcPts val="200"/>
              </a:spcAft>
            </a:pPr>
            <a:r>
              <a:rPr sz="1200" b="1" i="0">
                <a:solidFill>
                  <a:srgbClr val="5B5BE6"/>
                </a:solidFill>
                <a:latin typeface="Calibri"/>
              </a:rPr>
              <a:t>SLIDE 27  ·  HOW FILTERING WORKS (3 OF 4)</a:t>
            </a:r>
          </a:p>
        </p:txBody>
      </p:sp>
      <p:sp>
        <p:nvSpPr>
          <p:cNvPr id="5" name="TextBox 4"/>
          <p:cNvSpPr txBox="1"/>
          <p:nvPr/>
        </p:nvSpPr>
        <p:spPr>
          <a:xfrm>
            <a:off x="502920" y="585216"/>
            <a:ext cx="10881360" cy="868680"/>
          </a:xfrm>
          <a:prstGeom prst="rect">
            <a:avLst/>
          </a:prstGeom>
          <a:noFill/>
        </p:spPr>
        <p:txBody>
          <a:bodyPr wrap="square" anchor="t" lIns="45720" rIns="45720" tIns="18288" bIns="18288">
            <a:spAutoFit/>
          </a:bodyPr>
          <a:lstStyle/>
          <a:p>
            <a:pPr algn="l">
              <a:spcBef>
                <a:spcPts val="0"/>
              </a:spcBef>
              <a:spcAft>
                <a:spcPts val="0"/>
              </a:spcAft>
            </a:pPr>
            <a:r>
              <a:rPr sz="2600" b="1" i="0">
                <a:solidFill>
                  <a:srgbClr val="1E1B2E"/>
                </a:solidFill>
                <a:latin typeface="Calibri"/>
              </a:rPr>
              <a:t>Same filters, sized to the screen</a:t>
            </a:r>
          </a:p>
        </p:txBody>
      </p:sp>
      <p:sp>
        <p:nvSpPr>
          <p:cNvPr id="6" name="Rounded Rectangle 5"/>
          <p:cNvSpPr/>
          <p:nvPr/>
        </p:nvSpPr>
        <p:spPr>
          <a:xfrm>
            <a:off x="11338560" y="310896"/>
            <a:ext cx="566928" cy="384048"/>
          </a:xfrm>
          <a:prstGeom prst="roundRect">
            <a:avLst/>
          </a:prstGeom>
          <a:solidFill>
            <a:srgbClr val="F4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i="0">
                <a:solidFill>
                  <a:srgbClr val="5B5BE6"/>
                </a:solidFill>
                <a:latin typeface="Calibri"/>
              </a:rPr>
              <a:t>27</a:t>
            </a:r>
          </a:p>
        </p:txBody>
      </p:sp>
      <p:sp>
        <p:nvSpPr>
          <p:cNvPr id="7" name="Rectangle 6"/>
          <p:cNvSpPr/>
          <p:nvPr/>
        </p:nvSpPr>
        <p:spPr>
          <a:xfrm>
            <a:off x="502920" y="1335024"/>
            <a:ext cx="1920240" cy="36576"/>
          </a:xfrm>
          <a:prstGeom prst="rect">
            <a:avLst/>
          </a:prstGeom>
          <a:solidFill>
            <a:srgbClr val="5B5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548640" y="1572768"/>
          <a:ext cx="11064240" cy="2834640"/>
        </p:xfrm>
        <a:graphic>
          <a:graphicData uri="http://schemas.openxmlformats.org/drawingml/2006/table">
            <a:tbl>
              <a:tblPr>
                <a:tableStyleId>{5C22544A-7EE6-4342-B048-85BDC9FD1C3A}</a:tableStyleId>
              </a:tblPr>
              <a:tblGrid>
                <a:gridCol w="2377440"/>
                <a:gridCol w="8686800"/>
              </a:tblGrid>
              <a:tr h="566928">
                <a:tc>
                  <a:txBody>
                    <a:bodyPr/>
                    <a:lstStyle/>
                    <a:p>
                      <a:pPr>
                        <a:spcAft>
                          <a:spcPts val="0"/>
                        </a:spcAft>
                      </a:pPr>
                      <a:r>
                        <a:rPr sz="1100" b="1" i="0">
                          <a:solidFill>
                            <a:srgbClr val="FFFFFF"/>
                          </a:solidFill>
                          <a:latin typeface="Calibri"/>
                        </a:rPr>
                        <a:t>Where</a:t>
                      </a:r>
                    </a:p>
                  </a:txBody>
                  <a:tcPr marL="73152" marR="54864" marT="27432" marB="27432" anchor="ctr">
                    <a:solidFill>
                      <a:srgbClr val="5B5BE6"/>
                    </a:solidFill>
                  </a:tcPr>
                </a:tc>
                <a:tc>
                  <a:txBody>
                    <a:bodyPr/>
                    <a:lstStyle/>
                    <a:p>
                      <a:pPr>
                        <a:spcAft>
                          <a:spcPts val="0"/>
                        </a:spcAft>
                      </a:pPr>
                      <a:r>
                        <a:rPr sz="1100" b="1" i="0">
                          <a:solidFill>
                            <a:srgbClr val="FFFFFF"/>
                          </a:solidFill>
                          <a:latin typeface="Calibri"/>
                        </a:rPr>
                        <a:t>What it looks like</a:t>
                      </a:r>
                    </a:p>
                  </a:txBody>
                  <a:tcPr marL="73152" marR="54864" marT="27432" marB="27432" anchor="ctr">
                    <a:solidFill>
                      <a:srgbClr val="5B5BE6"/>
                    </a:solidFill>
                  </a:tcPr>
                </a:tc>
              </a:tr>
              <a:tr h="566928">
                <a:tc>
                  <a:txBody>
                    <a:bodyPr/>
                    <a:lstStyle/>
                    <a:p>
                      <a:pPr>
                        <a:spcAft>
                          <a:spcPts val="0"/>
                        </a:spcAft>
                      </a:pPr>
                      <a:r>
                        <a:rPr sz="1300" b="1" i="0">
                          <a:solidFill>
                            <a:srgbClr val="1E1B2E"/>
                          </a:solidFill>
                          <a:latin typeface="Calibri"/>
                        </a:rPr>
                        <a:t>On a phone</a:t>
                      </a:r>
                    </a:p>
                  </a:txBody>
                  <a:tcPr marL="73152" marR="54864" marT="27432" marB="27432" anchor="ctr">
                    <a:solidFill>
                      <a:srgbClr val="FFFFFF"/>
                    </a:solidFill>
                  </a:tcPr>
                </a:tc>
                <a:tc>
                  <a:txBody>
                    <a:bodyPr/>
                    <a:lstStyle/>
                    <a:p>
                      <a:pPr>
                        <a:spcAft>
                          <a:spcPts val="0"/>
                        </a:spcAft>
                      </a:pPr>
                      <a:r>
                        <a:rPr sz="1300" b="0" i="0">
                          <a:solidFill>
                            <a:srgbClr val="444455"/>
                          </a:solidFill>
                          <a:latin typeface="Calibri"/>
                        </a:rPr>
                        <a:t>Mode switch in the header; filter chips below; “More” opens a slide-up sheet</a:t>
                      </a:r>
                    </a:p>
                  </a:txBody>
                  <a:tcPr marL="73152" marR="54864" marT="27432" marB="27432" anchor="ctr">
                    <a:solidFill>
                      <a:srgbClr val="FFFFFF"/>
                    </a:solidFill>
                  </a:tcPr>
                </a:tc>
              </a:tr>
              <a:tr h="566928">
                <a:tc>
                  <a:txBody>
                    <a:bodyPr/>
                    <a:lstStyle/>
                    <a:p>
                      <a:pPr>
                        <a:spcAft>
                          <a:spcPts val="0"/>
                        </a:spcAft>
                      </a:pPr>
                      <a:r>
                        <a:rPr sz="1300" b="1" i="0">
                          <a:solidFill>
                            <a:srgbClr val="1E1B2E"/>
                          </a:solidFill>
                          <a:latin typeface="Calibri"/>
                        </a:rPr>
                        <a:t>On a desktop</a:t>
                      </a:r>
                    </a:p>
                  </a:txBody>
                  <a:tcPr marL="73152" marR="54864" marT="27432" marB="27432" anchor="ctr">
                    <a:solidFill>
                      <a:srgbClr val="F7F6FC"/>
                    </a:solidFill>
                  </a:tcPr>
                </a:tc>
                <a:tc>
                  <a:txBody>
                    <a:bodyPr/>
                    <a:lstStyle/>
                    <a:p>
                      <a:pPr>
                        <a:spcAft>
                          <a:spcPts val="0"/>
                        </a:spcAft>
                      </a:pPr>
                      <a:r>
                        <a:rPr sz="1300" b="0" i="0">
                          <a:solidFill>
                            <a:srgbClr val="444455"/>
                          </a:solidFill>
                          <a:latin typeface="Calibri"/>
                        </a:rPr>
                        <a:t>A filter column down the left with checkboxes and counts</a:t>
                      </a:r>
                    </a:p>
                  </a:txBody>
                  <a:tcPr marL="73152" marR="54864" marT="27432" marB="27432" anchor="ctr">
                    <a:solidFill>
                      <a:srgbClr val="F7F6FC"/>
                    </a:solidFill>
                  </a:tcPr>
                </a:tc>
              </a:tr>
              <a:tr h="566928">
                <a:tc>
                  <a:txBody>
                    <a:bodyPr/>
                    <a:lstStyle/>
                    <a:p>
                      <a:pPr>
                        <a:spcAft>
                          <a:spcPts val="0"/>
                        </a:spcAft>
                      </a:pPr>
                      <a:r>
                        <a:rPr sz="1300" b="1" i="0">
                          <a:solidFill>
                            <a:srgbClr val="1E1B2E"/>
                          </a:solidFill>
                          <a:latin typeface="Calibri"/>
                        </a:rPr>
                        <a:t>Search box</a:t>
                      </a:r>
                    </a:p>
                  </a:txBody>
                  <a:tcPr marL="73152" marR="54864" marT="27432" marB="27432" anchor="ctr">
                    <a:solidFill>
                      <a:srgbClr val="FFFFFF"/>
                    </a:solidFill>
                  </a:tcPr>
                </a:tc>
                <a:tc>
                  <a:txBody>
                    <a:bodyPr/>
                    <a:lstStyle/>
                    <a:p>
                      <a:pPr>
                        <a:spcAft>
                          <a:spcPts val="0"/>
                        </a:spcAft>
                      </a:pPr>
                      <a:r>
                        <a:rPr sz="1300" b="0" i="0">
                          <a:solidFill>
                            <a:srgbClr val="444455"/>
                          </a:solidFill>
                          <a:latin typeface="Calibri"/>
                        </a:rPr>
                        <a:t>Type anything; searches keywords and goals; ignores Mode so nothing is hidden</a:t>
                      </a:r>
                    </a:p>
                  </a:txBody>
                  <a:tcPr marL="73152" marR="54864" marT="27432" marB="27432" anchor="ctr">
                    <a:solidFill>
                      <a:srgbClr val="FFFFFF"/>
                    </a:solidFill>
                  </a:tcPr>
                </a:tc>
              </a:tr>
              <a:tr h="566928">
                <a:tc>
                  <a:txBody>
                    <a:bodyPr/>
                    <a:lstStyle/>
                    <a:p>
                      <a:pPr>
                        <a:spcAft>
                          <a:spcPts val="0"/>
                        </a:spcAft>
                      </a:pPr>
                      <a:r>
                        <a:rPr sz="1300" b="1" i="0">
                          <a:solidFill>
                            <a:srgbClr val="1E1B2E"/>
                          </a:solidFill>
                          <a:latin typeface="Calibri"/>
                        </a:rPr>
                        <a:t>Goal cards</a:t>
                      </a:r>
                    </a:p>
                  </a:txBody>
                  <a:tcPr marL="73152" marR="54864" marT="27432" marB="27432" anchor="ctr">
                    <a:solidFill>
                      <a:srgbClr val="F7F6FC"/>
                    </a:solidFill>
                  </a:tcPr>
                </a:tc>
                <a:tc>
                  <a:txBody>
                    <a:bodyPr/>
                    <a:lstStyle/>
                    <a:p>
                      <a:pPr>
                        <a:spcAft>
                          <a:spcPts val="0"/>
                        </a:spcAft>
                      </a:pPr>
                      <a:r>
                        <a:rPr sz="1300" b="0" i="0">
                          <a:solidFill>
                            <a:srgbClr val="444455"/>
                          </a:solidFill>
                          <a:latin typeface="Calibri"/>
                        </a:rPr>
                        <a:t>Dashboard starting points that pre-set a bundle of filters, tuned to your Mode</a:t>
                      </a:r>
                    </a:p>
                  </a:txBody>
                  <a:tcPr marL="73152" marR="54864" marT="27432" marB="27432" anchor="ctr">
                    <a:solidFill>
                      <a:srgbClr val="F7F6FC"/>
                    </a:solidFill>
                  </a:tcPr>
                </a:tc>
              </a:tr>
            </a:tbl>
          </a:graphicData>
        </a:graphic>
      </p:graphicFrame>
      <p:sp>
        <p:nvSpPr>
          <p:cNvPr id="9" name="Rounded Rectangle 8"/>
          <p:cNvSpPr/>
          <p:nvPr/>
        </p:nvSpPr>
        <p:spPr>
          <a:xfrm>
            <a:off x="548640" y="4572000"/>
            <a:ext cx="11064240" cy="1828800"/>
          </a:xfrm>
          <a:prstGeom prst="roundRect">
            <a:avLst/>
          </a:prstGeom>
          <a:solidFill>
            <a:srgbClr val="EAF7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64592" tIns="118872"/>
          <a:lstStyle/>
          <a:p>
            <a:pPr algn="l">
              <a:spcBef>
                <a:spcPts val="0"/>
              </a:spcBef>
              <a:spcAft>
                <a:spcPts val="400"/>
              </a:spcAft>
            </a:pPr>
            <a:r>
              <a:rPr sz="1400" b="1" i="0">
                <a:solidFill>
                  <a:srgbClr val="2A9D6E"/>
                </a:solidFill>
                <a:latin typeface="Calibri"/>
              </a:rPr>
              <a:t>The principle that ties it together: show complexity gradually</a:t>
            </a:r>
          </a:p>
          <a:p>
            <a:pPr algn="l">
              <a:spcBef>
                <a:spcPts val="0"/>
              </a:spcBef>
              <a:spcAft>
                <a:spcPts val="500"/>
              </a:spcAft>
            </a:pPr>
            <a:r>
              <a:rPr sz="1350" b="0" i="0">
                <a:solidFill>
                  <a:srgbClr val="444455"/>
                </a:solidFill>
                <a:latin typeface="Calibri"/>
              </a:rPr>
              <a:t>A first-timer sees their Mode, two filters and a goal card. A power user opens “Advanced” and slices by sector, counterpart and progress. Same underlying data, complexity revealed only as the learner asks for it.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5B5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424160" cy="365760"/>
          </a:xfrm>
          <a:prstGeom prst="rect">
            <a:avLst/>
          </a:prstGeom>
          <a:noFill/>
        </p:spPr>
        <p:txBody>
          <a:bodyPr wrap="square" anchor="t" lIns="45720" rIns="45720" tIns="18288" bIns="18288">
            <a:spAutoFit/>
          </a:bodyPr>
          <a:lstStyle/>
          <a:p>
            <a:pPr algn="l">
              <a:spcBef>
                <a:spcPts val="0"/>
              </a:spcBef>
              <a:spcAft>
                <a:spcPts val="200"/>
              </a:spcAft>
            </a:pPr>
            <a:r>
              <a:rPr sz="1200" b="1" i="0">
                <a:solidFill>
                  <a:srgbClr val="5B5BE6"/>
                </a:solidFill>
                <a:latin typeface="Calibri"/>
              </a:rPr>
              <a:t>SLIDE 28  ·  HOW FILTERING WORKS (4 OF 4)</a:t>
            </a:r>
          </a:p>
        </p:txBody>
      </p:sp>
      <p:sp>
        <p:nvSpPr>
          <p:cNvPr id="5" name="TextBox 4"/>
          <p:cNvSpPr txBox="1"/>
          <p:nvPr/>
        </p:nvSpPr>
        <p:spPr>
          <a:xfrm>
            <a:off x="502920" y="585216"/>
            <a:ext cx="10881360" cy="868680"/>
          </a:xfrm>
          <a:prstGeom prst="rect">
            <a:avLst/>
          </a:prstGeom>
          <a:noFill/>
        </p:spPr>
        <p:txBody>
          <a:bodyPr wrap="square" anchor="t" lIns="45720" rIns="45720" tIns="18288" bIns="18288">
            <a:spAutoFit/>
          </a:bodyPr>
          <a:lstStyle/>
          <a:p>
            <a:pPr algn="l">
              <a:spcBef>
                <a:spcPts val="0"/>
              </a:spcBef>
              <a:spcAft>
                <a:spcPts val="0"/>
              </a:spcAft>
            </a:pPr>
            <a:r>
              <a:rPr sz="2600" b="1" i="0">
                <a:solidFill>
                  <a:srgbClr val="1E1B2E"/>
                </a:solidFill>
                <a:latin typeface="Calibri"/>
              </a:rPr>
              <a:t>The filters that know YOU</a:t>
            </a:r>
          </a:p>
        </p:txBody>
      </p:sp>
      <p:sp>
        <p:nvSpPr>
          <p:cNvPr id="6" name="Rounded Rectangle 5"/>
          <p:cNvSpPr/>
          <p:nvPr/>
        </p:nvSpPr>
        <p:spPr>
          <a:xfrm>
            <a:off x="11338560" y="310896"/>
            <a:ext cx="566928" cy="384048"/>
          </a:xfrm>
          <a:prstGeom prst="roundRect">
            <a:avLst/>
          </a:prstGeom>
          <a:solidFill>
            <a:srgbClr val="F4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i="0">
                <a:solidFill>
                  <a:srgbClr val="5B5BE6"/>
                </a:solidFill>
                <a:latin typeface="Calibri"/>
              </a:rPr>
              <a:t>28</a:t>
            </a:r>
          </a:p>
        </p:txBody>
      </p:sp>
      <p:sp>
        <p:nvSpPr>
          <p:cNvPr id="7" name="Rectangle 6"/>
          <p:cNvSpPr/>
          <p:nvPr/>
        </p:nvSpPr>
        <p:spPr>
          <a:xfrm>
            <a:off x="502920" y="1335024"/>
            <a:ext cx="1920240" cy="36576"/>
          </a:xfrm>
          <a:prstGeom prst="rect">
            <a:avLst/>
          </a:prstGeom>
          <a:solidFill>
            <a:srgbClr val="5B5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572768"/>
            <a:ext cx="11064240" cy="914400"/>
          </a:xfrm>
          <a:prstGeom prst="rect">
            <a:avLst/>
          </a:prstGeom>
          <a:noFill/>
        </p:spPr>
        <p:txBody>
          <a:bodyPr wrap="square" anchor="t" lIns="45720" rIns="45720" tIns="18288" bIns="18288">
            <a:spAutoFit/>
          </a:bodyPr>
          <a:lstStyle/>
          <a:p>
            <a:pPr algn="l">
              <a:spcBef>
                <a:spcPts val="0"/>
              </a:spcBef>
              <a:spcAft>
                <a:spcPts val="600"/>
              </a:spcAft>
            </a:pPr>
            <a:r>
              <a:rPr sz="1450" b="0" i="0">
                <a:solidFill>
                  <a:srgbClr val="444455"/>
                </a:solidFill>
                <a:latin typeface="Calibri"/>
              </a:rPr>
              <a:t>The most powerful filters aren't about the content, they're about your relationship to it. The app already tracks these; today it just doesn't let you filter on them.</a:t>
            </a:r>
          </a:p>
        </p:txBody>
      </p:sp>
      <p:graphicFrame>
        <p:nvGraphicFramePr>
          <p:cNvPr id="9" name="Table 8"/>
          <p:cNvGraphicFramePr>
            <a:graphicFrameLocks noGrp="1"/>
          </p:cNvGraphicFramePr>
          <p:nvPr/>
        </p:nvGraphicFramePr>
        <p:xfrm>
          <a:off x="548640" y="2606040"/>
          <a:ext cx="11064240" cy="2286000"/>
        </p:xfrm>
        <a:graphic>
          <a:graphicData uri="http://schemas.openxmlformats.org/drawingml/2006/table">
            <a:tbl>
              <a:tblPr>
                <a:tableStyleId>{5C22544A-7EE6-4342-B048-85BDC9FD1C3A}</a:tableStyleId>
              </a:tblPr>
              <a:tblGrid>
                <a:gridCol w="4114800"/>
                <a:gridCol w="6949440"/>
              </a:tblGrid>
              <a:tr h="457200">
                <a:tc>
                  <a:txBody>
                    <a:bodyPr/>
                    <a:lstStyle/>
                    <a:p>
                      <a:pPr>
                        <a:spcAft>
                          <a:spcPts val="0"/>
                        </a:spcAft>
                      </a:pPr>
                      <a:r>
                        <a:rPr sz="1100" b="1" i="0">
                          <a:solidFill>
                            <a:srgbClr val="FFFFFF"/>
                          </a:solidFill>
                          <a:latin typeface="Calibri"/>
                        </a:rPr>
                        <a:t>Personal filter</a:t>
                      </a:r>
                    </a:p>
                  </a:txBody>
                  <a:tcPr marL="73152" marR="54864" marT="27432" marB="27432" anchor="ctr">
                    <a:solidFill>
                      <a:srgbClr val="5B5BE6"/>
                    </a:solidFill>
                  </a:tcPr>
                </a:tc>
                <a:tc>
                  <a:txBody>
                    <a:bodyPr/>
                    <a:lstStyle/>
                    <a:p>
                      <a:pPr>
                        <a:spcAft>
                          <a:spcPts val="0"/>
                        </a:spcAft>
                      </a:pPr>
                      <a:r>
                        <a:rPr sz="1100" b="1" i="0">
                          <a:solidFill>
                            <a:srgbClr val="FFFFFF"/>
                          </a:solidFill>
                          <a:latin typeface="Calibri"/>
                        </a:rPr>
                        <a:t>Powers</a:t>
                      </a:r>
                    </a:p>
                  </a:txBody>
                  <a:tcPr marL="73152" marR="54864" marT="27432" marB="27432" anchor="ctr">
                    <a:solidFill>
                      <a:srgbClr val="5B5BE6"/>
                    </a:solidFill>
                  </a:tcPr>
                </a:tc>
              </a:tr>
              <a:tr h="457200">
                <a:tc>
                  <a:txBody>
                    <a:bodyPr/>
                    <a:lstStyle/>
                    <a:p>
                      <a:pPr>
                        <a:spcAft>
                          <a:spcPts val="0"/>
                        </a:spcAft>
                      </a:pPr>
                      <a:r>
                        <a:rPr sz="1250" b="1" i="0">
                          <a:solidFill>
                            <a:srgbClr val="1E1B2E"/>
                          </a:solidFill>
                          <a:latin typeface="Calibri"/>
                        </a:rPr>
                        <a:t>Your Mode + sector</a:t>
                      </a:r>
                    </a:p>
                  </a:txBody>
                  <a:tcPr marL="73152" marR="54864" marT="27432" marB="27432" anchor="ctr">
                    <a:solidFill>
                      <a:srgbClr val="FFFFFF"/>
                    </a:solidFill>
                  </a:tcPr>
                </a:tc>
                <a:tc>
                  <a:txBody>
                    <a:bodyPr/>
                    <a:lstStyle/>
                    <a:p>
                      <a:pPr>
                        <a:spcAft>
                          <a:spcPts val="0"/>
                        </a:spcAft>
                      </a:pPr>
                      <a:r>
                        <a:rPr sz="1250" b="0" i="0">
                          <a:solidFill>
                            <a:srgbClr val="444455"/>
                          </a:solidFill>
                          <a:latin typeface="Calibri"/>
                        </a:rPr>
                        <a:t>“Only show me care-sector work German”</a:t>
                      </a:r>
                    </a:p>
                  </a:txBody>
                  <a:tcPr marL="73152" marR="54864" marT="27432" marB="27432" anchor="ctr">
                    <a:solidFill>
                      <a:srgbClr val="FFFFFF"/>
                    </a:solidFill>
                  </a:tcPr>
                </a:tc>
              </a:tr>
              <a:tr h="457200">
                <a:tc>
                  <a:txBody>
                    <a:bodyPr/>
                    <a:lstStyle/>
                    <a:p>
                      <a:pPr>
                        <a:spcAft>
                          <a:spcPts val="0"/>
                        </a:spcAft>
                      </a:pPr>
                      <a:r>
                        <a:rPr sz="1250" b="1" i="0">
                          <a:solidFill>
                            <a:srgbClr val="1E1B2E"/>
                          </a:solidFill>
                          <a:latin typeface="Calibri"/>
                        </a:rPr>
                        <a:t>Mastered / learning / new</a:t>
                      </a:r>
                    </a:p>
                  </a:txBody>
                  <a:tcPr marL="73152" marR="54864" marT="27432" marB="27432" anchor="ctr">
                    <a:solidFill>
                      <a:srgbClr val="F7F6FC"/>
                    </a:solidFill>
                  </a:tcPr>
                </a:tc>
                <a:tc>
                  <a:txBody>
                    <a:bodyPr/>
                    <a:lstStyle/>
                    <a:p>
                      <a:pPr>
                        <a:spcAft>
                          <a:spcPts val="0"/>
                        </a:spcAft>
                      </a:pPr>
                      <a:r>
                        <a:rPr sz="1250" b="0" i="0">
                          <a:solidFill>
                            <a:srgbClr val="444455"/>
                          </a:solidFill>
                          <a:latin typeface="Calibri"/>
                        </a:rPr>
                        <a:t>“Hide what I know”, “drill my weak ones”</a:t>
                      </a:r>
                    </a:p>
                  </a:txBody>
                  <a:tcPr marL="73152" marR="54864" marT="27432" marB="27432" anchor="ctr">
                    <a:solidFill>
                      <a:srgbClr val="F7F6FC"/>
                    </a:solidFill>
                  </a:tcPr>
                </a:tc>
              </a:tr>
              <a:tr h="457200">
                <a:tc>
                  <a:txBody>
                    <a:bodyPr/>
                    <a:lstStyle/>
                    <a:p>
                      <a:pPr>
                        <a:spcAft>
                          <a:spcPts val="0"/>
                        </a:spcAft>
                      </a:pPr>
                      <a:r>
                        <a:rPr sz="1250" b="1" i="0">
                          <a:solidFill>
                            <a:srgbClr val="1E1B2E"/>
                          </a:solidFill>
                          <a:latin typeface="Calibri"/>
                        </a:rPr>
                        <a:t>Due for review today</a:t>
                      </a:r>
                    </a:p>
                  </a:txBody>
                  <a:tcPr marL="73152" marR="54864" marT="27432" marB="27432" anchor="ctr">
                    <a:solidFill>
                      <a:srgbClr val="FFFFFF"/>
                    </a:solidFill>
                  </a:tcPr>
                </a:tc>
                <a:tc>
                  <a:txBody>
                    <a:bodyPr/>
                    <a:lstStyle/>
                    <a:p>
                      <a:pPr>
                        <a:spcAft>
                          <a:spcPts val="0"/>
                        </a:spcAft>
                      </a:pPr>
                      <a:r>
                        <a:rPr sz="1250" b="0" i="0">
                          <a:solidFill>
                            <a:srgbClr val="444455"/>
                          </a:solidFill>
                          <a:latin typeface="Calibri"/>
                        </a:rPr>
                        <a:t>The daily review queue</a:t>
                      </a:r>
                    </a:p>
                  </a:txBody>
                  <a:tcPr marL="73152" marR="54864" marT="27432" marB="27432" anchor="ctr">
                    <a:solidFill>
                      <a:srgbClr val="FFFFFF"/>
                    </a:solidFill>
                  </a:tcPr>
                </a:tc>
              </a:tr>
              <a:tr h="457200">
                <a:tc>
                  <a:txBody>
                    <a:bodyPr/>
                    <a:lstStyle/>
                    <a:p>
                      <a:pPr>
                        <a:spcAft>
                          <a:spcPts val="0"/>
                        </a:spcAft>
                      </a:pPr>
                      <a:r>
                        <a:rPr sz="1250" b="1" i="0">
                          <a:solidFill>
                            <a:srgbClr val="1E1B2E"/>
                          </a:solidFill>
                          <a:latin typeface="Calibri"/>
                        </a:rPr>
                        <a:t>Your weak grammar areas</a:t>
                      </a:r>
                    </a:p>
                  </a:txBody>
                  <a:tcPr marL="73152" marR="54864" marT="27432" marB="27432" anchor="ctr">
                    <a:solidFill>
                      <a:srgbClr val="F7F6FC"/>
                    </a:solidFill>
                  </a:tcPr>
                </a:tc>
                <a:tc>
                  <a:txBody>
                    <a:bodyPr/>
                    <a:lstStyle/>
                    <a:p>
                      <a:pPr>
                        <a:spcAft>
                          <a:spcPts val="0"/>
                        </a:spcAft>
                      </a:pPr>
                      <a:r>
                        <a:rPr sz="1250" b="0" i="0">
                          <a:solidFill>
                            <a:srgbClr val="444455"/>
                          </a:solidFill>
                          <a:latin typeface="Calibri"/>
                        </a:rPr>
                        <a:t>“Practice your cases” shortcuts from the writing coach</a:t>
                      </a:r>
                    </a:p>
                  </a:txBody>
                  <a:tcPr marL="73152" marR="54864" marT="27432" marB="27432" anchor="ctr">
                    <a:solidFill>
                      <a:srgbClr val="F7F6FC"/>
                    </a:solidFill>
                  </a:tcPr>
                </a:tc>
              </a:tr>
            </a:tbl>
          </a:graphicData>
        </a:graphic>
      </p:graphicFrame>
      <p:sp>
        <p:nvSpPr>
          <p:cNvPr id="10" name="Rounded Rectangle 9"/>
          <p:cNvSpPr/>
          <p:nvPr/>
        </p:nvSpPr>
        <p:spPr>
          <a:xfrm>
            <a:off x="548640" y="5074920"/>
            <a:ext cx="11064240" cy="1417320"/>
          </a:xfrm>
          <a:prstGeom prst="roundRect">
            <a:avLst/>
          </a:prstGeom>
          <a:solidFill>
            <a:srgbClr val="EAF7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64592" tIns="118872"/>
          <a:lstStyle/>
          <a:p>
            <a:pPr algn="l">
              <a:spcBef>
                <a:spcPts val="0"/>
              </a:spcBef>
              <a:spcAft>
                <a:spcPts val="400"/>
              </a:spcAft>
            </a:pPr>
            <a:r>
              <a:rPr sz="1400" b="1" i="0">
                <a:solidFill>
                  <a:srgbClr val="2A9D6E"/>
                </a:solidFill>
                <a:latin typeface="Calibri"/>
              </a:rPr>
              <a:t>This is where it pays off for AI</a:t>
            </a:r>
          </a:p>
          <a:p>
            <a:pPr algn="l">
              <a:spcBef>
                <a:spcPts val="0"/>
              </a:spcBef>
              <a:spcAft>
                <a:spcPts val="500"/>
              </a:spcAft>
            </a:pPr>
            <a:r>
              <a:rPr sz="1350" b="0" i="0">
                <a:solidFill>
                  <a:srgbClr val="444455"/>
                </a:solidFill>
                <a:latin typeface="Calibri"/>
              </a:rPr>
              <a:t>Once content wears clean labels (including Mode and sector), an adaptive engine can build a session as a simple search: “12 items due, care-sector, leaning on the supervisor-formal phrases you keep missing.” Without labels the engine is blind. With them, smart personalization is just filtering with good defaults.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5B5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424160" cy="365760"/>
          </a:xfrm>
          <a:prstGeom prst="rect">
            <a:avLst/>
          </a:prstGeom>
          <a:noFill/>
        </p:spPr>
        <p:txBody>
          <a:bodyPr wrap="square" anchor="t" lIns="45720" rIns="45720" tIns="18288" bIns="18288">
            <a:spAutoFit/>
          </a:bodyPr>
          <a:lstStyle/>
          <a:p>
            <a:pPr algn="l">
              <a:spcBef>
                <a:spcPts val="0"/>
              </a:spcBef>
              <a:spcAft>
                <a:spcPts val="200"/>
              </a:spcAft>
            </a:pPr>
            <a:r>
              <a:rPr sz="1200" b="1" i="0">
                <a:solidFill>
                  <a:srgbClr val="5B5BE6"/>
                </a:solidFill>
                <a:latin typeface="Calibri"/>
              </a:rPr>
              <a:t>SLIDE 29  ·  ACROSS THE 4 MODULES</a:t>
            </a:r>
          </a:p>
        </p:txBody>
      </p:sp>
      <p:sp>
        <p:nvSpPr>
          <p:cNvPr id="5" name="TextBox 4"/>
          <p:cNvSpPr txBox="1"/>
          <p:nvPr/>
        </p:nvSpPr>
        <p:spPr>
          <a:xfrm>
            <a:off x="502920" y="585216"/>
            <a:ext cx="10881360" cy="868680"/>
          </a:xfrm>
          <a:prstGeom prst="rect">
            <a:avLst/>
          </a:prstGeom>
          <a:noFill/>
        </p:spPr>
        <p:txBody>
          <a:bodyPr wrap="square" anchor="t" lIns="45720" rIns="45720" tIns="18288" bIns="18288">
            <a:spAutoFit/>
          </a:bodyPr>
          <a:lstStyle/>
          <a:p>
            <a:pPr algn="l">
              <a:spcBef>
                <a:spcPts val="0"/>
              </a:spcBef>
              <a:spcAft>
                <a:spcPts val="0"/>
              </a:spcAft>
            </a:pPr>
            <a:r>
              <a:rPr sz="2600" b="1" i="0">
                <a:solidFill>
                  <a:srgbClr val="1E1B2E"/>
                </a:solidFill>
                <a:latin typeface="Calibri"/>
              </a:rPr>
              <a:t>One backbone, a few module-specific labels</a:t>
            </a:r>
          </a:p>
        </p:txBody>
      </p:sp>
      <p:sp>
        <p:nvSpPr>
          <p:cNvPr id="6" name="Rounded Rectangle 5"/>
          <p:cNvSpPr/>
          <p:nvPr/>
        </p:nvSpPr>
        <p:spPr>
          <a:xfrm>
            <a:off x="11338560" y="310896"/>
            <a:ext cx="566928" cy="384048"/>
          </a:xfrm>
          <a:prstGeom prst="roundRect">
            <a:avLst/>
          </a:prstGeom>
          <a:solidFill>
            <a:srgbClr val="F4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i="0">
                <a:solidFill>
                  <a:srgbClr val="5B5BE6"/>
                </a:solidFill>
                <a:latin typeface="Calibri"/>
              </a:rPr>
              <a:t>29</a:t>
            </a:r>
          </a:p>
        </p:txBody>
      </p:sp>
      <p:sp>
        <p:nvSpPr>
          <p:cNvPr id="7" name="Rectangle 6"/>
          <p:cNvSpPr/>
          <p:nvPr/>
        </p:nvSpPr>
        <p:spPr>
          <a:xfrm>
            <a:off x="502920" y="1335024"/>
            <a:ext cx="1920240" cy="36576"/>
          </a:xfrm>
          <a:prstGeom prst="rect">
            <a:avLst/>
          </a:prstGeom>
          <a:solidFill>
            <a:srgbClr val="5B5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572768"/>
            <a:ext cx="11064240" cy="685800"/>
          </a:xfrm>
          <a:prstGeom prst="rect">
            <a:avLst/>
          </a:prstGeom>
          <a:noFill/>
        </p:spPr>
        <p:txBody>
          <a:bodyPr wrap="square" anchor="t" lIns="45720" rIns="45720" tIns="18288" bIns="18288">
            <a:spAutoFit/>
          </a:bodyPr>
          <a:lstStyle/>
          <a:p>
            <a:pPr algn="l">
              <a:spcBef>
                <a:spcPts val="0"/>
              </a:spcBef>
              <a:spcAft>
                <a:spcPts val="600"/>
              </a:spcAft>
            </a:pPr>
            <a:r>
              <a:rPr sz="1450" b="1" i="0">
                <a:solidFill>
                  <a:srgbClr val="1E1B2E"/>
                </a:solidFill>
                <a:latin typeface="Calibri"/>
              </a:rPr>
              <a:t>Should all four modules share one system? Mostly yes, a shared backbone, plus the label each module uniquely needs. Mode and Level apply to all.</a:t>
            </a:r>
          </a:p>
        </p:txBody>
      </p:sp>
      <p:graphicFrame>
        <p:nvGraphicFramePr>
          <p:cNvPr id="9" name="Table 8"/>
          <p:cNvGraphicFramePr>
            <a:graphicFrameLocks noGrp="1"/>
          </p:cNvGraphicFramePr>
          <p:nvPr/>
        </p:nvGraphicFramePr>
        <p:xfrm>
          <a:off x="548640" y="2331720"/>
          <a:ext cx="11064240" cy="2688336"/>
        </p:xfrm>
        <a:graphic>
          <a:graphicData uri="http://schemas.openxmlformats.org/drawingml/2006/table">
            <a:tbl>
              <a:tblPr>
                <a:tableStyleId>{5C22544A-7EE6-4342-B048-85BDC9FD1C3A}</a:tableStyleId>
              </a:tblPr>
              <a:tblGrid>
                <a:gridCol w="2926080"/>
                <a:gridCol w="1828800"/>
                <a:gridCol w="1920240"/>
                <a:gridCol w="2560320"/>
                <a:gridCol w="1828800"/>
              </a:tblGrid>
              <a:tr h="384048">
                <a:tc>
                  <a:txBody>
                    <a:bodyPr/>
                    <a:lstStyle/>
                    <a:p>
                      <a:pPr>
                        <a:spcAft>
                          <a:spcPts val="0"/>
                        </a:spcAft>
                      </a:pPr>
                      <a:r>
                        <a:rPr sz="1100" b="1" i="0">
                          <a:solidFill>
                            <a:srgbClr val="FFFFFF"/>
                          </a:solidFill>
                          <a:latin typeface="Calibri"/>
                        </a:rPr>
                        <a:t>Label</a:t>
                      </a:r>
                    </a:p>
                  </a:txBody>
                  <a:tcPr marL="73152" marR="54864" marT="27432" marB="27432" anchor="ctr">
                    <a:solidFill>
                      <a:srgbClr val="5B5BE6"/>
                    </a:solidFill>
                  </a:tcPr>
                </a:tc>
                <a:tc>
                  <a:txBody>
                    <a:bodyPr/>
                    <a:lstStyle/>
                    <a:p>
                      <a:pPr>
                        <a:spcAft>
                          <a:spcPts val="0"/>
                        </a:spcAft>
                      </a:pPr>
                      <a:r>
                        <a:rPr sz="1100" b="1" i="0">
                          <a:solidFill>
                            <a:srgbClr val="FFFFFF"/>
                          </a:solidFill>
                          <a:latin typeface="Calibri"/>
                        </a:rPr>
                        <a:t>Vocabulary</a:t>
                      </a:r>
                    </a:p>
                  </a:txBody>
                  <a:tcPr marL="73152" marR="54864" marT="27432" marB="27432" anchor="ctr">
                    <a:solidFill>
                      <a:srgbClr val="5B5BE6"/>
                    </a:solidFill>
                  </a:tcPr>
                </a:tc>
                <a:tc>
                  <a:txBody>
                    <a:bodyPr/>
                    <a:lstStyle/>
                    <a:p>
                      <a:pPr>
                        <a:spcAft>
                          <a:spcPts val="0"/>
                        </a:spcAft>
                      </a:pPr>
                      <a:r>
                        <a:rPr sz="1100" b="1" i="0">
                          <a:solidFill>
                            <a:srgbClr val="FFFFFF"/>
                          </a:solidFill>
                          <a:latin typeface="Calibri"/>
                        </a:rPr>
                        <a:t>Collocations</a:t>
                      </a:r>
                    </a:p>
                  </a:txBody>
                  <a:tcPr marL="73152" marR="54864" marT="27432" marB="27432" anchor="ctr">
                    <a:solidFill>
                      <a:srgbClr val="5B5BE6"/>
                    </a:solidFill>
                  </a:tcPr>
                </a:tc>
                <a:tc>
                  <a:txBody>
                    <a:bodyPr/>
                    <a:lstStyle/>
                    <a:p>
                      <a:pPr>
                        <a:spcAft>
                          <a:spcPts val="0"/>
                        </a:spcAft>
                      </a:pPr>
                      <a:r>
                        <a:rPr sz="1100" b="1" i="0">
                          <a:solidFill>
                            <a:srgbClr val="FFFFFF"/>
                          </a:solidFill>
                          <a:latin typeface="Calibri"/>
                        </a:rPr>
                        <a:t>Redemittel (phrases)</a:t>
                      </a:r>
                    </a:p>
                  </a:txBody>
                  <a:tcPr marL="73152" marR="54864" marT="27432" marB="27432" anchor="ctr">
                    <a:solidFill>
                      <a:srgbClr val="5B5BE6"/>
                    </a:solidFill>
                  </a:tcPr>
                </a:tc>
                <a:tc>
                  <a:txBody>
                    <a:bodyPr/>
                    <a:lstStyle/>
                    <a:p>
                      <a:pPr>
                        <a:spcAft>
                          <a:spcPts val="0"/>
                        </a:spcAft>
                      </a:pPr>
                      <a:r>
                        <a:rPr sz="1100" b="1" i="0">
                          <a:solidFill>
                            <a:srgbClr val="FFFFFF"/>
                          </a:solidFill>
                          <a:latin typeface="Calibri"/>
                        </a:rPr>
                        <a:t>Writing</a:t>
                      </a:r>
                    </a:p>
                  </a:txBody>
                  <a:tcPr marL="73152" marR="54864" marT="27432" marB="27432" anchor="ctr">
                    <a:solidFill>
                      <a:srgbClr val="5B5BE6"/>
                    </a:solidFill>
                  </a:tcPr>
                </a:tc>
              </a:tr>
              <a:tr h="384048">
                <a:tc>
                  <a:txBody>
                    <a:bodyPr/>
                    <a:lstStyle/>
                    <a:p>
                      <a:pPr>
                        <a:spcAft>
                          <a:spcPts val="0"/>
                        </a:spcAft>
                      </a:pPr>
                      <a:r>
                        <a:rPr sz="1150" b="1" i="0">
                          <a:solidFill>
                            <a:srgbClr val="1E1B2E"/>
                          </a:solidFill>
                          <a:latin typeface="Calibri"/>
                        </a:rPr>
                        <a:t>Mode / Topic / Level</a:t>
                      </a:r>
                    </a:p>
                  </a:txBody>
                  <a:tcPr marL="73152" marR="54864" marT="27432" marB="27432" anchor="ctr">
                    <a:solidFill>
                      <a:srgbClr val="FFFFFF"/>
                    </a:solidFill>
                  </a:tcPr>
                </a:tc>
                <a:tc>
                  <a:txBody>
                    <a:bodyPr/>
                    <a:lstStyle/>
                    <a:p>
                      <a:pPr>
                        <a:spcAft>
                          <a:spcPts val="0"/>
                        </a:spcAft>
                      </a:pPr>
                      <a:r>
                        <a:rPr sz="1150" b="0" i="0">
                          <a:solidFill>
                            <a:srgbClr val="444455"/>
                          </a:solidFill>
                          <a:latin typeface="Calibri"/>
                        </a:rPr>
                        <a:t>yes</a:t>
                      </a:r>
                    </a:p>
                  </a:txBody>
                  <a:tcPr marL="73152" marR="54864" marT="27432" marB="27432" anchor="ctr">
                    <a:solidFill>
                      <a:srgbClr val="FFFFFF"/>
                    </a:solidFill>
                  </a:tcPr>
                </a:tc>
                <a:tc>
                  <a:txBody>
                    <a:bodyPr/>
                    <a:lstStyle/>
                    <a:p>
                      <a:pPr>
                        <a:spcAft>
                          <a:spcPts val="0"/>
                        </a:spcAft>
                      </a:pPr>
                      <a:r>
                        <a:rPr sz="1150" b="0" i="0">
                          <a:solidFill>
                            <a:srgbClr val="444455"/>
                          </a:solidFill>
                          <a:latin typeface="Calibri"/>
                        </a:rPr>
                        <a:t>yes</a:t>
                      </a:r>
                    </a:p>
                  </a:txBody>
                  <a:tcPr marL="73152" marR="54864" marT="27432" marB="27432" anchor="ctr">
                    <a:solidFill>
                      <a:srgbClr val="FFFFFF"/>
                    </a:solidFill>
                  </a:tcPr>
                </a:tc>
                <a:tc>
                  <a:txBody>
                    <a:bodyPr/>
                    <a:lstStyle/>
                    <a:p>
                      <a:pPr>
                        <a:spcAft>
                          <a:spcPts val="0"/>
                        </a:spcAft>
                      </a:pPr>
                      <a:r>
                        <a:rPr sz="1150" b="0" i="0">
                          <a:solidFill>
                            <a:srgbClr val="444455"/>
                          </a:solidFill>
                          <a:latin typeface="Calibri"/>
                        </a:rPr>
                        <a:t>yes</a:t>
                      </a:r>
                    </a:p>
                  </a:txBody>
                  <a:tcPr marL="73152" marR="54864" marT="27432" marB="27432" anchor="ctr">
                    <a:solidFill>
                      <a:srgbClr val="FFFFFF"/>
                    </a:solidFill>
                  </a:tcPr>
                </a:tc>
                <a:tc>
                  <a:txBody>
                    <a:bodyPr/>
                    <a:lstStyle/>
                    <a:p>
                      <a:pPr>
                        <a:spcAft>
                          <a:spcPts val="0"/>
                        </a:spcAft>
                      </a:pPr>
                      <a:r>
                        <a:rPr sz="1150" b="0" i="0">
                          <a:solidFill>
                            <a:srgbClr val="444455"/>
                          </a:solidFill>
                          <a:latin typeface="Calibri"/>
                        </a:rPr>
                        <a:t>yes</a:t>
                      </a:r>
                    </a:p>
                  </a:txBody>
                  <a:tcPr marL="73152" marR="54864" marT="27432" marB="27432" anchor="ctr">
                    <a:solidFill>
                      <a:srgbClr val="FFFFFF"/>
                    </a:solidFill>
                  </a:tcPr>
                </a:tc>
              </a:tr>
              <a:tr h="384048">
                <a:tc>
                  <a:txBody>
                    <a:bodyPr/>
                    <a:lstStyle/>
                    <a:p>
                      <a:pPr>
                        <a:spcAft>
                          <a:spcPts val="0"/>
                        </a:spcAft>
                      </a:pPr>
                      <a:r>
                        <a:rPr sz="1150" b="1" i="0">
                          <a:solidFill>
                            <a:srgbClr val="1E1B2E"/>
                          </a:solidFill>
                          <a:latin typeface="Calibri"/>
                        </a:rPr>
                        <a:t>Sector (work mode)</a:t>
                      </a:r>
                    </a:p>
                  </a:txBody>
                  <a:tcPr marL="73152" marR="54864" marT="27432" marB="27432" anchor="ctr">
                    <a:solidFill>
                      <a:srgbClr val="F7F6FC"/>
                    </a:solidFill>
                  </a:tcPr>
                </a:tc>
                <a:tc>
                  <a:txBody>
                    <a:bodyPr/>
                    <a:lstStyle/>
                    <a:p>
                      <a:pPr>
                        <a:spcAft>
                          <a:spcPts val="0"/>
                        </a:spcAft>
                      </a:pPr>
                      <a:r>
                        <a:rPr sz="1150" b="0" i="0">
                          <a:solidFill>
                            <a:srgbClr val="444455"/>
                          </a:solidFill>
                          <a:latin typeface="Calibri"/>
                        </a:rPr>
                        <a:t>main hook</a:t>
                      </a:r>
                    </a:p>
                  </a:txBody>
                  <a:tcPr marL="73152" marR="54864" marT="27432" marB="27432" anchor="ctr">
                    <a:solidFill>
                      <a:srgbClr val="F7F6FC"/>
                    </a:solidFill>
                  </a:tcPr>
                </a:tc>
                <a:tc>
                  <a:txBody>
                    <a:bodyPr/>
                    <a:lstStyle/>
                    <a:p>
                      <a:pPr>
                        <a:spcAft>
                          <a:spcPts val="0"/>
                        </a:spcAft>
                      </a:pPr>
                      <a:r>
                        <a:rPr sz="1150" b="0" i="0">
                          <a:solidFill>
                            <a:srgbClr val="444455"/>
                          </a:solidFill>
                          <a:latin typeface="Calibri"/>
                        </a:rPr>
                        <a:t>yes</a:t>
                      </a:r>
                    </a:p>
                  </a:txBody>
                  <a:tcPr marL="73152" marR="54864" marT="27432" marB="27432" anchor="ctr">
                    <a:solidFill>
                      <a:srgbClr val="F7F6FC"/>
                    </a:solidFill>
                  </a:tcPr>
                </a:tc>
                <a:tc>
                  <a:txBody>
                    <a:bodyPr/>
                    <a:lstStyle/>
                    <a:p>
                      <a:pPr>
                        <a:spcAft>
                          <a:spcPts val="0"/>
                        </a:spcAft>
                      </a:pPr>
                      <a:r>
                        <a:rPr sz="1150" b="0" i="0">
                          <a:solidFill>
                            <a:srgbClr val="444455"/>
                          </a:solidFill>
                          <a:latin typeface="Calibri"/>
                        </a:rPr>
                        <a:t>secondary</a:t>
                      </a:r>
                    </a:p>
                  </a:txBody>
                  <a:tcPr marL="73152" marR="54864" marT="27432" marB="27432" anchor="ctr">
                    <a:solidFill>
                      <a:srgbClr val="F7F6FC"/>
                    </a:solidFill>
                  </a:tcPr>
                </a:tc>
                <a:tc>
                  <a:txBody>
                    <a:bodyPr/>
                    <a:lstStyle/>
                    <a:p>
                      <a:pPr>
                        <a:spcAft>
                          <a:spcPts val="0"/>
                        </a:spcAft>
                      </a:pPr>
                      <a:r>
                        <a:rPr sz="1150" b="0" i="0">
                          <a:solidFill>
                            <a:srgbClr val="444455"/>
                          </a:solidFill>
                          <a:latin typeface="Calibri"/>
                        </a:rPr>
                        <a:t>yes</a:t>
                      </a:r>
                    </a:p>
                  </a:txBody>
                  <a:tcPr marL="73152" marR="54864" marT="27432" marB="27432" anchor="ctr">
                    <a:solidFill>
                      <a:srgbClr val="F7F6FC"/>
                    </a:solidFill>
                  </a:tcPr>
                </a:tc>
              </a:tr>
              <a:tr h="384048">
                <a:tc>
                  <a:txBody>
                    <a:bodyPr/>
                    <a:lstStyle/>
                    <a:p>
                      <a:pPr>
                        <a:spcAft>
                          <a:spcPts val="0"/>
                        </a:spcAft>
                      </a:pPr>
                      <a:r>
                        <a:rPr sz="1150" b="1" i="0">
                          <a:solidFill>
                            <a:srgbClr val="1E1B2E"/>
                          </a:solidFill>
                          <a:latin typeface="Calibri"/>
                        </a:rPr>
                        <a:t>Formality</a:t>
                      </a:r>
                    </a:p>
                  </a:txBody>
                  <a:tcPr marL="73152" marR="54864" marT="27432" marB="27432" anchor="ctr">
                    <a:solidFill>
                      <a:srgbClr val="FFFFFF"/>
                    </a:solidFill>
                  </a:tcPr>
                </a:tc>
                <a:tc>
                  <a:txBody>
                    <a:bodyPr/>
                    <a:lstStyle/>
                    <a:p>
                      <a:pPr>
                        <a:spcAft>
                          <a:spcPts val="0"/>
                        </a:spcAft>
                      </a:pPr>
                      <a:r>
                        <a:rPr sz="1150" b="0" i="0">
                          <a:solidFill>
                            <a:srgbClr val="444455"/>
                          </a:solidFill>
                          <a:latin typeface="Calibri"/>
                        </a:rPr>
                        <a:t>yes</a:t>
                      </a:r>
                    </a:p>
                  </a:txBody>
                  <a:tcPr marL="73152" marR="54864" marT="27432" marB="27432" anchor="ctr">
                    <a:solidFill>
                      <a:srgbClr val="FFFFFF"/>
                    </a:solidFill>
                  </a:tcPr>
                </a:tc>
                <a:tc>
                  <a:txBody>
                    <a:bodyPr/>
                    <a:lstStyle/>
                    <a:p>
                      <a:pPr>
                        <a:spcAft>
                          <a:spcPts val="0"/>
                        </a:spcAft>
                      </a:pPr>
                      <a:r>
                        <a:rPr sz="1150" b="0" i="0">
                          <a:solidFill>
                            <a:srgbClr val="444455"/>
                          </a:solidFill>
                          <a:latin typeface="Calibri"/>
                        </a:rPr>
                        <a:t>yes (has it)</a:t>
                      </a:r>
                    </a:p>
                  </a:txBody>
                  <a:tcPr marL="73152" marR="54864" marT="27432" marB="27432" anchor="ctr">
                    <a:solidFill>
                      <a:srgbClr val="FFFFFF"/>
                    </a:solidFill>
                  </a:tcPr>
                </a:tc>
                <a:tc>
                  <a:txBody>
                    <a:bodyPr/>
                    <a:lstStyle/>
                    <a:p>
                      <a:pPr>
                        <a:spcAft>
                          <a:spcPts val="0"/>
                        </a:spcAft>
                      </a:pPr>
                      <a:r>
                        <a:rPr sz="1150" b="0" i="0">
                          <a:solidFill>
                            <a:srgbClr val="444455"/>
                          </a:solidFill>
                          <a:latin typeface="Calibri"/>
                        </a:rPr>
                        <a:t>yes (has it)</a:t>
                      </a:r>
                    </a:p>
                  </a:txBody>
                  <a:tcPr marL="73152" marR="54864" marT="27432" marB="27432" anchor="ctr">
                    <a:solidFill>
                      <a:srgbClr val="FFFFFF"/>
                    </a:solidFill>
                  </a:tcPr>
                </a:tc>
                <a:tc>
                  <a:txBody>
                    <a:bodyPr/>
                    <a:lstStyle/>
                    <a:p>
                      <a:pPr>
                        <a:spcAft>
                          <a:spcPts val="0"/>
                        </a:spcAft>
                      </a:pPr>
                      <a:r>
                        <a:rPr sz="1150" b="0" i="0">
                          <a:solidFill>
                            <a:srgbClr val="444455"/>
                          </a:solidFill>
                          <a:latin typeface="Calibri"/>
                        </a:rPr>
                        <a:t>yes (target)</a:t>
                      </a:r>
                    </a:p>
                  </a:txBody>
                  <a:tcPr marL="73152" marR="54864" marT="27432" marB="27432" anchor="ctr">
                    <a:solidFill>
                      <a:srgbClr val="FFFFFF"/>
                    </a:solidFill>
                  </a:tcPr>
                </a:tc>
              </a:tr>
              <a:tr h="384048">
                <a:tc>
                  <a:txBody>
                    <a:bodyPr/>
                    <a:lstStyle/>
                    <a:p>
                      <a:pPr>
                        <a:spcAft>
                          <a:spcPts val="0"/>
                        </a:spcAft>
                      </a:pPr>
                      <a:r>
                        <a:rPr sz="1150" b="1" i="0">
                          <a:solidFill>
                            <a:srgbClr val="1E1B2E"/>
                          </a:solidFill>
                          <a:latin typeface="Calibri"/>
                        </a:rPr>
                        <a:t>Counterpart / Function</a:t>
                      </a:r>
                    </a:p>
                  </a:txBody>
                  <a:tcPr marL="73152" marR="54864" marT="27432" marB="27432" anchor="ctr">
                    <a:solidFill>
                      <a:srgbClr val="F7F6FC"/>
                    </a:solidFill>
                  </a:tcPr>
                </a:tc>
                <a:tc>
                  <a:txBody>
                    <a:bodyPr/>
                    <a:lstStyle/>
                    <a:p>
                      <a:pPr>
                        <a:spcAft>
                          <a:spcPts val="0"/>
                        </a:spcAft>
                      </a:pPr>
                      <a:r>
                        <a:rPr sz="1150" b="0" i="0">
                          <a:solidFill>
                            <a:srgbClr val="444455"/>
                          </a:solidFill>
                          <a:latin typeface="Calibri"/>
                        </a:rPr>
                        <a:t>—</a:t>
                      </a:r>
                    </a:p>
                  </a:txBody>
                  <a:tcPr marL="73152" marR="54864" marT="27432" marB="27432" anchor="ctr">
                    <a:solidFill>
                      <a:srgbClr val="F7F6FC"/>
                    </a:solidFill>
                  </a:tcPr>
                </a:tc>
                <a:tc>
                  <a:txBody>
                    <a:bodyPr/>
                    <a:lstStyle/>
                    <a:p>
                      <a:pPr>
                        <a:spcAft>
                          <a:spcPts val="0"/>
                        </a:spcAft>
                      </a:pPr>
                      <a:r>
                        <a:rPr sz="1150" b="0" i="0">
                          <a:solidFill>
                            <a:srgbClr val="444455"/>
                          </a:solidFill>
                          <a:latin typeface="Calibri"/>
                        </a:rPr>
                        <a:t>—</a:t>
                      </a:r>
                    </a:p>
                  </a:txBody>
                  <a:tcPr marL="73152" marR="54864" marT="27432" marB="27432" anchor="ctr">
                    <a:solidFill>
                      <a:srgbClr val="F7F6FC"/>
                    </a:solidFill>
                  </a:tcPr>
                </a:tc>
                <a:tc>
                  <a:txBody>
                    <a:bodyPr/>
                    <a:lstStyle/>
                    <a:p>
                      <a:pPr>
                        <a:spcAft>
                          <a:spcPts val="0"/>
                        </a:spcAft>
                      </a:pPr>
                      <a:r>
                        <a:rPr sz="1150" b="0" i="0">
                          <a:solidFill>
                            <a:srgbClr val="444455"/>
                          </a:solidFill>
                          <a:latin typeface="Calibri"/>
                        </a:rPr>
                        <a:t>MAIN (has function)</a:t>
                      </a:r>
                    </a:p>
                  </a:txBody>
                  <a:tcPr marL="73152" marR="54864" marT="27432" marB="27432" anchor="ctr">
                    <a:solidFill>
                      <a:srgbClr val="F7F6FC"/>
                    </a:solidFill>
                  </a:tcPr>
                </a:tc>
                <a:tc>
                  <a:txBody>
                    <a:bodyPr/>
                    <a:lstStyle/>
                    <a:p>
                      <a:pPr>
                        <a:spcAft>
                          <a:spcPts val="0"/>
                        </a:spcAft>
                      </a:pPr>
                      <a:r>
                        <a:rPr sz="1150" b="0" i="0">
                          <a:solidFill>
                            <a:srgbClr val="444455"/>
                          </a:solidFill>
                          <a:latin typeface="Calibri"/>
                        </a:rPr>
                        <a:t>yes</a:t>
                      </a:r>
                    </a:p>
                  </a:txBody>
                  <a:tcPr marL="73152" marR="54864" marT="27432" marB="27432" anchor="ctr">
                    <a:solidFill>
                      <a:srgbClr val="F7F6FC"/>
                    </a:solidFill>
                  </a:tcPr>
                </a:tc>
              </a:tr>
              <a:tr h="384048">
                <a:tc>
                  <a:txBody>
                    <a:bodyPr/>
                    <a:lstStyle/>
                    <a:p>
                      <a:pPr>
                        <a:spcAft>
                          <a:spcPts val="0"/>
                        </a:spcAft>
                      </a:pPr>
                      <a:r>
                        <a:rPr sz="1150" b="1" i="0">
                          <a:solidFill>
                            <a:srgbClr val="1E1B2E"/>
                          </a:solidFill>
                          <a:latin typeface="Calibri"/>
                        </a:rPr>
                        <a:t>Word type</a:t>
                      </a:r>
                    </a:p>
                  </a:txBody>
                  <a:tcPr marL="73152" marR="54864" marT="27432" marB="27432" anchor="ctr">
                    <a:solidFill>
                      <a:srgbClr val="FFFFFF"/>
                    </a:solidFill>
                  </a:tcPr>
                </a:tc>
                <a:tc>
                  <a:txBody>
                    <a:bodyPr/>
                    <a:lstStyle/>
                    <a:p>
                      <a:pPr>
                        <a:spcAft>
                          <a:spcPts val="0"/>
                        </a:spcAft>
                      </a:pPr>
                      <a:r>
                        <a:rPr sz="1150" b="0" i="0">
                          <a:solidFill>
                            <a:srgbClr val="444455"/>
                          </a:solidFill>
                          <a:latin typeface="Calibri"/>
                        </a:rPr>
                        <a:t>yes</a:t>
                      </a:r>
                    </a:p>
                  </a:txBody>
                  <a:tcPr marL="73152" marR="54864" marT="27432" marB="27432" anchor="ctr">
                    <a:solidFill>
                      <a:srgbClr val="FFFFFF"/>
                    </a:solidFill>
                  </a:tcPr>
                </a:tc>
                <a:tc>
                  <a:txBody>
                    <a:bodyPr/>
                    <a:lstStyle/>
                    <a:p>
                      <a:pPr>
                        <a:spcAft>
                          <a:spcPts val="0"/>
                        </a:spcAft>
                      </a:pPr>
                      <a:r>
                        <a:rPr sz="1150" b="0" i="0">
                          <a:solidFill>
                            <a:srgbClr val="444455"/>
                          </a:solidFill>
                          <a:latin typeface="Calibri"/>
                        </a:rPr>
                        <a:t>—</a:t>
                      </a:r>
                    </a:p>
                  </a:txBody>
                  <a:tcPr marL="73152" marR="54864" marT="27432" marB="27432" anchor="ctr">
                    <a:solidFill>
                      <a:srgbClr val="FFFFFF"/>
                    </a:solidFill>
                  </a:tcPr>
                </a:tc>
                <a:tc>
                  <a:txBody>
                    <a:bodyPr/>
                    <a:lstStyle/>
                    <a:p>
                      <a:pPr>
                        <a:spcAft>
                          <a:spcPts val="0"/>
                        </a:spcAft>
                      </a:pPr>
                      <a:r>
                        <a:rPr sz="1150" b="0" i="0">
                          <a:solidFill>
                            <a:srgbClr val="444455"/>
                          </a:solidFill>
                          <a:latin typeface="Calibri"/>
                        </a:rPr>
                        <a:t>—</a:t>
                      </a:r>
                    </a:p>
                  </a:txBody>
                  <a:tcPr marL="73152" marR="54864" marT="27432" marB="27432" anchor="ctr">
                    <a:solidFill>
                      <a:srgbClr val="FFFFFF"/>
                    </a:solidFill>
                  </a:tcPr>
                </a:tc>
                <a:tc>
                  <a:txBody>
                    <a:bodyPr/>
                    <a:lstStyle/>
                    <a:p>
                      <a:pPr>
                        <a:spcAft>
                          <a:spcPts val="0"/>
                        </a:spcAft>
                      </a:pPr>
                      <a:r>
                        <a:rPr sz="1150" b="0" i="0">
                          <a:solidFill>
                            <a:srgbClr val="444455"/>
                          </a:solidFill>
                          <a:latin typeface="Calibri"/>
                        </a:rPr>
                        <a:t>—</a:t>
                      </a:r>
                    </a:p>
                  </a:txBody>
                  <a:tcPr marL="73152" marR="54864" marT="27432" marB="27432" anchor="ctr">
                    <a:solidFill>
                      <a:srgbClr val="FFFFFF"/>
                    </a:solidFill>
                  </a:tcPr>
                </a:tc>
              </a:tr>
              <a:tr h="384048">
                <a:tc>
                  <a:txBody>
                    <a:bodyPr/>
                    <a:lstStyle/>
                    <a:p>
                      <a:pPr>
                        <a:spcAft>
                          <a:spcPts val="0"/>
                        </a:spcAft>
                      </a:pPr>
                      <a:r>
                        <a:rPr sz="1150" b="1" i="0">
                          <a:solidFill>
                            <a:srgbClr val="1E1B2E"/>
                          </a:solidFill>
                          <a:latin typeface="Calibri"/>
                        </a:rPr>
                        <a:t>Exam tag</a:t>
                      </a:r>
                    </a:p>
                  </a:txBody>
                  <a:tcPr marL="73152" marR="54864" marT="27432" marB="27432" anchor="ctr">
                    <a:solidFill>
                      <a:srgbClr val="F7F6FC"/>
                    </a:solidFill>
                  </a:tcPr>
                </a:tc>
                <a:tc>
                  <a:txBody>
                    <a:bodyPr/>
                    <a:lstStyle/>
                    <a:p>
                      <a:pPr>
                        <a:spcAft>
                          <a:spcPts val="0"/>
                        </a:spcAft>
                      </a:pPr>
                      <a:r>
                        <a:rPr sz="1150" b="0" i="0">
                          <a:solidFill>
                            <a:srgbClr val="444455"/>
                          </a:solidFill>
                          <a:latin typeface="Calibri"/>
                        </a:rPr>
                        <a:t>yes</a:t>
                      </a:r>
                    </a:p>
                  </a:txBody>
                  <a:tcPr marL="73152" marR="54864" marT="27432" marB="27432" anchor="ctr">
                    <a:solidFill>
                      <a:srgbClr val="F7F6FC"/>
                    </a:solidFill>
                  </a:tcPr>
                </a:tc>
                <a:tc>
                  <a:txBody>
                    <a:bodyPr/>
                    <a:lstStyle/>
                    <a:p>
                      <a:pPr>
                        <a:spcAft>
                          <a:spcPts val="0"/>
                        </a:spcAft>
                      </a:pPr>
                      <a:r>
                        <a:rPr sz="1150" b="0" i="0">
                          <a:solidFill>
                            <a:srgbClr val="444455"/>
                          </a:solidFill>
                          <a:latin typeface="Calibri"/>
                        </a:rPr>
                        <a:t>yes</a:t>
                      </a:r>
                    </a:p>
                  </a:txBody>
                  <a:tcPr marL="73152" marR="54864" marT="27432" marB="27432" anchor="ctr">
                    <a:solidFill>
                      <a:srgbClr val="F7F6FC"/>
                    </a:solidFill>
                  </a:tcPr>
                </a:tc>
                <a:tc>
                  <a:txBody>
                    <a:bodyPr/>
                    <a:lstStyle/>
                    <a:p>
                      <a:pPr>
                        <a:spcAft>
                          <a:spcPts val="0"/>
                        </a:spcAft>
                      </a:pPr>
                      <a:r>
                        <a:rPr sz="1150" b="0" i="0">
                          <a:solidFill>
                            <a:srgbClr val="444455"/>
                          </a:solidFill>
                          <a:latin typeface="Calibri"/>
                        </a:rPr>
                        <a:t>yes</a:t>
                      </a:r>
                    </a:p>
                  </a:txBody>
                  <a:tcPr marL="73152" marR="54864" marT="27432" marB="27432" anchor="ctr">
                    <a:solidFill>
                      <a:srgbClr val="F7F6FC"/>
                    </a:solidFill>
                  </a:tcPr>
                </a:tc>
                <a:tc>
                  <a:txBody>
                    <a:bodyPr/>
                    <a:lstStyle/>
                    <a:p>
                      <a:pPr>
                        <a:spcAft>
                          <a:spcPts val="0"/>
                        </a:spcAft>
                      </a:pPr>
                      <a:r>
                        <a:rPr sz="1150" b="0" i="0">
                          <a:solidFill>
                            <a:srgbClr val="444455"/>
                          </a:solidFill>
                          <a:latin typeface="Calibri"/>
                        </a:rPr>
                        <a:t>MAIN (task type)</a:t>
                      </a:r>
                    </a:p>
                  </a:txBody>
                  <a:tcPr marL="73152" marR="54864" marT="27432" marB="27432" anchor="ctr">
                    <a:solidFill>
                      <a:srgbClr val="F7F6FC"/>
                    </a:solidFill>
                  </a:tcPr>
                </a:tc>
              </a:tr>
            </a:tbl>
          </a:graphicData>
        </a:graphic>
      </p:graphicFrame>
      <p:sp>
        <p:nvSpPr>
          <p:cNvPr id="10" name="Rounded Rectangle 9"/>
          <p:cNvSpPr/>
          <p:nvPr/>
        </p:nvSpPr>
        <p:spPr>
          <a:xfrm>
            <a:off x="548640" y="5394960"/>
            <a:ext cx="11064240" cy="1097280"/>
          </a:xfrm>
          <a:prstGeom prst="roundRect">
            <a:avLst/>
          </a:prstGeom>
          <a:solidFill>
            <a:srgbClr val="F4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64592" tIns="118872"/>
          <a:lstStyle/>
          <a:p>
            <a:pPr algn="l">
              <a:spcBef>
                <a:spcPts val="0"/>
              </a:spcBef>
              <a:spcAft>
                <a:spcPts val="400"/>
              </a:spcAft>
            </a:pPr>
            <a:r>
              <a:rPr sz="1400" b="1" i="0">
                <a:solidFill>
                  <a:srgbClr val="5B5BE6"/>
                </a:solidFill>
                <a:latin typeface="Calibri"/>
              </a:rPr>
              <a:t>The key insight</a:t>
            </a:r>
          </a:p>
          <a:p>
            <a:pPr algn="l">
              <a:spcBef>
                <a:spcPts val="0"/>
              </a:spcBef>
              <a:spcAft>
                <a:spcPts val="500"/>
              </a:spcAft>
            </a:pPr>
            <a:r>
              <a:rPr sz="1350" b="0" i="0">
                <a:solidFill>
                  <a:srgbClr val="444455"/>
                </a:solidFill>
                <a:latin typeface="Calibri"/>
              </a:rPr>
              <a:t>Phrases (Redemittel) are best sorted by what they're FOR (agree, negotiate) and who they're for (boss vs. peer), not by topic, and our code already does the “function” half. Don't force them under topics; add Mode, topic and counterpart as extra labels. Respect each module's natural primary label; share everything else.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5B5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424160" cy="365760"/>
          </a:xfrm>
          <a:prstGeom prst="rect">
            <a:avLst/>
          </a:prstGeom>
          <a:noFill/>
        </p:spPr>
        <p:txBody>
          <a:bodyPr wrap="square" anchor="t" lIns="45720" rIns="45720" tIns="18288" bIns="18288">
            <a:spAutoFit/>
          </a:bodyPr>
          <a:lstStyle/>
          <a:p>
            <a:pPr algn="l">
              <a:spcBef>
                <a:spcPts val="0"/>
              </a:spcBef>
              <a:spcAft>
                <a:spcPts val="200"/>
              </a:spcAft>
            </a:pPr>
            <a:r>
              <a:rPr sz="1200" b="1" i="0">
                <a:solidFill>
                  <a:srgbClr val="5B5BE6"/>
                </a:solidFill>
                <a:latin typeface="Calibri"/>
              </a:rPr>
              <a:t>SLIDE 30  ·  ACROSS THE 4 MODULES</a:t>
            </a:r>
          </a:p>
        </p:txBody>
      </p:sp>
      <p:sp>
        <p:nvSpPr>
          <p:cNvPr id="5" name="TextBox 4"/>
          <p:cNvSpPr txBox="1"/>
          <p:nvPr/>
        </p:nvSpPr>
        <p:spPr>
          <a:xfrm>
            <a:off x="502920" y="585216"/>
            <a:ext cx="10881360" cy="868680"/>
          </a:xfrm>
          <a:prstGeom prst="rect">
            <a:avLst/>
          </a:prstGeom>
          <a:noFill/>
        </p:spPr>
        <p:txBody>
          <a:bodyPr wrap="square" anchor="t" lIns="45720" rIns="45720" tIns="18288" bIns="18288">
            <a:spAutoFit/>
          </a:bodyPr>
          <a:lstStyle/>
          <a:p>
            <a:pPr algn="l">
              <a:spcBef>
                <a:spcPts val="0"/>
              </a:spcBef>
              <a:spcAft>
                <a:spcPts val="0"/>
              </a:spcAft>
            </a:pPr>
            <a:r>
              <a:rPr sz="2600" b="1" i="0">
                <a:solidFill>
                  <a:srgbClr val="1E1B2E"/>
                </a:solidFill>
                <a:latin typeface="Calibri"/>
              </a:rPr>
              <a:t>What to lock down vs. let vary</a:t>
            </a:r>
          </a:p>
        </p:txBody>
      </p:sp>
      <p:sp>
        <p:nvSpPr>
          <p:cNvPr id="6" name="Rounded Rectangle 5"/>
          <p:cNvSpPr/>
          <p:nvPr/>
        </p:nvSpPr>
        <p:spPr>
          <a:xfrm>
            <a:off x="11338560" y="310896"/>
            <a:ext cx="566928" cy="384048"/>
          </a:xfrm>
          <a:prstGeom prst="roundRect">
            <a:avLst/>
          </a:prstGeom>
          <a:solidFill>
            <a:srgbClr val="F4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i="0">
                <a:solidFill>
                  <a:srgbClr val="5B5BE6"/>
                </a:solidFill>
                <a:latin typeface="Calibri"/>
              </a:rPr>
              <a:t>30</a:t>
            </a:r>
          </a:p>
        </p:txBody>
      </p:sp>
      <p:sp>
        <p:nvSpPr>
          <p:cNvPr id="7" name="Rectangle 6"/>
          <p:cNvSpPr/>
          <p:nvPr/>
        </p:nvSpPr>
        <p:spPr>
          <a:xfrm>
            <a:off x="502920" y="1335024"/>
            <a:ext cx="1920240" cy="36576"/>
          </a:xfrm>
          <a:prstGeom prst="rect">
            <a:avLst/>
          </a:prstGeom>
          <a:solidFill>
            <a:srgbClr val="5B5B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572768"/>
            <a:ext cx="5440680" cy="4114800"/>
          </a:xfrm>
          <a:prstGeom prst="roundRect">
            <a:avLst/>
          </a:prstGeom>
          <a:solidFill>
            <a:srgbClr val="EAF7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64592" tIns="118872"/>
          <a:lstStyle/>
          <a:p>
            <a:pPr algn="l">
              <a:spcBef>
                <a:spcPts val="0"/>
              </a:spcBef>
              <a:spcAft>
                <a:spcPts val="400"/>
              </a:spcAft>
            </a:pPr>
            <a:r>
              <a:rPr sz="1400" b="1" i="0">
                <a:solidFill>
                  <a:srgbClr val="2A9D6E"/>
                </a:solidFill>
                <a:latin typeface="Calibri"/>
              </a:rPr>
              <a:t>Lock down (one shared definition)</a:t>
            </a:r>
          </a:p>
          <a:p>
            <a:pPr algn="l">
              <a:spcBef>
                <a:spcPts val="0"/>
              </a:spcBef>
              <a:spcAft>
                <a:spcPts val="300"/>
              </a:spcAft>
            </a:pPr>
            <a:r>
              <a:rPr sz="1350" b="0" i="0">
                <a:solidFill>
                  <a:srgbClr val="444455"/>
                </a:solidFill>
                <a:latin typeface="Calibri"/>
              </a:rPr>
              <a:t>•  Mode – one Work/Personal/Both lens every module honors.</a:t>
            </a:r>
          </a:p>
          <a:p>
            <a:pPr algn="l">
              <a:spcBef>
                <a:spcPts val="0"/>
              </a:spcBef>
              <a:spcAft>
                <a:spcPts val="200"/>
              </a:spcAft>
            </a:pPr>
            <a:r>
              <a:rPr sz="1350" b="0" i="0">
                <a:solidFill>
                  <a:srgbClr val="444455"/>
                </a:solidFill>
                <a:latin typeface="Calibri"/>
              </a:rPr>
              <a:t> </a:t>
            </a:r>
          </a:p>
          <a:p>
            <a:pPr algn="l">
              <a:spcBef>
                <a:spcPts val="0"/>
              </a:spcBef>
              <a:spcAft>
                <a:spcPts val="300"/>
              </a:spcAft>
            </a:pPr>
            <a:r>
              <a:rPr sz="1350" b="0" i="0">
                <a:solidFill>
                  <a:srgbClr val="444455"/>
                </a:solidFill>
                <a:latin typeface="Calibri"/>
              </a:rPr>
              <a:t>•  The topic tree – one master list every module points at. This links words to phrases to writing.</a:t>
            </a:r>
          </a:p>
          <a:p>
            <a:pPr algn="l">
              <a:spcBef>
                <a:spcPts val="0"/>
              </a:spcBef>
              <a:spcAft>
                <a:spcPts val="200"/>
              </a:spcAft>
            </a:pPr>
            <a:r>
              <a:rPr sz="1350" b="0" i="0">
                <a:solidFill>
                  <a:srgbClr val="444455"/>
                </a:solidFill>
                <a:latin typeface="Calibri"/>
              </a:rPr>
              <a:t> </a:t>
            </a:r>
          </a:p>
          <a:p>
            <a:pPr algn="l">
              <a:spcBef>
                <a:spcPts val="0"/>
              </a:spcBef>
              <a:spcAft>
                <a:spcPts val="300"/>
              </a:spcAft>
            </a:pPr>
            <a:r>
              <a:rPr sz="1350" b="0" i="0">
                <a:solidFill>
                  <a:srgbClr val="444455"/>
                </a:solidFill>
                <a:latin typeface="Calibri"/>
              </a:rPr>
              <a:t>•  The level scale – one A1–C2 ladder used everywhere. (Today the quiz uses a private 1-2-3; fold it in.)</a:t>
            </a:r>
          </a:p>
          <a:p>
            <a:pPr algn="l">
              <a:spcBef>
                <a:spcPts val="0"/>
              </a:spcBef>
              <a:spcAft>
                <a:spcPts val="200"/>
              </a:spcAft>
            </a:pPr>
            <a:r>
              <a:rPr sz="1350" b="0" i="0">
                <a:solidFill>
                  <a:srgbClr val="444455"/>
                </a:solidFill>
                <a:latin typeface="Calibri"/>
              </a:rPr>
              <a:t> </a:t>
            </a:r>
          </a:p>
          <a:p>
            <a:pPr algn="l">
              <a:spcBef>
                <a:spcPts val="0"/>
              </a:spcBef>
              <a:spcAft>
                <a:spcPts val="300"/>
              </a:spcAft>
            </a:pPr>
            <a:r>
              <a:rPr sz="1350" b="0" i="0">
                <a:solidFill>
                  <a:srgbClr val="444455"/>
                </a:solidFill>
                <a:latin typeface="Calibri"/>
              </a:rPr>
              <a:t>•  Formality &amp; Sector – one shared list each, so a “formal care-sector” filter means the same everywhere.</a:t>
            </a:r>
          </a:p>
        </p:txBody>
      </p:sp>
      <p:sp>
        <p:nvSpPr>
          <p:cNvPr id="9" name="Rounded Rectangle 8"/>
          <p:cNvSpPr/>
          <p:nvPr/>
        </p:nvSpPr>
        <p:spPr>
          <a:xfrm>
            <a:off x="6217920" y="1572768"/>
            <a:ext cx="5440680" cy="4114800"/>
          </a:xfrm>
          <a:prstGeom prst="roundRect">
            <a:avLst/>
          </a:prstGeom>
          <a:solidFill>
            <a:srgbClr val="F4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64592" tIns="118872"/>
          <a:lstStyle/>
          <a:p>
            <a:pPr algn="l">
              <a:spcBef>
                <a:spcPts val="0"/>
              </a:spcBef>
              <a:spcAft>
                <a:spcPts val="400"/>
              </a:spcAft>
            </a:pPr>
            <a:r>
              <a:rPr sz="1400" b="1" i="0">
                <a:solidFill>
                  <a:srgbClr val="5B5BE6"/>
                </a:solidFill>
                <a:latin typeface="Calibri"/>
              </a:rPr>
              <a:t>Let vary (each module's own)</a:t>
            </a:r>
          </a:p>
          <a:p>
            <a:pPr algn="l">
              <a:spcBef>
                <a:spcPts val="0"/>
              </a:spcBef>
              <a:spcAft>
                <a:spcPts val="300"/>
              </a:spcAft>
            </a:pPr>
            <a:r>
              <a:rPr sz="1350" b="0" i="0">
                <a:solidFill>
                  <a:srgbClr val="444455"/>
                </a:solidFill>
                <a:latin typeface="Calibri"/>
              </a:rPr>
              <a:t>•  Each module's MAIN sorting label – topic for words, function/counterpart for phrases, task type for writing.</a:t>
            </a:r>
          </a:p>
          <a:p>
            <a:pPr algn="l">
              <a:spcBef>
                <a:spcPts val="0"/>
              </a:spcBef>
              <a:spcAft>
                <a:spcPts val="200"/>
              </a:spcAft>
            </a:pPr>
            <a:r>
              <a:rPr sz="1350" b="0" i="0">
                <a:solidFill>
                  <a:srgbClr val="444455"/>
                </a:solidFill>
                <a:latin typeface="Calibri"/>
              </a:rPr>
              <a:t> </a:t>
            </a:r>
          </a:p>
          <a:p>
            <a:pPr algn="l">
              <a:spcBef>
                <a:spcPts val="0"/>
              </a:spcBef>
              <a:spcAft>
                <a:spcPts val="300"/>
              </a:spcAft>
            </a:pPr>
            <a:r>
              <a:rPr sz="1350" b="0" i="0">
                <a:solidFill>
                  <a:srgbClr val="444455"/>
                </a:solidFill>
                <a:latin typeface="Calibri"/>
              </a:rPr>
              <a:t>•  Labels only that module needs – word type for vocabulary, task type for writing.</a:t>
            </a:r>
          </a:p>
          <a:p>
            <a:pPr algn="l">
              <a:spcBef>
                <a:spcPts val="0"/>
              </a:spcBef>
              <a:spcAft>
                <a:spcPts val="200"/>
              </a:spcAft>
            </a:pPr>
            <a:r>
              <a:rPr sz="1350" b="0" i="0">
                <a:solidFill>
                  <a:srgbClr val="444455"/>
                </a:solidFill>
                <a:latin typeface="Calibri"/>
              </a:rPr>
              <a:t> </a:t>
            </a:r>
          </a:p>
          <a:p>
            <a:pPr algn="l">
              <a:spcBef>
                <a:spcPts val="0"/>
              </a:spcBef>
              <a:spcAft>
                <a:spcPts val="500"/>
              </a:spcAft>
            </a:pPr>
            <a:r>
              <a:rPr sz="1350" b="0" i="0">
                <a:solidFill>
                  <a:srgbClr val="444455"/>
                </a:solidFill>
                <a:latin typeface="Calibri"/>
              </a:rPr>
              <a:t>Rule of thumb: lock it down the moment a learner might filter across modules on it (Mode, level, topic, formality, sector, exam). Keep it private only if meaningless elsewhere.</a:t>
            </a:r>
          </a:p>
        </p:txBody>
      </p:sp>
      <p:sp>
        <p:nvSpPr>
          <p:cNvPr id="10" name="Rounded Rectangle 9"/>
          <p:cNvSpPr/>
          <p:nvPr/>
        </p:nvSpPr>
        <p:spPr>
          <a:xfrm>
            <a:off x="548640" y="5897880"/>
            <a:ext cx="11064240" cy="640080"/>
          </a:xfrm>
          <a:prstGeom prst="roundRect">
            <a:avLst/>
          </a:prstGeom>
          <a:solidFill>
            <a:srgbClr val="FBF1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64592" tIns="118872"/>
          <a:lstStyle/>
          <a:p>
            <a:pPr algn="l">
              <a:spcBef>
                <a:spcPts val="0"/>
              </a:spcBef>
              <a:spcAft>
                <a:spcPts val="400"/>
              </a:spcAft>
            </a:pPr>
            <a:r>
              <a:rPr sz="1400" b="1" i="0">
                <a:solidFill>
                  <a:srgbClr val="C06A2A"/>
                </a:solidFill>
                <a:latin typeface="Calibri"/>
              </a:rPr>
              <a:t>Highest-leverage cleanup</a:t>
            </a:r>
          </a:p>
          <a:p>
            <a:pPr algn="l">
              <a:spcBef>
                <a:spcPts val="0"/>
              </a:spcBef>
              <a:spcAft>
                <a:spcPts val="500"/>
              </a:spcAft>
            </a:pPr>
            <a:r>
              <a:rPr sz="1300" b="0" i="0">
                <a:solidFill>
                  <a:srgbClr val="444455"/>
                </a:solidFill>
                <a:latin typeface="Calibri"/>
              </a:rPr>
              <a:t>“Level” is invisible today and the quiz secretly uses its own 1-2-3 scale. Merging onto one real level scale, and adding Mode, are the two foundational moves the whole plan rests on.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C0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424160" cy="365760"/>
          </a:xfrm>
          <a:prstGeom prst="rect">
            <a:avLst/>
          </a:prstGeom>
          <a:noFill/>
        </p:spPr>
        <p:txBody>
          <a:bodyPr wrap="square" anchor="t" lIns="45720" rIns="45720" tIns="18288" bIns="18288">
            <a:spAutoFit/>
          </a:bodyPr>
          <a:lstStyle/>
          <a:p>
            <a:pPr algn="l">
              <a:spcBef>
                <a:spcPts val="0"/>
              </a:spcBef>
              <a:spcAft>
                <a:spcPts val="200"/>
              </a:spcAft>
            </a:pPr>
            <a:r>
              <a:rPr sz="1200" b="1" i="0">
                <a:solidFill>
                  <a:srgbClr val="C06A2A"/>
                </a:solidFill>
                <a:latin typeface="Calibri"/>
              </a:rPr>
              <a:t>SLIDE 31  ·  HONEST TRADEOFFS</a:t>
            </a:r>
          </a:p>
        </p:txBody>
      </p:sp>
      <p:sp>
        <p:nvSpPr>
          <p:cNvPr id="5" name="TextBox 4"/>
          <p:cNvSpPr txBox="1"/>
          <p:nvPr/>
        </p:nvSpPr>
        <p:spPr>
          <a:xfrm>
            <a:off x="502920" y="585216"/>
            <a:ext cx="10881360" cy="868680"/>
          </a:xfrm>
          <a:prstGeom prst="rect">
            <a:avLst/>
          </a:prstGeom>
          <a:noFill/>
        </p:spPr>
        <p:txBody>
          <a:bodyPr wrap="square" anchor="t" lIns="45720" rIns="45720" tIns="18288" bIns="18288">
            <a:spAutoFit/>
          </a:bodyPr>
          <a:lstStyle/>
          <a:p>
            <a:pPr algn="l">
              <a:spcBef>
                <a:spcPts val="0"/>
              </a:spcBef>
              <a:spcAft>
                <a:spcPts val="0"/>
              </a:spcAft>
            </a:pPr>
            <a:r>
              <a:rPr sz="2600" b="1" i="0">
                <a:solidFill>
                  <a:srgbClr val="1E1B2E"/>
                </a:solidFill>
                <a:latin typeface="Calibri"/>
              </a:rPr>
              <a:t>What could go wrong, and the answer</a:t>
            </a:r>
          </a:p>
        </p:txBody>
      </p:sp>
      <p:sp>
        <p:nvSpPr>
          <p:cNvPr id="6" name="Rounded Rectangle 5"/>
          <p:cNvSpPr/>
          <p:nvPr/>
        </p:nvSpPr>
        <p:spPr>
          <a:xfrm>
            <a:off x="11338560" y="310896"/>
            <a:ext cx="566928" cy="384048"/>
          </a:xfrm>
          <a:prstGeom prst="roundRect">
            <a:avLst/>
          </a:prstGeom>
          <a:solidFill>
            <a:srgbClr val="F4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i="0">
                <a:solidFill>
                  <a:srgbClr val="5B5BE6"/>
                </a:solidFill>
                <a:latin typeface="Calibri"/>
              </a:rPr>
              <a:t>31</a:t>
            </a:r>
          </a:p>
        </p:txBody>
      </p:sp>
      <p:sp>
        <p:nvSpPr>
          <p:cNvPr id="7" name="Rectangle 6"/>
          <p:cNvSpPr/>
          <p:nvPr/>
        </p:nvSpPr>
        <p:spPr>
          <a:xfrm>
            <a:off x="502920" y="1335024"/>
            <a:ext cx="1920240" cy="36576"/>
          </a:xfrm>
          <a:prstGeom prst="rect">
            <a:avLst/>
          </a:prstGeom>
          <a:solidFill>
            <a:srgbClr val="C0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548640" y="1572768"/>
          <a:ext cx="11064240" cy="4059936"/>
        </p:xfrm>
        <a:graphic>
          <a:graphicData uri="http://schemas.openxmlformats.org/drawingml/2006/table">
            <a:tbl>
              <a:tblPr>
                <a:tableStyleId>{5C22544A-7EE6-4342-B048-85BDC9FD1C3A}</a:tableStyleId>
              </a:tblPr>
              <a:tblGrid>
                <a:gridCol w="4023360"/>
                <a:gridCol w="1463040"/>
                <a:gridCol w="5577840"/>
              </a:tblGrid>
              <a:tr h="676656">
                <a:tc>
                  <a:txBody>
                    <a:bodyPr/>
                    <a:lstStyle/>
                    <a:p>
                      <a:pPr>
                        <a:spcAft>
                          <a:spcPts val="0"/>
                        </a:spcAft>
                      </a:pPr>
                      <a:r>
                        <a:rPr sz="1100" b="1" i="0">
                          <a:solidFill>
                            <a:srgbClr val="FFFFFF"/>
                          </a:solidFill>
                          <a:latin typeface="Calibri"/>
                        </a:rPr>
                        <a:t>Risk</a:t>
                      </a:r>
                    </a:p>
                  </a:txBody>
                  <a:tcPr marL="73152" marR="54864" marT="27432" marB="27432" anchor="ctr">
                    <a:solidFill>
                      <a:srgbClr val="5B5BE6"/>
                    </a:solidFill>
                  </a:tcPr>
                </a:tc>
                <a:tc>
                  <a:txBody>
                    <a:bodyPr/>
                    <a:lstStyle/>
                    <a:p>
                      <a:pPr>
                        <a:spcAft>
                          <a:spcPts val="0"/>
                        </a:spcAft>
                      </a:pPr>
                      <a:r>
                        <a:rPr sz="1100" b="1" i="0">
                          <a:solidFill>
                            <a:srgbClr val="FFFFFF"/>
                          </a:solidFill>
                          <a:latin typeface="Calibri"/>
                        </a:rPr>
                        <a:t>How real</a:t>
                      </a:r>
                    </a:p>
                  </a:txBody>
                  <a:tcPr marL="73152" marR="54864" marT="27432" marB="27432" anchor="ctr">
                    <a:solidFill>
                      <a:srgbClr val="5B5BE6"/>
                    </a:solidFill>
                  </a:tcPr>
                </a:tc>
                <a:tc>
                  <a:txBody>
                    <a:bodyPr/>
                    <a:lstStyle/>
                    <a:p>
                      <a:pPr>
                        <a:spcAft>
                          <a:spcPts val="0"/>
                        </a:spcAft>
                      </a:pPr>
                      <a:r>
                        <a:rPr sz="1100" b="1" i="0">
                          <a:solidFill>
                            <a:srgbClr val="FFFFFF"/>
                          </a:solidFill>
                          <a:latin typeface="Calibri"/>
                        </a:rPr>
                        <a:t>Our answer</a:t>
                      </a:r>
                    </a:p>
                  </a:txBody>
                  <a:tcPr marL="73152" marR="54864" marT="27432" marB="27432" anchor="ctr">
                    <a:solidFill>
                      <a:srgbClr val="5B5BE6"/>
                    </a:solidFill>
                  </a:tcPr>
                </a:tc>
              </a:tr>
              <a:tr h="676656">
                <a:tc>
                  <a:txBody>
                    <a:bodyPr/>
                    <a:lstStyle/>
                    <a:p>
                      <a:pPr>
                        <a:spcAft>
                          <a:spcPts val="0"/>
                        </a:spcAft>
                      </a:pPr>
                      <a:r>
                        <a:rPr sz="1150" b="1" i="0">
                          <a:solidFill>
                            <a:srgbClr val="1E1B2E"/>
                          </a:solidFill>
                          <a:latin typeface="Calibri"/>
                        </a:rPr>
                        <a:t>Mode could wall content off / annoy “Both” users</a:t>
                      </a:r>
                    </a:p>
                  </a:txBody>
                  <a:tcPr marL="73152" marR="54864" marT="27432" marB="27432" anchor="ctr">
                    <a:solidFill>
                      <a:srgbClr val="FFFFFF"/>
                    </a:solidFill>
                  </a:tcPr>
                </a:tc>
                <a:tc>
                  <a:txBody>
                    <a:bodyPr/>
                    <a:lstStyle/>
                    <a:p>
                      <a:pPr>
                        <a:spcAft>
                          <a:spcPts val="0"/>
                        </a:spcAft>
                      </a:pPr>
                      <a:r>
                        <a:rPr sz="1150" b="0" i="0">
                          <a:solidFill>
                            <a:srgbClr val="444455"/>
                          </a:solidFill>
                          <a:latin typeface="Calibri"/>
                        </a:rPr>
                        <a:t>High</a:t>
                      </a:r>
                    </a:p>
                  </a:txBody>
                  <a:tcPr marL="73152" marR="54864" marT="27432" marB="27432" anchor="ctr">
                    <a:solidFill>
                      <a:srgbClr val="FFFFFF"/>
                    </a:solidFill>
                  </a:tcPr>
                </a:tc>
                <a:tc>
                  <a:txBody>
                    <a:bodyPr/>
                    <a:lstStyle/>
                    <a:p>
                      <a:pPr>
                        <a:spcAft>
                          <a:spcPts val="0"/>
                        </a:spcAft>
                      </a:pPr>
                      <a:r>
                        <a:rPr sz="1150" b="0" i="0">
                          <a:solidFill>
                            <a:srgbClr val="444455"/>
                          </a:solidFill>
                          <a:latin typeface="Calibri"/>
                        </a:rPr>
                        <a:t>Mode is a lens, never a wall (slide 11); search ignores it; one-tap switch</a:t>
                      </a:r>
                    </a:p>
                  </a:txBody>
                  <a:tcPr marL="73152" marR="54864" marT="27432" marB="27432" anchor="ctr">
                    <a:solidFill>
                      <a:srgbClr val="FFFFFF"/>
                    </a:solidFill>
                  </a:tcPr>
                </a:tc>
              </a:tr>
              <a:tr h="676656">
                <a:tc>
                  <a:txBody>
                    <a:bodyPr/>
                    <a:lstStyle/>
                    <a:p>
                      <a:pPr>
                        <a:spcAft>
                          <a:spcPts val="0"/>
                        </a:spcAft>
                      </a:pPr>
                      <a:r>
                        <a:rPr sz="1150" b="1" i="0">
                          <a:solidFill>
                            <a:srgbClr val="1E1B2E"/>
                          </a:solidFill>
                          <a:latin typeface="Calibri"/>
                        </a:rPr>
                        <a:t>“Sector” has almost no content yet</a:t>
                      </a:r>
                    </a:p>
                  </a:txBody>
                  <a:tcPr marL="73152" marR="54864" marT="27432" marB="27432" anchor="ctr">
                    <a:solidFill>
                      <a:srgbClr val="F7F6FC"/>
                    </a:solidFill>
                  </a:tcPr>
                </a:tc>
                <a:tc>
                  <a:txBody>
                    <a:bodyPr/>
                    <a:lstStyle/>
                    <a:p>
                      <a:pPr>
                        <a:spcAft>
                          <a:spcPts val="0"/>
                        </a:spcAft>
                      </a:pPr>
                      <a:r>
                        <a:rPr sz="1150" b="0" i="0">
                          <a:solidFill>
                            <a:srgbClr val="444455"/>
                          </a:solidFill>
                          <a:latin typeface="Calibri"/>
                        </a:rPr>
                        <a:t>High (fair)</a:t>
                      </a:r>
                    </a:p>
                  </a:txBody>
                  <a:tcPr marL="73152" marR="54864" marT="27432" marB="27432" anchor="ctr">
                    <a:solidFill>
                      <a:srgbClr val="F7F6FC"/>
                    </a:solidFill>
                  </a:tcPr>
                </a:tc>
                <a:tc>
                  <a:txBody>
                    <a:bodyPr/>
                    <a:lstStyle/>
                    <a:p>
                      <a:pPr>
                        <a:spcAft>
                          <a:spcPts val="0"/>
                        </a:spcAft>
                      </a:pPr>
                      <a:r>
                        <a:rPr sz="1150" b="0" i="0">
                          <a:solidFill>
                            <a:srgbClr val="444455"/>
                          </a:solidFill>
                          <a:latin typeface="Calibri"/>
                        </a:rPr>
                        <a:t>Ship 2–3 real sectors (e.g. care, office) we'll actually build; don't show empty ones</a:t>
                      </a:r>
                    </a:p>
                  </a:txBody>
                  <a:tcPr marL="73152" marR="54864" marT="27432" marB="27432" anchor="ctr">
                    <a:solidFill>
                      <a:srgbClr val="F7F6FC"/>
                    </a:solidFill>
                  </a:tcPr>
                </a:tc>
              </a:tr>
              <a:tr h="676656">
                <a:tc>
                  <a:txBody>
                    <a:bodyPr/>
                    <a:lstStyle/>
                    <a:p>
                      <a:pPr>
                        <a:spcAft>
                          <a:spcPts val="0"/>
                        </a:spcAft>
                      </a:pPr>
                      <a:r>
                        <a:rPr sz="1150" b="1" i="0">
                          <a:solidFill>
                            <a:srgbClr val="1E1B2E"/>
                          </a:solidFill>
                          <a:latin typeface="Calibri"/>
                        </a:rPr>
                        <a:t>Re-labeling ~660 items is work</a:t>
                      </a:r>
                    </a:p>
                  </a:txBody>
                  <a:tcPr marL="73152" marR="54864" marT="27432" marB="27432" anchor="ctr">
                    <a:solidFill>
                      <a:srgbClr val="FFFFFF"/>
                    </a:solidFill>
                  </a:tcPr>
                </a:tc>
                <a:tc>
                  <a:txBody>
                    <a:bodyPr/>
                    <a:lstStyle/>
                    <a:p>
                      <a:pPr>
                        <a:spcAft>
                          <a:spcPts val="0"/>
                        </a:spcAft>
                      </a:pPr>
                      <a:r>
                        <a:rPr sz="1150" b="0" i="0">
                          <a:solidFill>
                            <a:srgbClr val="444455"/>
                          </a:solidFill>
                          <a:latin typeface="Calibri"/>
                        </a:rPr>
                        <a:t>Medium</a:t>
                      </a:r>
                    </a:p>
                  </a:txBody>
                  <a:tcPr marL="73152" marR="54864" marT="27432" marB="27432" anchor="ctr">
                    <a:solidFill>
                      <a:srgbClr val="FFFFFF"/>
                    </a:solidFill>
                  </a:tcPr>
                </a:tc>
                <a:tc>
                  <a:txBody>
                    <a:bodyPr/>
                    <a:lstStyle/>
                    <a:p>
                      <a:pPr>
                        <a:spcAft>
                          <a:spcPts val="0"/>
                        </a:spcAft>
                      </a:pPr>
                      <a:r>
                        <a:rPr sz="1150" b="0" i="0">
                          <a:solidFill>
                            <a:srgbClr val="444455"/>
                          </a:solidFill>
                          <a:latin typeface="Calibri"/>
                        </a:rPr>
                        <a:t>Every label optional + rolls up; back-fill topic-by-topic; AI drafts, human checks</a:t>
                      </a:r>
                    </a:p>
                  </a:txBody>
                  <a:tcPr marL="73152" marR="54864" marT="27432" marB="27432" anchor="ctr">
                    <a:solidFill>
                      <a:srgbClr val="FFFFFF"/>
                    </a:solidFill>
                  </a:tcPr>
                </a:tc>
              </a:tr>
              <a:tr h="676656">
                <a:tc>
                  <a:txBody>
                    <a:bodyPr/>
                    <a:lstStyle/>
                    <a:p>
                      <a:pPr>
                        <a:spcAft>
                          <a:spcPts val="0"/>
                        </a:spcAft>
                      </a:pPr>
                      <a:r>
                        <a:rPr sz="1150" b="1" i="0">
                          <a:solidFill>
                            <a:srgbClr val="1E1B2E"/>
                          </a:solidFill>
                          <a:latin typeface="Calibri"/>
                        </a:rPr>
                        <a:t>Deciding a word's level / sector is subjective</a:t>
                      </a:r>
                    </a:p>
                  </a:txBody>
                  <a:tcPr marL="73152" marR="54864" marT="27432" marB="27432" anchor="ctr">
                    <a:solidFill>
                      <a:srgbClr val="F7F6FC"/>
                    </a:solidFill>
                  </a:tcPr>
                </a:tc>
                <a:tc>
                  <a:txBody>
                    <a:bodyPr/>
                    <a:lstStyle/>
                    <a:p>
                      <a:pPr>
                        <a:spcAft>
                          <a:spcPts val="0"/>
                        </a:spcAft>
                      </a:pPr>
                      <a:r>
                        <a:rPr sz="1150" b="0" i="0">
                          <a:solidFill>
                            <a:srgbClr val="444455"/>
                          </a:solidFill>
                          <a:latin typeface="Calibri"/>
                        </a:rPr>
                        <a:t>Medium</a:t>
                      </a:r>
                    </a:p>
                  </a:txBody>
                  <a:tcPr marL="73152" marR="54864" marT="27432" marB="27432" anchor="ctr">
                    <a:solidFill>
                      <a:srgbClr val="F7F6FC"/>
                    </a:solidFill>
                  </a:tcPr>
                </a:tc>
                <a:tc>
                  <a:txBody>
                    <a:bodyPr/>
                    <a:lstStyle/>
                    <a:p>
                      <a:pPr>
                        <a:spcAft>
                          <a:spcPts val="0"/>
                        </a:spcAft>
                      </a:pPr>
                      <a:r>
                        <a:rPr sz="1150" b="0" i="0">
                          <a:solidFill>
                            <a:srgbClr val="444455"/>
                          </a:solidFill>
                          <a:latin typeface="Calibri"/>
                        </a:rPr>
                        <a:t>Draft → verify workflow we already use; lean on telc / DeuFöV word lists</a:t>
                      </a:r>
                    </a:p>
                  </a:txBody>
                  <a:tcPr marL="73152" marR="54864" marT="27432" marB="27432" anchor="ctr">
                    <a:solidFill>
                      <a:srgbClr val="F7F6FC"/>
                    </a:solidFill>
                  </a:tcPr>
                </a:tc>
              </a:tr>
              <a:tr h="676656">
                <a:tc>
                  <a:txBody>
                    <a:bodyPr/>
                    <a:lstStyle/>
                    <a:p>
                      <a:pPr>
                        <a:spcAft>
                          <a:spcPts val="0"/>
                        </a:spcAft>
                      </a:pPr>
                      <a:r>
                        <a:rPr sz="1150" b="1" i="0">
                          <a:solidFill>
                            <a:srgbClr val="1E1B2E"/>
                          </a:solidFill>
                          <a:latin typeface="Calibri"/>
                        </a:rPr>
                        <a:t>Too many filters overwhelm beginners</a:t>
                      </a:r>
                    </a:p>
                  </a:txBody>
                  <a:tcPr marL="73152" marR="54864" marT="27432" marB="27432" anchor="ctr">
                    <a:solidFill>
                      <a:srgbClr val="FFFFFF"/>
                    </a:solidFill>
                  </a:tcPr>
                </a:tc>
                <a:tc>
                  <a:txBody>
                    <a:bodyPr/>
                    <a:lstStyle/>
                    <a:p>
                      <a:pPr>
                        <a:spcAft>
                          <a:spcPts val="0"/>
                        </a:spcAft>
                      </a:pPr>
                      <a:r>
                        <a:rPr sz="1150" b="0" i="0">
                          <a:solidFill>
                            <a:srgbClr val="444455"/>
                          </a:solidFill>
                          <a:latin typeface="Calibri"/>
                        </a:rPr>
                        <a:t>High</a:t>
                      </a:r>
                    </a:p>
                  </a:txBody>
                  <a:tcPr marL="73152" marR="54864" marT="27432" marB="27432" anchor="ctr">
                    <a:solidFill>
                      <a:srgbClr val="FFFFFF"/>
                    </a:solidFill>
                  </a:tcPr>
                </a:tc>
                <a:tc>
                  <a:txBody>
                    <a:bodyPr/>
                    <a:lstStyle/>
                    <a:p>
                      <a:pPr>
                        <a:spcAft>
                          <a:spcPts val="0"/>
                        </a:spcAft>
                      </a:pPr>
                      <a:r>
                        <a:rPr sz="1150" b="0" i="0">
                          <a:solidFill>
                            <a:srgbClr val="444455"/>
                          </a:solidFill>
                          <a:latin typeface="Calibri"/>
                        </a:rPr>
                        <a:t>Mode + 2 filters by default; rest behind “Advanced”; counts + no empty screens</a:t>
                      </a:r>
                    </a:p>
                  </a:txBody>
                  <a:tcPr marL="73152" marR="54864" marT="27432" marB="27432" anchor="ctr">
                    <a:solidFill>
                      <a:srgbClr val="FFFFFF"/>
                    </a:solidFill>
                  </a:tcPr>
                </a:tc>
              </a:tr>
            </a:tbl>
          </a:graphicData>
        </a:graphic>
      </p:graphicFrame>
      <p:sp>
        <p:nvSpPr>
          <p:cNvPr id="9" name="Rounded Rectangle 8"/>
          <p:cNvSpPr/>
          <p:nvPr/>
        </p:nvSpPr>
        <p:spPr>
          <a:xfrm>
            <a:off x="548640" y="5715000"/>
            <a:ext cx="11064240" cy="777240"/>
          </a:xfrm>
          <a:prstGeom prst="roundRect">
            <a:avLst/>
          </a:prstGeom>
          <a:solidFill>
            <a:srgbClr val="FBF1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64592" tIns="118872"/>
          <a:lstStyle/>
          <a:p>
            <a:pPr algn="l">
              <a:spcBef>
                <a:spcPts val="0"/>
              </a:spcBef>
              <a:spcAft>
                <a:spcPts val="400"/>
              </a:spcAft>
            </a:pPr>
            <a:r>
              <a:rPr sz="1400" b="1" i="0">
                <a:solidFill>
                  <a:srgbClr val="C06A2A"/>
                </a:solidFill>
                <a:latin typeface="Calibri"/>
              </a:rPr>
              <a:t>The honest summary</a:t>
            </a:r>
          </a:p>
          <a:p>
            <a:pPr algn="l">
              <a:spcBef>
                <a:spcPts val="0"/>
              </a:spcBef>
              <a:spcAft>
                <a:spcPts val="500"/>
              </a:spcAft>
            </a:pPr>
            <a:r>
              <a:rPr sz="1350" b="0" i="0">
                <a:solidFill>
                  <a:srgbClr val="444455"/>
                </a:solidFill>
                <a:latin typeface="Calibri"/>
              </a:rPr>
              <a:t>Mode adds real value but also the biggest risk: walling people in, or shipping empty sector filters. Both are avoided by treating Mode as guidance, not gatekeeping, and by only exposing sectors we have content for.</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2A9D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424160" cy="365760"/>
          </a:xfrm>
          <a:prstGeom prst="rect">
            <a:avLst/>
          </a:prstGeom>
          <a:noFill/>
        </p:spPr>
        <p:txBody>
          <a:bodyPr wrap="square" anchor="t" lIns="45720" rIns="45720" tIns="18288" bIns="18288">
            <a:spAutoFit/>
          </a:bodyPr>
          <a:lstStyle/>
          <a:p>
            <a:pPr algn="l">
              <a:spcBef>
                <a:spcPts val="0"/>
              </a:spcBef>
              <a:spcAft>
                <a:spcPts val="200"/>
              </a:spcAft>
            </a:pPr>
            <a:r>
              <a:rPr sz="1200" b="1" i="0">
                <a:solidFill>
                  <a:srgbClr val="2A9D6E"/>
                </a:solidFill>
                <a:latin typeface="Calibri"/>
              </a:rPr>
              <a:t>SLIDE 32  ·  THE RECOMMENDATION</a:t>
            </a:r>
          </a:p>
        </p:txBody>
      </p:sp>
      <p:sp>
        <p:nvSpPr>
          <p:cNvPr id="5" name="TextBox 4"/>
          <p:cNvSpPr txBox="1"/>
          <p:nvPr/>
        </p:nvSpPr>
        <p:spPr>
          <a:xfrm>
            <a:off x="502920" y="585216"/>
            <a:ext cx="10881360" cy="868680"/>
          </a:xfrm>
          <a:prstGeom prst="rect">
            <a:avLst/>
          </a:prstGeom>
          <a:noFill/>
        </p:spPr>
        <p:txBody>
          <a:bodyPr wrap="square" anchor="t" lIns="45720" rIns="45720" tIns="18288" bIns="18288">
            <a:spAutoFit/>
          </a:bodyPr>
          <a:lstStyle/>
          <a:p>
            <a:pPr algn="l">
              <a:spcBef>
                <a:spcPts val="0"/>
              </a:spcBef>
              <a:spcAft>
                <a:spcPts val="0"/>
              </a:spcAft>
            </a:pPr>
            <a:r>
              <a:rPr sz="2600" b="1" i="0">
                <a:solidFill>
                  <a:srgbClr val="1E1B2E"/>
                </a:solidFill>
                <a:latin typeface="Calibri"/>
              </a:rPr>
              <a:t>Decisions to make + roadmap</a:t>
            </a:r>
          </a:p>
        </p:txBody>
      </p:sp>
      <p:sp>
        <p:nvSpPr>
          <p:cNvPr id="6" name="Rounded Rectangle 5"/>
          <p:cNvSpPr/>
          <p:nvPr/>
        </p:nvSpPr>
        <p:spPr>
          <a:xfrm>
            <a:off x="11338560" y="310896"/>
            <a:ext cx="566928" cy="384048"/>
          </a:xfrm>
          <a:prstGeom prst="roundRect">
            <a:avLst/>
          </a:prstGeom>
          <a:solidFill>
            <a:srgbClr val="F4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i="0">
                <a:solidFill>
                  <a:srgbClr val="5B5BE6"/>
                </a:solidFill>
                <a:latin typeface="Calibri"/>
              </a:rPr>
              <a:t>32</a:t>
            </a:r>
          </a:p>
        </p:txBody>
      </p:sp>
      <p:sp>
        <p:nvSpPr>
          <p:cNvPr id="7" name="Rectangle 6"/>
          <p:cNvSpPr/>
          <p:nvPr/>
        </p:nvSpPr>
        <p:spPr>
          <a:xfrm>
            <a:off x="502920" y="1335024"/>
            <a:ext cx="1920240" cy="36576"/>
          </a:xfrm>
          <a:prstGeom prst="rect">
            <a:avLst/>
          </a:prstGeom>
          <a:solidFill>
            <a:srgbClr val="2A9D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572768"/>
            <a:ext cx="5440680" cy="2514600"/>
          </a:xfrm>
          <a:prstGeom prst="roundRect">
            <a:avLst/>
          </a:prstGeom>
          <a:solidFill>
            <a:srgbClr val="EAF7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64592" tIns="118872"/>
          <a:lstStyle/>
          <a:p>
            <a:pPr algn="l">
              <a:spcBef>
                <a:spcPts val="0"/>
              </a:spcBef>
              <a:spcAft>
                <a:spcPts val="400"/>
              </a:spcAft>
            </a:pPr>
            <a:r>
              <a:rPr sz="1400" b="1" i="0">
                <a:solidFill>
                  <a:srgbClr val="2A9D6E"/>
                </a:solidFill>
                <a:latin typeface="Calibri"/>
              </a:rPr>
              <a:t>Quick decisions (my defaults in bold; all reversible)</a:t>
            </a:r>
          </a:p>
          <a:p>
            <a:pPr algn="l">
              <a:spcBef>
                <a:spcPts val="0"/>
              </a:spcBef>
              <a:spcAft>
                <a:spcPts val="300"/>
              </a:spcAft>
            </a:pPr>
            <a:r>
              <a:rPr sz="1300" b="0" i="0">
                <a:solidFill>
                  <a:srgbClr val="444455"/>
                </a:solidFill>
                <a:latin typeface="Calibri"/>
              </a:rPr>
              <a:t>•  Add a Work / Personal / Both Mode at sign-up — YES</a:t>
            </a:r>
          </a:p>
          <a:p>
            <a:pPr algn="l">
              <a:spcBef>
                <a:spcPts val="0"/>
              </a:spcBef>
              <a:spcAft>
                <a:spcPts val="300"/>
              </a:spcAft>
            </a:pPr>
            <a:r>
              <a:rPr sz="1300" b="0" i="0">
                <a:solidFill>
                  <a:srgbClr val="444455"/>
                </a:solidFill>
                <a:latin typeface="Calibri"/>
              </a:rPr>
              <a:t>•  Mode is a lens, not a hard folder — YES</a:t>
            </a:r>
          </a:p>
          <a:p>
            <a:pPr algn="l">
              <a:spcBef>
                <a:spcPts val="0"/>
              </a:spcBef>
              <a:spcAft>
                <a:spcPts val="300"/>
              </a:spcAft>
            </a:pPr>
            <a:r>
              <a:rPr sz="1300" b="0" i="0">
                <a:solidFill>
                  <a:srgbClr val="444455"/>
                </a:solidFill>
                <a:latin typeface="Calibri"/>
              </a:rPr>
              <a:t>•  First sectors to support → Care + Office (where content will go)</a:t>
            </a:r>
          </a:p>
          <a:p>
            <a:pPr algn="l">
              <a:spcBef>
                <a:spcPts val="0"/>
              </a:spcBef>
              <a:spcAft>
                <a:spcPts val="300"/>
              </a:spcAft>
            </a:pPr>
            <a:r>
              <a:rPr sz="1300" b="0" i="0">
                <a:solidFill>
                  <a:srgbClr val="444455"/>
                </a:solidFill>
                <a:latin typeface="Calibri"/>
              </a:rPr>
              <a:t>•  Level detail → sub-levels B1.1…B2.2</a:t>
            </a:r>
          </a:p>
          <a:p>
            <a:pPr algn="l">
              <a:spcBef>
                <a:spcPts val="0"/>
              </a:spcBef>
              <a:spcAft>
                <a:spcPts val="300"/>
              </a:spcAft>
            </a:pPr>
            <a:r>
              <a:rPr sz="1300" b="0" i="0">
                <a:solidFill>
                  <a:srgbClr val="444455"/>
                </a:solidFill>
                <a:latin typeface="Calibri"/>
              </a:rPr>
              <a:t>•  Sub-topics → optional, roll up by default</a:t>
            </a:r>
          </a:p>
          <a:p>
            <a:pPr algn="l">
              <a:spcBef>
                <a:spcPts val="0"/>
              </a:spcBef>
              <a:spcAft>
                <a:spcPts val="300"/>
              </a:spcAft>
            </a:pPr>
            <a:r>
              <a:rPr sz="1300" b="0" i="0">
                <a:solidFill>
                  <a:srgbClr val="444455"/>
                </a:solidFill>
                <a:latin typeface="Calibri"/>
              </a:rPr>
              <a:t>•  Phrases stay sorted by function/counterpart, not topic</a:t>
            </a:r>
          </a:p>
        </p:txBody>
      </p:sp>
      <p:sp>
        <p:nvSpPr>
          <p:cNvPr id="9" name="Rounded Rectangle 8"/>
          <p:cNvSpPr/>
          <p:nvPr/>
        </p:nvSpPr>
        <p:spPr>
          <a:xfrm>
            <a:off x="6217920" y="1572768"/>
            <a:ext cx="5440680" cy="2514600"/>
          </a:xfrm>
          <a:prstGeom prst="roundRect">
            <a:avLst/>
          </a:prstGeom>
          <a:solidFill>
            <a:srgbClr val="F4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64592" tIns="118872"/>
          <a:lstStyle/>
          <a:p>
            <a:pPr algn="l">
              <a:spcBef>
                <a:spcPts val="0"/>
              </a:spcBef>
              <a:spcAft>
                <a:spcPts val="400"/>
              </a:spcAft>
            </a:pPr>
            <a:r>
              <a:rPr sz="1400" b="1" i="0">
                <a:solidFill>
                  <a:srgbClr val="5B5BE6"/>
                </a:solidFill>
                <a:latin typeface="Calibri"/>
              </a:rPr>
              <a:t>Rollout in 5 phases</a:t>
            </a:r>
          </a:p>
          <a:p>
            <a:pPr algn="l">
              <a:spcBef>
                <a:spcPts val="0"/>
              </a:spcBef>
              <a:spcAft>
                <a:spcPts val="500"/>
              </a:spcAft>
            </a:pPr>
            <a:r>
              <a:rPr sz="1300" b="0" i="0">
                <a:solidFill>
                  <a:srgbClr val="444455"/>
                </a:solidFill>
                <a:latin typeface="Calibri"/>
              </a:rPr>
              <a:t>0 · Set up the tree + level field + Mode tag (mostly invisible)</a:t>
            </a:r>
          </a:p>
          <a:p>
            <a:pPr algn="l">
              <a:spcBef>
                <a:spcPts val="0"/>
              </a:spcBef>
              <a:spcAft>
                <a:spcPts val="500"/>
              </a:spcAft>
            </a:pPr>
            <a:r>
              <a:rPr sz="1300" b="0" i="0">
                <a:solidFill>
                  <a:srgbClr val="444455"/>
                </a:solidFill>
                <a:latin typeface="Calibri"/>
              </a:rPr>
              <a:t>1 · Mode picker at sign-up + Level filter  ← first visible win</a:t>
            </a:r>
          </a:p>
          <a:p>
            <a:pPr algn="l">
              <a:spcBef>
                <a:spcPts val="0"/>
              </a:spcBef>
              <a:spcAft>
                <a:spcPts val="500"/>
              </a:spcAft>
            </a:pPr>
            <a:r>
              <a:rPr sz="1300" b="0" i="0">
                <a:solidFill>
                  <a:srgbClr val="444455"/>
                </a:solidFill>
                <a:latin typeface="Calibri"/>
              </a:rPr>
              <a:t>2 · Sub-topics for the busiest topics</a:t>
            </a:r>
          </a:p>
          <a:p>
            <a:pPr algn="l">
              <a:spcBef>
                <a:spcPts val="0"/>
              </a:spcBef>
              <a:spcAft>
                <a:spcPts val="500"/>
              </a:spcAft>
            </a:pPr>
            <a:r>
              <a:rPr sz="1300" b="0" i="0">
                <a:solidFill>
                  <a:srgbClr val="444455"/>
                </a:solidFill>
                <a:latin typeface="Calibri"/>
              </a:rPr>
              <a:t>3 · Work-mode facets (sector, situation, counterpart) + goal cards</a:t>
            </a:r>
          </a:p>
          <a:p>
            <a:pPr algn="l">
              <a:spcBef>
                <a:spcPts val="0"/>
              </a:spcBef>
              <a:spcAft>
                <a:spcPts val="500"/>
              </a:spcAft>
            </a:pPr>
            <a:r>
              <a:rPr sz="1300" b="0" i="0">
                <a:solidFill>
                  <a:srgbClr val="444455"/>
                </a:solidFill>
                <a:latin typeface="Calibri"/>
              </a:rPr>
              <a:t>4 · Cross-module links + smart, mode-aware review</a:t>
            </a:r>
          </a:p>
        </p:txBody>
      </p:sp>
      <p:sp>
        <p:nvSpPr>
          <p:cNvPr id="10" name="Rounded Rectangle 9"/>
          <p:cNvSpPr/>
          <p:nvPr/>
        </p:nvSpPr>
        <p:spPr>
          <a:xfrm>
            <a:off x="548640" y="4343400"/>
            <a:ext cx="11064240" cy="960120"/>
          </a:xfrm>
          <a:prstGeom prst="roundRect">
            <a:avLst/>
          </a:prstGeom>
          <a:solidFill>
            <a:srgbClr val="F4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64592" tIns="118872"/>
          <a:lstStyle/>
          <a:p>
            <a:pPr algn="l">
              <a:spcBef>
                <a:spcPts val="0"/>
              </a:spcBef>
              <a:spcAft>
                <a:spcPts val="400"/>
              </a:spcAft>
            </a:pPr>
            <a:r>
              <a:rPr sz="1400" b="1" i="0">
                <a:solidFill>
                  <a:srgbClr val="5B5BE6"/>
                </a:solidFill>
                <a:latin typeface="Calibri"/>
              </a:rPr>
              <a:t>What success looks like</a:t>
            </a:r>
          </a:p>
          <a:p>
            <a:pPr algn="l">
              <a:spcBef>
                <a:spcPts val="0"/>
              </a:spcBef>
              <a:spcAft>
                <a:spcPts val="500"/>
              </a:spcAft>
            </a:pPr>
            <a:r>
              <a:rPr sz="1350" b="0" i="0">
                <a:solidFill>
                  <a:srgbClr val="444455"/>
                </a:solidFill>
                <a:latin typeface="Calibri"/>
              </a:rPr>
              <a:t>A care worker picks Work + Care and sees only relevant German; a new resident picks Personal and gets Behörde, housing and banking. Anyone can ask for “formal B2 care-sector phrases I haven't mastered” in a few taps and get a correct, non-empty result. Adding a new sector or life area becomes filling a template, not redesigning the app.</a:t>
            </a:r>
          </a:p>
        </p:txBody>
      </p:sp>
      <p:sp>
        <p:nvSpPr>
          <p:cNvPr id="11" name="Rounded Rectangle 10"/>
          <p:cNvSpPr/>
          <p:nvPr/>
        </p:nvSpPr>
        <p:spPr>
          <a:xfrm>
            <a:off x="548640" y="5486400"/>
            <a:ext cx="11064240" cy="1051560"/>
          </a:xfrm>
          <a:prstGeom prst="roundRect">
            <a:avLst/>
          </a:prstGeom>
          <a:solidFill>
            <a:srgbClr val="1E1B2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tIns="109728"/>
          <a:lstStyle/>
          <a:p>
            <a:pPr algn="l">
              <a:spcBef>
                <a:spcPts val="0"/>
              </a:spcBef>
              <a:spcAft>
                <a:spcPts val="400"/>
              </a:spcAft>
            </a:pPr>
            <a:r>
              <a:rPr sz="1300" b="1" i="0">
                <a:solidFill>
                  <a:srgbClr val="10B7CF"/>
                </a:solidFill>
                <a:latin typeface="Calibri"/>
              </a:rPr>
              <a:t>Bottom line</a:t>
            </a:r>
          </a:p>
          <a:p>
            <a:pPr algn="l">
              <a:spcBef>
                <a:spcPts val="0"/>
              </a:spcBef>
              <a:spcAft>
                <a:spcPts val="600"/>
              </a:spcAft>
            </a:pPr>
            <a:r>
              <a:rPr sz="1400" b="1" i="0">
                <a:solidFill>
                  <a:srgbClr val="FFFFFF"/>
                </a:solidFill>
                <a:latin typeface="Calibri"/>
              </a:rPr>
              <a:t>Mode answers “why am I here?”; the shallow tree answers “where is it?”; the labels answer “what is it like?”. Together they keep the app simple for a beginner and powerful enough for a nurse prepping a sector exam, while staying cheap to grow. Build the Mode + backbone now, while it's small.</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777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424160" cy="365760"/>
          </a:xfrm>
          <a:prstGeom prst="rect">
            <a:avLst/>
          </a:prstGeom>
          <a:noFill/>
        </p:spPr>
        <p:txBody>
          <a:bodyPr wrap="square" anchor="t" lIns="45720" rIns="45720" tIns="18288" bIns="18288">
            <a:spAutoFit/>
          </a:bodyPr>
          <a:lstStyle/>
          <a:p>
            <a:pPr algn="l">
              <a:spcBef>
                <a:spcPts val="0"/>
              </a:spcBef>
              <a:spcAft>
                <a:spcPts val="200"/>
              </a:spcAft>
            </a:pPr>
            <a:r>
              <a:rPr sz="1200" b="1" i="0">
                <a:solidFill>
                  <a:srgbClr val="777488"/>
                </a:solidFill>
                <a:latin typeface="Calibri"/>
              </a:rPr>
              <a:t>REFERENCES</a:t>
            </a:r>
          </a:p>
        </p:txBody>
      </p:sp>
      <p:sp>
        <p:nvSpPr>
          <p:cNvPr id="5" name="TextBox 4"/>
          <p:cNvSpPr txBox="1"/>
          <p:nvPr/>
        </p:nvSpPr>
        <p:spPr>
          <a:xfrm>
            <a:off x="502920" y="585216"/>
            <a:ext cx="10881360" cy="868680"/>
          </a:xfrm>
          <a:prstGeom prst="rect">
            <a:avLst/>
          </a:prstGeom>
          <a:noFill/>
        </p:spPr>
        <p:txBody>
          <a:bodyPr wrap="square" anchor="t" lIns="45720" rIns="45720" tIns="18288" bIns="18288">
            <a:spAutoFit/>
          </a:bodyPr>
          <a:lstStyle/>
          <a:p>
            <a:pPr algn="l">
              <a:spcBef>
                <a:spcPts val="0"/>
              </a:spcBef>
              <a:spcAft>
                <a:spcPts val="0"/>
              </a:spcAft>
            </a:pPr>
            <a:r>
              <a:rPr sz="2600" b="1" i="0">
                <a:solidFill>
                  <a:srgbClr val="1E1B2E"/>
                </a:solidFill>
                <a:latin typeface="Calibri"/>
              </a:rPr>
              <a:t>Sources &amp; research</a:t>
            </a:r>
          </a:p>
        </p:txBody>
      </p:sp>
      <p:sp>
        <p:nvSpPr>
          <p:cNvPr id="6" name="Rounded Rectangle 5"/>
          <p:cNvSpPr/>
          <p:nvPr/>
        </p:nvSpPr>
        <p:spPr>
          <a:xfrm>
            <a:off x="11338560" y="310896"/>
            <a:ext cx="566928" cy="384048"/>
          </a:xfrm>
          <a:prstGeom prst="roundRect">
            <a:avLst/>
          </a:prstGeom>
          <a:solidFill>
            <a:srgbClr val="F4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i="0">
                <a:solidFill>
                  <a:srgbClr val="5B5BE6"/>
                </a:solidFill>
                <a:latin typeface="Calibri"/>
              </a:rPr>
              <a:t>33</a:t>
            </a:r>
          </a:p>
        </p:txBody>
      </p:sp>
      <p:sp>
        <p:nvSpPr>
          <p:cNvPr id="7" name="Rectangle 6"/>
          <p:cNvSpPr/>
          <p:nvPr/>
        </p:nvSpPr>
        <p:spPr>
          <a:xfrm>
            <a:off x="502920" y="1335024"/>
            <a:ext cx="1920240" cy="36576"/>
          </a:xfrm>
          <a:prstGeom prst="rect">
            <a:avLst/>
          </a:prstGeom>
          <a:solidFill>
            <a:srgbClr val="777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572768"/>
            <a:ext cx="5532120" cy="4846320"/>
          </a:xfrm>
          <a:prstGeom prst="rect">
            <a:avLst/>
          </a:prstGeom>
          <a:noFill/>
        </p:spPr>
        <p:txBody>
          <a:bodyPr wrap="square" anchor="t" lIns="45720" rIns="45720" tIns="18288" bIns="18288">
            <a:spAutoFit/>
          </a:bodyPr>
          <a:lstStyle/>
          <a:p>
            <a:pPr algn="l">
              <a:spcBef>
                <a:spcPts val="0"/>
              </a:spcBef>
              <a:spcAft>
                <a:spcPts val="800"/>
              </a:spcAft>
            </a:pPr>
            <a:r>
              <a:rPr sz="1200" b="1" i="0">
                <a:solidFill>
                  <a:srgbClr val="10B7CF"/>
                </a:solidFill>
                <a:latin typeface="Calibri"/>
              </a:rPr>
              <a:t>PRIMARY — German professional-language framework &amp; exams</a:t>
            </a:r>
          </a:p>
          <a:p>
            <a:pPr>
              <a:spcBef>
                <a:spcPts val="0"/>
              </a:spcBef>
              <a:spcAft>
                <a:spcPts val="700"/>
              </a:spcAft>
            </a:pPr>
            <a:r>
              <a:rPr sz="1100" b="1" i="0">
                <a:solidFill>
                  <a:srgbClr val="777488"/>
                </a:solidFill>
                <a:latin typeface="Calibri"/>
              </a:rPr>
              <a:t>1  </a:t>
            </a:r>
            <a:r>
              <a:rPr sz="1150" b="1" i="0">
                <a:solidFill>
                  <a:srgbClr val="1E1B2E"/>
                </a:solidFill>
                <a:latin typeface="Calibri"/>
              </a:rPr>
              <a:t>telc Deutsch B1·B2 Beruf — exam overview</a:t>
            </a:r>
          </a:p>
          <a:p>
            <a:pPr>
              <a:spcBef>
                <a:spcPts val="0"/>
              </a:spcBef>
              <a:spcAft>
                <a:spcPts val="900"/>
              </a:spcAft>
            </a:pPr>
            <a:r>
              <a:rPr sz="1000" b="0" i="0">
                <a:solidFill>
                  <a:srgbClr val="777488"/>
                </a:solidFill>
                <a:latin typeface="Calibri"/>
              </a:rPr>
              <a:t>      </a:t>
            </a:r>
            <a:r>
              <a:rPr sz="950" b="0" i="0" u="sng">
                <a:solidFill>
                  <a:srgbClr val="5B5BE6"/>
                </a:solidFill>
                <a:latin typeface="Calibri"/>
                <a:hlinkClick r:id="rId2"/>
              </a:rPr>
              <a:t>https://www.telc.net/en/language-examinations/certificate-exams/german/telc-german-b1b2-business/</a:t>
            </a:r>
          </a:p>
          <a:p>
            <a:pPr>
              <a:spcBef>
                <a:spcPts val="0"/>
              </a:spcBef>
              <a:spcAft>
                <a:spcPts val="700"/>
              </a:spcAft>
            </a:pPr>
            <a:r>
              <a:rPr sz="1100" b="1" i="0">
                <a:solidFill>
                  <a:srgbClr val="777488"/>
                </a:solidFill>
                <a:latin typeface="Calibri"/>
              </a:rPr>
              <a:t>2  </a:t>
            </a:r>
            <a:r>
              <a:rPr sz="1150" b="1" i="0">
                <a:solidFill>
                  <a:srgbClr val="1E1B2E"/>
                </a:solidFill>
                <a:latin typeface="Calibri"/>
              </a:rPr>
              <a:t>telc Deutsch-Test für den Beruf B2</a:t>
            </a:r>
          </a:p>
          <a:p>
            <a:pPr>
              <a:spcBef>
                <a:spcPts val="0"/>
              </a:spcBef>
              <a:spcAft>
                <a:spcPts val="900"/>
              </a:spcAft>
            </a:pPr>
            <a:r>
              <a:rPr sz="1000" b="0" i="0">
                <a:solidFill>
                  <a:srgbClr val="777488"/>
                </a:solidFill>
                <a:latin typeface="Calibri"/>
              </a:rPr>
              <a:t>      </a:t>
            </a:r>
            <a:r>
              <a:rPr sz="950" b="0" i="0" u="sng">
                <a:solidFill>
                  <a:srgbClr val="5B5BE6"/>
                </a:solidFill>
                <a:latin typeface="Calibri"/>
                <a:hlinkClick r:id="rId3"/>
              </a:rPr>
              <a:t>https://www.telc.net/en/language-examinations/certificate-exams/german/german-for-business/german-for-business-b2/</a:t>
            </a:r>
          </a:p>
          <a:p>
            <a:pPr>
              <a:spcBef>
                <a:spcPts val="0"/>
              </a:spcBef>
              <a:spcAft>
                <a:spcPts val="700"/>
              </a:spcAft>
            </a:pPr>
            <a:r>
              <a:rPr sz="1100" b="1" i="0">
                <a:solidFill>
                  <a:srgbClr val="777488"/>
                </a:solidFill>
                <a:latin typeface="Calibri"/>
              </a:rPr>
              <a:t>3  </a:t>
            </a:r>
            <a:r>
              <a:rPr sz="1150" b="1" i="0">
                <a:solidFill>
                  <a:srgbClr val="1E1B2E"/>
                </a:solidFill>
                <a:latin typeface="Calibri"/>
              </a:rPr>
              <a:t>telc Rahmencurriculum &amp; Handbuch Deutsch Pflege B1·B2 (PDF)</a:t>
            </a:r>
          </a:p>
          <a:p>
            <a:pPr>
              <a:spcBef>
                <a:spcPts val="0"/>
              </a:spcBef>
              <a:spcAft>
                <a:spcPts val="900"/>
              </a:spcAft>
            </a:pPr>
            <a:r>
              <a:rPr sz="1000" b="0" i="0">
                <a:solidFill>
                  <a:srgbClr val="777488"/>
                </a:solidFill>
                <a:latin typeface="Calibri"/>
              </a:rPr>
              <a:t>      </a:t>
            </a:r>
            <a:r>
              <a:rPr sz="950" b="0" i="0" u="sng">
                <a:solidFill>
                  <a:srgbClr val="5B5BE6"/>
                </a:solidFill>
                <a:latin typeface="Calibri"/>
                <a:hlinkClick r:id="rId4"/>
              </a:rPr>
              <a:t>https://shop.telc.net/media/catalog/product/file/5036B01010201bib.pdf</a:t>
            </a:r>
          </a:p>
          <a:p>
            <a:pPr>
              <a:spcBef>
                <a:spcPts val="0"/>
              </a:spcBef>
              <a:spcAft>
                <a:spcPts val="700"/>
              </a:spcAft>
            </a:pPr>
            <a:r>
              <a:rPr sz="1100" b="1" i="0">
                <a:solidFill>
                  <a:srgbClr val="777488"/>
                </a:solidFill>
                <a:latin typeface="Calibri"/>
              </a:rPr>
              <a:t>4  </a:t>
            </a:r>
            <a:r>
              <a:rPr sz="1150" b="1" i="0">
                <a:solidFill>
                  <a:srgbClr val="1E1B2E"/>
                </a:solidFill>
                <a:latin typeface="Calibri"/>
              </a:rPr>
              <a:t>BAMF — Berufssprachkurse / DeuFöV (overview)</a:t>
            </a:r>
          </a:p>
          <a:p>
            <a:pPr>
              <a:spcBef>
                <a:spcPts val="0"/>
              </a:spcBef>
              <a:spcAft>
                <a:spcPts val="900"/>
              </a:spcAft>
            </a:pPr>
            <a:r>
              <a:rPr sz="1000" b="0" i="0">
                <a:solidFill>
                  <a:srgbClr val="777488"/>
                </a:solidFill>
                <a:latin typeface="Calibri"/>
              </a:rPr>
              <a:t>      </a:t>
            </a:r>
            <a:r>
              <a:rPr sz="950" b="0" i="0" u="sng">
                <a:solidFill>
                  <a:srgbClr val="5B5BE6"/>
                </a:solidFill>
                <a:latin typeface="Calibri"/>
                <a:hlinkClick r:id="rId5"/>
              </a:rPr>
              <a:t>https://www.bamf.de/DE/Themen/Integration/ZugewanderteTeilnehmende/DeutschBeruf/deutsch-beruf.html</a:t>
            </a:r>
          </a:p>
        </p:txBody>
      </p:sp>
      <p:sp>
        <p:nvSpPr>
          <p:cNvPr id="9" name="TextBox 8"/>
          <p:cNvSpPr txBox="1"/>
          <p:nvPr/>
        </p:nvSpPr>
        <p:spPr>
          <a:xfrm>
            <a:off x="6263640" y="1572768"/>
            <a:ext cx="5486400" cy="4846320"/>
          </a:xfrm>
          <a:prstGeom prst="rect">
            <a:avLst/>
          </a:prstGeom>
          <a:noFill/>
        </p:spPr>
        <p:txBody>
          <a:bodyPr wrap="square" anchor="t" lIns="45720" rIns="45720" tIns="18288" bIns="18288">
            <a:spAutoFit/>
          </a:bodyPr>
          <a:lstStyle/>
          <a:p>
            <a:pPr algn="l">
              <a:spcBef>
                <a:spcPts val="0"/>
              </a:spcBef>
              <a:spcAft>
                <a:spcPts val="800"/>
              </a:spcAft>
            </a:pPr>
            <a:r>
              <a:rPr sz="1200" b="1" i="0">
                <a:solidFill>
                  <a:srgbClr val="10B7CF"/>
                </a:solidFill>
                <a:latin typeface="Calibri"/>
              </a:rPr>
              <a:t>PRIMARY (cont.) — sector &amp; curriculum detail</a:t>
            </a:r>
          </a:p>
          <a:p>
            <a:pPr>
              <a:spcBef>
                <a:spcPts val="0"/>
              </a:spcBef>
              <a:spcAft>
                <a:spcPts val="700"/>
              </a:spcAft>
            </a:pPr>
            <a:r>
              <a:rPr sz="1100" b="1" i="0">
                <a:solidFill>
                  <a:srgbClr val="777488"/>
                </a:solidFill>
                <a:latin typeface="Calibri"/>
              </a:rPr>
              <a:t>5  </a:t>
            </a:r>
            <a:r>
              <a:rPr sz="1150" b="1" i="0">
                <a:solidFill>
                  <a:srgbClr val="1E1B2E"/>
                </a:solidFill>
                <a:latin typeface="Calibri"/>
              </a:rPr>
              <a:t>BAMF — Berufssprachkurse Anerkennung Gesundheitswesen (Pflege)</a:t>
            </a:r>
          </a:p>
          <a:p>
            <a:pPr>
              <a:spcBef>
                <a:spcPts val="0"/>
              </a:spcBef>
              <a:spcAft>
                <a:spcPts val="900"/>
              </a:spcAft>
            </a:pPr>
            <a:r>
              <a:rPr sz="1000" b="0" i="0">
                <a:solidFill>
                  <a:srgbClr val="777488"/>
                </a:solidFill>
                <a:latin typeface="Calibri"/>
              </a:rPr>
              <a:t>      </a:t>
            </a:r>
            <a:r>
              <a:rPr sz="950" b="0" i="0" u="sng">
                <a:solidFill>
                  <a:srgbClr val="5B5BE6"/>
                </a:solidFill>
                <a:latin typeface="Calibri"/>
                <a:hlinkClick r:id="rId6"/>
              </a:rPr>
              <a:t>https://www.bamf.de/DE/Themen/Integration/ZugewanderteTeilnehmende/AnerkennungsBSK/anerkennungsbsk-node.html</a:t>
            </a:r>
          </a:p>
          <a:p>
            <a:pPr>
              <a:spcBef>
                <a:spcPts val="0"/>
              </a:spcBef>
              <a:spcAft>
                <a:spcPts val="700"/>
              </a:spcAft>
            </a:pPr>
            <a:r>
              <a:rPr sz="1100" b="1" i="0">
                <a:solidFill>
                  <a:srgbClr val="777488"/>
                </a:solidFill>
                <a:latin typeface="Calibri"/>
              </a:rPr>
              <a:t>6  </a:t>
            </a:r>
            <a:r>
              <a:rPr sz="1150" b="1" i="0">
                <a:solidFill>
                  <a:srgbClr val="1E1B2E"/>
                </a:solidFill>
                <a:latin typeface="Calibri"/>
              </a:rPr>
              <a:t>BAMF — Konzept „Gesundheitsfachberufe“ (PDF)</a:t>
            </a:r>
          </a:p>
          <a:p>
            <a:pPr>
              <a:spcBef>
                <a:spcPts val="0"/>
              </a:spcBef>
              <a:spcAft>
                <a:spcPts val="900"/>
              </a:spcAft>
            </a:pPr>
            <a:r>
              <a:rPr sz="1000" b="0" i="0">
                <a:solidFill>
                  <a:srgbClr val="777488"/>
                </a:solidFill>
                <a:latin typeface="Calibri"/>
              </a:rPr>
              <a:t>      </a:t>
            </a:r>
            <a:r>
              <a:rPr sz="950" b="0" i="0" u="sng">
                <a:solidFill>
                  <a:srgbClr val="5B5BE6"/>
                </a:solidFill>
                <a:latin typeface="Calibri"/>
                <a:hlinkClick r:id="rId7"/>
              </a:rPr>
              <a:t>https://www.bamf.de/SharedDocs/Anlagen/DE/Integration/Berufsbezsprachf-ESF-BAMF/BSK-Konzepte/konzept-nichtakademische-gesundheitsberufe.pdf</a:t>
            </a:r>
          </a:p>
          <a:p>
            <a:pPr>
              <a:spcBef>
                <a:spcPts val="0"/>
              </a:spcBef>
              <a:spcAft>
                <a:spcPts val="700"/>
              </a:spcAft>
            </a:pPr>
            <a:r>
              <a:rPr sz="1100" b="1" i="0">
                <a:solidFill>
                  <a:srgbClr val="777488"/>
                </a:solidFill>
                <a:latin typeface="Calibri"/>
              </a:rPr>
              <a:t>7  </a:t>
            </a:r>
            <a:r>
              <a:rPr sz="1150" b="1" i="0">
                <a:solidFill>
                  <a:srgbClr val="1E1B2E"/>
                </a:solidFill>
                <a:latin typeface="Calibri"/>
              </a:rPr>
              <a:t>BAMF — Lernzielkatalog Spezial-/Basisberufssprachkurse (PDF)</a:t>
            </a:r>
          </a:p>
          <a:p>
            <a:pPr>
              <a:spcBef>
                <a:spcPts val="0"/>
              </a:spcBef>
              <a:spcAft>
                <a:spcPts val="900"/>
              </a:spcAft>
            </a:pPr>
            <a:r>
              <a:rPr sz="1000" b="0" i="0">
                <a:solidFill>
                  <a:srgbClr val="777488"/>
                </a:solidFill>
                <a:latin typeface="Calibri"/>
              </a:rPr>
              <a:t>      </a:t>
            </a:r>
            <a:r>
              <a:rPr sz="950" b="0" i="0" u="sng">
                <a:solidFill>
                  <a:srgbClr val="5B5BE6"/>
                </a:solidFill>
                <a:latin typeface="Calibri"/>
                <a:hlinkClick r:id="rId8"/>
              </a:rPr>
              <a:t>https://www.bamf.de/SharedDocs/Anlagen/DE/Integration/Berufsbezsprachf-ESF-BAMF/BSK-Konzepte/lernzielkatalog-spezial-und-basisberufssprachkurse.pdf</a:t>
            </a:r>
          </a:p>
          <a:p>
            <a:pPr>
              <a:spcBef>
                <a:spcPts val="0"/>
              </a:spcBef>
              <a:spcAft>
                <a:spcPts val="700"/>
              </a:spcAft>
            </a:pPr>
            <a:r>
              <a:rPr sz="1100" b="1" i="0">
                <a:solidFill>
                  <a:srgbClr val="777488"/>
                </a:solidFill>
                <a:latin typeface="Calibri"/>
              </a:rPr>
              <a:t>8  </a:t>
            </a:r>
            <a:r>
              <a:rPr sz="1150" b="1" i="0">
                <a:solidFill>
                  <a:srgbClr val="1E1B2E"/>
                </a:solidFill>
                <a:latin typeface="Calibri"/>
              </a:rPr>
              <a:t>Council of Europe — CEFR (official framework)</a:t>
            </a:r>
          </a:p>
          <a:p>
            <a:pPr>
              <a:spcBef>
                <a:spcPts val="0"/>
              </a:spcBef>
              <a:spcAft>
                <a:spcPts val="900"/>
              </a:spcAft>
            </a:pPr>
            <a:r>
              <a:rPr sz="1000" b="0" i="0">
                <a:solidFill>
                  <a:srgbClr val="777488"/>
                </a:solidFill>
                <a:latin typeface="Calibri"/>
              </a:rPr>
              <a:t>      </a:t>
            </a:r>
            <a:r>
              <a:rPr sz="950" b="0" i="0" u="sng">
                <a:solidFill>
                  <a:srgbClr val="5B5BE6"/>
                </a:solidFill>
                <a:latin typeface="Calibri"/>
                <a:hlinkClick r:id="rId9"/>
              </a:rPr>
              <a:t>https://www.coe.int/en/web/common-european-framework-reference-languages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777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0424160" cy="365760"/>
          </a:xfrm>
          <a:prstGeom prst="rect">
            <a:avLst/>
          </a:prstGeom>
          <a:noFill/>
        </p:spPr>
        <p:txBody>
          <a:bodyPr wrap="square" anchor="t" lIns="45720" rIns="45720" tIns="18288" bIns="18288">
            <a:spAutoFit/>
          </a:bodyPr>
          <a:lstStyle/>
          <a:p>
            <a:pPr algn="l">
              <a:spcBef>
                <a:spcPts val="0"/>
              </a:spcBef>
              <a:spcAft>
                <a:spcPts val="200"/>
              </a:spcAft>
            </a:pPr>
            <a:r>
              <a:rPr sz="1200" b="1" i="0">
                <a:solidFill>
                  <a:srgbClr val="777488"/>
                </a:solidFill>
                <a:latin typeface="Calibri"/>
              </a:rPr>
              <a:t>REFERENCES</a:t>
            </a:r>
          </a:p>
        </p:txBody>
      </p:sp>
      <p:sp>
        <p:nvSpPr>
          <p:cNvPr id="5" name="TextBox 4"/>
          <p:cNvSpPr txBox="1"/>
          <p:nvPr/>
        </p:nvSpPr>
        <p:spPr>
          <a:xfrm>
            <a:off x="502920" y="585216"/>
            <a:ext cx="10881360" cy="868680"/>
          </a:xfrm>
          <a:prstGeom prst="rect">
            <a:avLst/>
          </a:prstGeom>
          <a:noFill/>
        </p:spPr>
        <p:txBody>
          <a:bodyPr wrap="square" anchor="t" lIns="45720" rIns="45720" tIns="18288" bIns="18288">
            <a:spAutoFit/>
          </a:bodyPr>
          <a:lstStyle/>
          <a:p>
            <a:pPr algn="l">
              <a:spcBef>
                <a:spcPts val="0"/>
              </a:spcBef>
              <a:spcAft>
                <a:spcPts val="0"/>
              </a:spcAft>
            </a:pPr>
            <a:r>
              <a:rPr sz="2600" b="1" i="0">
                <a:solidFill>
                  <a:srgbClr val="1E1B2E"/>
                </a:solidFill>
                <a:latin typeface="Calibri"/>
              </a:rPr>
              <a:t>App benchmarks &amp; a note on sourcing</a:t>
            </a:r>
          </a:p>
        </p:txBody>
      </p:sp>
      <p:sp>
        <p:nvSpPr>
          <p:cNvPr id="6" name="Rounded Rectangle 5"/>
          <p:cNvSpPr/>
          <p:nvPr/>
        </p:nvSpPr>
        <p:spPr>
          <a:xfrm>
            <a:off x="11338560" y="310896"/>
            <a:ext cx="566928" cy="384048"/>
          </a:xfrm>
          <a:prstGeom prst="roundRect">
            <a:avLst/>
          </a:prstGeom>
          <a:solidFill>
            <a:srgbClr val="F4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i="0">
                <a:solidFill>
                  <a:srgbClr val="5B5BE6"/>
                </a:solidFill>
                <a:latin typeface="Calibri"/>
              </a:rPr>
              <a:t>34</a:t>
            </a:r>
          </a:p>
        </p:txBody>
      </p:sp>
      <p:sp>
        <p:nvSpPr>
          <p:cNvPr id="7" name="Rectangle 6"/>
          <p:cNvSpPr/>
          <p:nvPr/>
        </p:nvSpPr>
        <p:spPr>
          <a:xfrm>
            <a:off x="502920" y="1335024"/>
            <a:ext cx="1920240" cy="36576"/>
          </a:xfrm>
          <a:prstGeom prst="rect">
            <a:avLst/>
          </a:prstGeom>
          <a:solidFill>
            <a:srgbClr val="777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572768"/>
            <a:ext cx="11064240" cy="2011680"/>
          </a:xfrm>
          <a:prstGeom prst="rect">
            <a:avLst/>
          </a:prstGeom>
          <a:noFill/>
        </p:spPr>
        <p:txBody>
          <a:bodyPr wrap="square" anchor="t" lIns="45720" rIns="45720" tIns="18288" bIns="18288">
            <a:spAutoFit/>
          </a:bodyPr>
          <a:lstStyle/>
          <a:p>
            <a:pPr algn="l">
              <a:spcBef>
                <a:spcPts val="0"/>
              </a:spcBef>
              <a:spcAft>
                <a:spcPts val="800"/>
              </a:spcAft>
            </a:pPr>
            <a:r>
              <a:rPr sz="1200" b="1" i="0">
                <a:solidFill>
                  <a:srgbClr val="10B7CF"/>
                </a:solidFill>
                <a:latin typeface="Calibri"/>
              </a:rPr>
              <a:t>SECONDARY — language-app benchmarks (goal/use-case segmentation)</a:t>
            </a:r>
          </a:p>
          <a:p>
            <a:pPr>
              <a:spcBef>
                <a:spcPts val="0"/>
              </a:spcBef>
              <a:spcAft>
                <a:spcPts val="700"/>
              </a:spcAft>
            </a:pPr>
            <a:r>
              <a:rPr sz="1100" b="1" i="0">
                <a:solidFill>
                  <a:srgbClr val="777488"/>
                </a:solidFill>
                <a:latin typeface="Calibri"/>
              </a:rPr>
              <a:t>9  </a:t>
            </a:r>
            <a:r>
              <a:rPr sz="1150" b="1" i="0">
                <a:solidFill>
                  <a:srgbClr val="1E1B2E"/>
                </a:solidFill>
                <a:latin typeface="Calibri"/>
              </a:rPr>
              <a:t>Babbel — comparison of best language-learning apps (goal-based)</a:t>
            </a:r>
          </a:p>
          <a:p>
            <a:pPr>
              <a:spcBef>
                <a:spcPts val="0"/>
              </a:spcBef>
              <a:spcAft>
                <a:spcPts val="900"/>
              </a:spcAft>
            </a:pPr>
            <a:r>
              <a:rPr sz="1000" b="0" i="0">
                <a:solidFill>
                  <a:srgbClr val="777488"/>
                </a:solidFill>
                <a:latin typeface="Calibri"/>
              </a:rPr>
              <a:t>      </a:t>
            </a:r>
            <a:r>
              <a:rPr sz="950" b="0" i="0" u="sng">
                <a:solidFill>
                  <a:srgbClr val="5B5BE6"/>
                </a:solidFill>
                <a:latin typeface="Calibri"/>
                <a:hlinkClick r:id="rId2"/>
              </a:rPr>
              <a:t>https://www.babbel.com/compare-best-language-learning-apps</a:t>
            </a:r>
          </a:p>
          <a:p>
            <a:pPr>
              <a:spcBef>
                <a:spcPts val="0"/>
              </a:spcBef>
              <a:spcAft>
                <a:spcPts val="700"/>
              </a:spcAft>
            </a:pPr>
            <a:r>
              <a:rPr sz="1100" b="1" i="0">
                <a:solidFill>
                  <a:srgbClr val="777488"/>
                </a:solidFill>
                <a:latin typeface="Calibri"/>
              </a:rPr>
              <a:t>10  </a:t>
            </a:r>
            <a:r>
              <a:rPr sz="1150" b="1" i="0">
                <a:solidFill>
                  <a:srgbClr val="1E1B2E"/>
                </a:solidFill>
                <a:latin typeface="Calibri"/>
              </a:rPr>
              <a:t>Babbel — apps for travelers / digital nomads (use-case framing)</a:t>
            </a:r>
          </a:p>
          <a:p>
            <a:pPr>
              <a:spcBef>
                <a:spcPts val="0"/>
              </a:spcBef>
              <a:spcAft>
                <a:spcPts val="900"/>
              </a:spcAft>
            </a:pPr>
            <a:r>
              <a:rPr sz="1000" b="0" i="0">
                <a:solidFill>
                  <a:srgbClr val="777488"/>
                </a:solidFill>
                <a:latin typeface="Calibri"/>
              </a:rPr>
              <a:t>      </a:t>
            </a:r>
            <a:r>
              <a:rPr sz="950" b="0" i="0" u="sng">
                <a:solidFill>
                  <a:srgbClr val="5B5BE6"/>
                </a:solidFill>
                <a:latin typeface="Calibri"/>
                <a:hlinkClick r:id="rId3"/>
              </a:rPr>
              <a:t>https://www.babbel.com/best-language-learning-apps-for-digital-nomads</a:t>
            </a:r>
          </a:p>
        </p:txBody>
      </p:sp>
      <p:sp>
        <p:nvSpPr>
          <p:cNvPr id="9" name="Rounded Rectangle 8"/>
          <p:cNvSpPr/>
          <p:nvPr/>
        </p:nvSpPr>
        <p:spPr>
          <a:xfrm>
            <a:off x="548640" y="4114800"/>
            <a:ext cx="11064240" cy="2377440"/>
          </a:xfrm>
          <a:prstGeom prst="roundRect">
            <a:avLst/>
          </a:prstGeom>
          <a:solidFill>
            <a:srgbClr val="FBF1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64592" tIns="118872"/>
          <a:lstStyle/>
          <a:p>
            <a:pPr algn="l">
              <a:spcBef>
                <a:spcPts val="0"/>
              </a:spcBef>
              <a:spcAft>
                <a:spcPts val="400"/>
              </a:spcAft>
            </a:pPr>
            <a:r>
              <a:rPr sz="1400" b="1" i="0">
                <a:solidFill>
                  <a:srgbClr val="C06A2A"/>
                </a:solidFill>
                <a:latin typeface="Calibri"/>
              </a:rPr>
              <a:t>Honesty note on sourcing (so you can weigh the claims)</a:t>
            </a:r>
          </a:p>
          <a:p>
            <a:pPr algn="l">
              <a:spcBef>
                <a:spcPts val="0"/>
              </a:spcBef>
              <a:spcAft>
                <a:spcPts val="300"/>
              </a:spcAft>
            </a:pPr>
            <a:r>
              <a:rPr sz="1350" b="0" i="0">
                <a:solidFill>
                  <a:srgbClr val="444455"/>
                </a:solidFill>
                <a:latin typeface="Calibri"/>
              </a:rPr>
              <a:t>•  The German-framework and exam claims (Mode, sector, situation, counterpart) are grounded in the primary sources 1–8 above. These are the load-bearing research claims and they hold.</a:t>
            </a:r>
          </a:p>
          <a:p>
            <a:pPr algn="l">
              <a:spcBef>
                <a:spcPts val="0"/>
              </a:spcBef>
              <a:spcAft>
                <a:spcPts val="300"/>
              </a:spcAft>
            </a:pPr>
            <a:r>
              <a:rPr sz="1350" b="0" i="0">
                <a:solidFill>
                  <a:srgbClr val="444455"/>
                </a:solidFill>
                <a:latin typeface="Calibri"/>
              </a:rPr>
              <a:t>•  The structural descriptions of Duolingo, Busuu, Lingoda and Anki / Memrise (slides 2–3) come from general, current product familiarity, not a single cited page each. They are accurate at a high level but are not citation-grade; treat them as informed characterization.</a:t>
            </a:r>
          </a:p>
          <a:p>
            <a:pPr algn="l">
              <a:spcBef>
                <a:spcPts val="0"/>
              </a:spcBef>
              <a:spcAft>
                <a:spcPts val="300"/>
              </a:spcAft>
            </a:pPr>
            <a:r>
              <a:rPr sz="1350" b="0" i="0">
                <a:solidFill>
                  <a:srgbClr val="444455"/>
                </a:solidFill>
                <a:latin typeface="Calibri"/>
              </a:rPr>
              <a:t>•  Everything about Genauly's current state is verified directly against the codebase, not the web.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