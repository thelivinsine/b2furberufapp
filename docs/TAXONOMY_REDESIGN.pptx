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457200"/>
          </a:xfrm>
          <a:prstGeom prst="rect">
            <a:avLst/>
          </a:prstGeom>
          <a:noFill/>
        </p:spPr>
        <p:txBody>
          <a:bodyPr wrap="square" anchor="t" lIns="45720" rIns="45720" tIns="18288" bIns="18288">
            <a:spAutoFit/>
          </a:bodyPr>
          <a:lstStyle/>
          <a:p>
            <a:pPr algn="l">
              <a:spcBef>
                <a:spcPts val="0"/>
              </a:spcBef>
              <a:spcAft>
                <a:spcPts val="600"/>
              </a:spcAft>
            </a:pPr>
            <a:r>
              <a:rPr sz="1400" b="1" i="0">
                <a:solidFill>
                  <a:srgbClr val="10B7CF"/>
                </a:solidFill>
                <a:latin typeface="Calibri"/>
              </a:rPr>
              <a:t>GENAULY  ·  PRODUCT STRATEGY</a:t>
            </a:r>
          </a:p>
        </p:txBody>
      </p:sp>
      <p:sp>
        <p:nvSpPr>
          <p:cNvPr id="6" name="TextBox 5"/>
          <p:cNvSpPr txBox="1"/>
          <p:nvPr/>
        </p:nvSpPr>
        <p:spPr>
          <a:xfrm>
            <a:off x="822960" y="1828800"/>
            <a:ext cx="10607040" cy="2194560"/>
          </a:xfrm>
          <a:prstGeom prst="rect">
            <a:avLst/>
          </a:prstGeom>
          <a:noFill/>
        </p:spPr>
        <p:txBody>
          <a:bodyPr wrap="square" anchor="t" lIns="45720" rIns="45720" tIns="18288" bIns="18288">
            <a:spAutoFit/>
          </a:bodyPr>
          <a:lstStyle/>
          <a:p>
            <a:pPr algn="l">
              <a:spcBef>
                <a:spcPts val="0"/>
              </a:spcBef>
              <a:spcAft>
                <a:spcPts val="1000"/>
              </a:spcAft>
            </a:pPr>
            <a:r>
              <a:rPr sz="3700" b="1" i="0">
                <a:solidFill>
                  <a:srgbClr val="FFFFFF"/>
                </a:solidFill>
                <a:latin typeface="Calibri"/>
              </a:rPr>
              <a:t>How We Organize &amp; Filter Learning Content</a:t>
            </a:r>
          </a:p>
          <a:p>
            <a:pPr algn="l">
              <a:spcBef>
                <a:spcPts val="0"/>
              </a:spcBef>
              <a:spcAft>
                <a:spcPts val="600"/>
              </a:spcAft>
            </a:pPr>
            <a:r>
              <a:rPr sz="1800" b="0" i="0">
                <a:solidFill>
                  <a:srgbClr val="C9C6DE"/>
                </a:solidFill>
                <a:latin typeface="Calibri"/>
              </a:rPr>
              <a:t>A plain-language plan for sorting our words, phrases and exercises so learners always find exactly what they need, and so the app can keep growing without turning into a mess.</a:t>
            </a:r>
          </a:p>
        </p:txBody>
      </p:sp>
      <p:sp>
        <p:nvSpPr>
          <p:cNvPr id="7" name="TextBox 6"/>
          <p:cNvSpPr txBox="1"/>
          <p:nvPr/>
        </p:nvSpPr>
        <p:spPr>
          <a:xfrm>
            <a:off x="822960" y="5120640"/>
            <a:ext cx="10607040" cy="1097280"/>
          </a:xfrm>
          <a:prstGeom prst="rect">
            <a:avLst/>
          </a:prstGeom>
          <a:noFill/>
        </p:spPr>
        <p:txBody>
          <a:bodyPr wrap="square" anchor="t" lIns="45720" rIns="45720" tIns="18288" bIns="18288">
            <a:spAutoFit/>
          </a:bodyPr>
          <a:lstStyle/>
          <a:p>
            <a:pPr algn="l">
              <a:spcBef>
                <a:spcPts val="0"/>
              </a:spcBef>
              <a:spcAft>
                <a:spcPts val="300"/>
              </a:spcAft>
            </a:pPr>
            <a:r>
              <a:rPr sz="1400" b="1" i="0">
                <a:solidFill>
                  <a:srgbClr val="9B98B8"/>
                </a:solidFill>
                <a:latin typeface="Calibri"/>
              </a:rPr>
              <a:t>Research + recommendation + app mockups</a:t>
            </a:r>
          </a:p>
          <a:p>
            <a:pPr algn="l">
              <a:spcBef>
                <a:spcPts val="0"/>
              </a:spcBef>
              <a:spcAft>
                <a:spcPts val="600"/>
              </a:spcAft>
            </a:pPr>
            <a:r>
              <a:rPr sz="1300" b="0" i="0">
                <a:solidFill>
                  <a:srgbClr val="7C7999"/>
                </a:solidFill>
                <a:latin typeface="Calibri"/>
              </a:rPr>
              <a:t>Written for a non-technical reader. No code knowledge needed.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BEFORE WE START</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How to read this deck</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&gt;</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4206240"/>
          </a:xfrm>
          <a:prstGeom prst="rect">
            <a:avLst/>
          </a:prstGeom>
          <a:noFill/>
        </p:spPr>
        <p:txBody>
          <a:bodyPr wrap="square" anchor="t" lIns="45720" rIns="45720" tIns="18288" bIns="18288">
            <a:spAutoFit/>
          </a:bodyPr>
          <a:lstStyle/>
          <a:p>
            <a:pPr algn="l">
              <a:spcBef>
                <a:spcPts val="0"/>
              </a:spcBef>
              <a:spcAft>
                <a:spcPts val="800"/>
              </a:spcAft>
            </a:pPr>
            <a:r>
              <a:rPr sz="1500" b="1" i="0">
                <a:solidFill>
                  <a:srgbClr val="1E1B2E"/>
                </a:solidFill>
                <a:latin typeface="Calibri"/>
              </a:rPr>
              <a:t>This deck answers one question:</a:t>
            </a:r>
          </a:p>
          <a:p>
            <a:pPr algn="l">
              <a:spcBef>
                <a:spcPts val="0"/>
              </a:spcBef>
              <a:spcAft>
                <a:spcPts val="1400"/>
              </a:spcAft>
            </a:pPr>
            <a:r>
              <a:rPr sz="1600" b="1" i="1">
                <a:solidFill>
                  <a:srgbClr val="5B5BE6"/>
                </a:solidFill>
                <a:latin typeface="Calibri"/>
              </a:rPr>
              <a:t>“As we add more words, phrases and exercises, how do we sort and label them so the app stays easy to use and easy to grow?”</a:t>
            </a:r>
          </a:p>
          <a:p>
            <a:pPr algn="l">
              <a:spcBef>
                <a:spcPts val="0"/>
              </a:spcBef>
              <a:spcAft>
                <a:spcPts val="800"/>
              </a:spcAft>
            </a:pPr>
            <a:r>
              <a:rPr sz="1600" b="1" i="0">
                <a:solidFill>
                  <a:srgbClr val="1E1B2E"/>
                </a:solidFill>
                <a:latin typeface="Calibri"/>
              </a:rPr>
              <a:t>Three plain-English ideas you'll see repeated</a:t>
            </a:r>
          </a:p>
          <a:p>
            <a:pPr>
              <a:spcBef>
                <a:spcPts val="0"/>
              </a:spcBef>
              <a:spcAft>
                <a:spcPts val="700"/>
              </a:spcAft>
            </a:pPr>
            <a:r>
              <a:rPr sz="1500" b="1" i="0">
                <a:solidFill>
                  <a:srgbClr val="5B5BE6"/>
                </a:solidFill>
                <a:latin typeface="Calibri"/>
              </a:rPr>
              <a:t>•  </a:t>
            </a:r>
            <a:r>
              <a:rPr sz="1500" b="1" i="0">
                <a:solidFill>
                  <a:srgbClr val="444455"/>
                </a:solidFill>
                <a:latin typeface="Calibri"/>
              </a:rPr>
              <a:t>Topics = folders. </a:t>
            </a:r>
            <a:r>
              <a:rPr sz="1500" b="0" i="0">
                <a:solidFill>
                  <a:srgbClr val="444455"/>
                </a:solidFill>
                <a:latin typeface="Calibri"/>
              </a:rPr>
              <a:t>A tree you browse: Working life → Meetings → Running a meeting. Each item has one home.</a:t>
            </a:r>
          </a:p>
          <a:p>
            <a:pPr>
              <a:spcBef>
                <a:spcPts val="0"/>
              </a:spcBef>
              <a:spcAft>
                <a:spcPts val="700"/>
              </a:spcAft>
            </a:pPr>
            <a:r>
              <a:rPr sz="1500" b="1" i="0">
                <a:solidFill>
                  <a:srgbClr val="5B5BE6"/>
                </a:solidFill>
                <a:latin typeface="Calibri"/>
              </a:rPr>
              <a:t>•  </a:t>
            </a:r>
            <a:r>
              <a:rPr sz="1500" b="1" i="0">
                <a:solidFill>
                  <a:srgbClr val="444455"/>
                </a:solidFill>
                <a:latin typeface="Calibri"/>
              </a:rPr>
              <a:t>Tags = sticky labels. </a:t>
            </a:r>
            <a:r>
              <a:rPr sz="1500" b="0" i="0">
                <a:solidFill>
                  <a:srgbClr val="444455"/>
                </a:solidFill>
                <a:latin typeface="Calibri"/>
              </a:rPr>
              <a:t>Properties you mix and match: “level B2” + “formal” + “still learning”. One item can wear many.</a:t>
            </a:r>
          </a:p>
          <a:p>
            <a:pPr>
              <a:spcBef>
                <a:spcPts val="0"/>
              </a:spcBef>
              <a:spcAft>
                <a:spcPts val="700"/>
              </a:spcAft>
            </a:pPr>
            <a:r>
              <a:rPr sz="1500" b="1" i="0">
                <a:solidFill>
                  <a:srgbClr val="5B5BE6"/>
                </a:solidFill>
                <a:latin typeface="Calibri"/>
              </a:rPr>
              <a:t>•  </a:t>
            </a:r>
            <a:r>
              <a:rPr sz="1500" b="1" i="0">
                <a:solidFill>
                  <a:srgbClr val="444455"/>
                </a:solidFill>
                <a:latin typeface="Calibri"/>
              </a:rPr>
              <a:t>A filter = a saved search. </a:t>
            </a:r>
            <a:r>
              <a:rPr sz="1500" b="0" i="0">
                <a:solidFill>
                  <a:srgbClr val="444455"/>
                </a:solidFill>
                <a:latin typeface="Calibri"/>
              </a:rPr>
              <a:t>“Formal B2 office-email phrases I haven't mastered” is just a few labels combined, not a new folder.</a:t>
            </a:r>
          </a:p>
        </p:txBody>
      </p:sp>
      <p:sp>
        <p:nvSpPr>
          <p:cNvPr id="9" name="Rounded Rectangle 8"/>
          <p:cNvSpPr/>
          <p:nvPr/>
        </p:nvSpPr>
        <p:spPr>
          <a:xfrm>
            <a:off x="548640" y="5486400"/>
            <a:ext cx="11064240" cy="100584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supermarket analogy we'll use all deck</a:t>
            </a:r>
          </a:p>
          <a:p>
            <a:pPr algn="l">
              <a:spcBef>
                <a:spcPts val="0"/>
              </a:spcBef>
              <a:spcAft>
                <a:spcPts val="500"/>
              </a:spcAft>
            </a:pPr>
            <a:r>
              <a:rPr sz="1350" b="0" i="0">
                <a:solidFill>
                  <a:srgbClr val="444455"/>
                </a:solidFill>
                <a:latin typeface="Calibri"/>
              </a:rPr>
              <a:t>A good supermarket has aisles (folders) AND labels like “organic” or “under €5” (tags). You walk the aisles to browse, but you use labels to find exactly what you want fast. Our app needs both. Today it only has aisles, and just one of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big picture, in one minute</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2194560"/>
          </a:xfrm>
          <a:prstGeom prst="rect">
            <a:avLst/>
          </a:prstGeom>
          <a:noFill/>
        </p:spPr>
        <p:txBody>
          <a:bodyPr wrap="square" anchor="t" lIns="45720" rIns="45720" tIns="18288" bIns="18288">
            <a:spAutoFit/>
          </a:bodyPr>
          <a:lstStyle/>
          <a:p>
            <a:pPr algn="l">
              <a:spcBef>
                <a:spcPts val="0"/>
              </a:spcBef>
              <a:spcAft>
                <a:spcPts val="300"/>
              </a:spcAft>
            </a:pPr>
            <a:r>
              <a:rPr sz="1500" b="1" i="0">
                <a:solidFill>
                  <a:srgbClr val="B03A3A"/>
                </a:solidFill>
                <a:latin typeface="Calibri"/>
              </a:rPr>
              <a:t>The problem:</a:t>
            </a:r>
          </a:p>
          <a:p>
            <a:pPr algn="l">
              <a:spcBef>
                <a:spcPts val="0"/>
              </a:spcBef>
              <a:spcAft>
                <a:spcPts val="1200"/>
              </a:spcAft>
            </a:pPr>
            <a:r>
              <a:rPr sz="1500" b="0" i="0">
                <a:solidFill>
                  <a:srgbClr val="444455"/>
                </a:solidFill>
                <a:latin typeface="Calibri"/>
              </a:rPr>
              <a:t>Every part of the app sorts content by one thing only, a list of 11 topics, on a single dropdown. There is no “level” label anywhere a learner can see, no sub-topics, and no way to say “show me what I still need to practice.” It works at 11 topics. It breaks at 100.</a:t>
            </a:r>
          </a:p>
          <a:p>
            <a:pPr algn="l">
              <a:spcBef>
                <a:spcPts val="0"/>
              </a:spcBef>
              <a:spcAft>
                <a:spcPts val="300"/>
              </a:spcAft>
            </a:pPr>
            <a:r>
              <a:rPr sz="1500" b="1" i="0">
                <a:solidFill>
                  <a:srgbClr val="2A9D6E"/>
                </a:solidFill>
                <a:latin typeface="Calibri"/>
              </a:rPr>
              <a:t>The fix:</a:t>
            </a:r>
          </a:p>
          <a:p>
            <a:pPr algn="l">
              <a:spcBef>
                <a:spcPts val="0"/>
              </a:spcBef>
              <a:spcAft>
                <a:spcPts val="0"/>
              </a:spcAft>
            </a:pPr>
            <a:r>
              <a:rPr sz="1500" b="0" i="0">
                <a:solidFill>
                  <a:srgbClr val="444455"/>
                </a:solidFill>
                <a:latin typeface="Calibri"/>
              </a:rPr>
              <a:t>Keep a simple, shallow folder tree for topics (3 levels deep, no more), and add a small set of mix-and-match labels (level, formal/informal, word type, “still learning”). Show learners 2 simple filters by default, with an “Advanced” button for power users.</a:t>
            </a:r>
          </a:p>
        </p:txBody>
      </p:sp>
      <p:graphicFrame>
        <p:nvGraphicFramePr>
          <p:cNvPr id="9" name="Table 8"/>
          <p:cNvGraphicFramePr>
            <a:graphicFrameLocks noGrp="1"/>
          </p:cNvGraphicFramePr>
          <p:nvPr/>
        </p:nvGraphicFramePr>
        <p:xfrm>
          <a:off x="548640" y="4160520"/>
          <a:ext cx="11064240" cy="2194560"/>
        </p:xfrm>
        <a:graphic>
          <a:graphicData uri="http://schemas.openxmlformats.org/drawingml/2006/table">
            <a:tbl>
              <a:tblPr>
                <a:tableStyleId>{5C22544A-7EE6-4342-B048-85BDC9FD1C3A}</a:tableStyleId>
              </a:tblPr>
              <a:tblGrid>
                <a:gridCol w="4937760"/>
                <a:gridCol w="6126480"/>
              </a:tblGrid>
              <a:tr h="438912">
                <a:tc>
                  <a:txBody>
                    <a:bodyPr/>
                    <a:lstStyle/>
                    <a:p>
                      <a:pPr>
                        <a:spcAft>
                          <a:spcPts val="0"/>
                        </a:spcAft>
                      </a:pPr>
                      <a:r>
                        <a:rPr sz="1100" b="1" i="0">
                          <a:solidFill>
                            <a:srgbClr val="FFFFFF"/>
                          </a:solidFill>
                          <a:latin typeface="Calibri"/>
                        </a:rPr>
                        <a:t>Today</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After this plan</a:t>
                      </a:r>
                    </a:p>
                  </a:txBody>
                  <a:tcPr marL="73152" marR="54864" marT="27432" marB="27432" anchor="ctr">
                    <a:solidFill>
                      <a:srgbClr val="5B5BE6"/>
                    </a:solidFill>
                  </a:tcPr>
                </a:tc>
              </a:tr>
              <a:tr h="438912">
                <a:tc>
                  <a:txBody>
                    <a:bodyPr/>
                    <a:lstStyle/>
                    <a:p>
                      <a:pPr>
                        <a:spcAft>
                          <a:spcPts val="0"/>
                        </a:spcAft>
                      </a:pPr>
                      <a:r>
                        <a:rPr sz="1300" b="1" i="0">
                          <a:solidFill>
                            <a:srgbClr val="1E1B2E"/>
                          </a:solidFill>
                          <a:latin typeface="Calibri"/>
                        </a:rPr>
                        <a:t>1 dropdown, 11 flat topics</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Topics nested in a tidy tree + mix-and-match labels</a:t>
                      </a:r>
                    </a:p>
                  </a:txBody>
                  <a:tcPr marL="73152" marR="54864" marT="27432" marB="27432" anchor="ctr">
                    <a:solidFill>
                      <a:srgbClr val="FFFFFF"/>
                    </a:solidFill>
                  </a:tcPr>
                </a:tc>
              </a:tr>
              <a:tr h="438912">
                <a:tc>
                  <a:txBody>
                    <a:bodyPr/>
                    <a:lstStyle/>
                    <a:p>
                      <a:pPr>
                        <a:spcAft>
                          <a:spcPts val="0"/>
                        </a:spcAft>
                      </a:pPr>
                      <a:r>
                        <a:rPr sz="1300" b="1" i="0">
                          <a:solidFill>
                            <a:srgbClr val="1E1B2E"/>
                          </a:solidFill>
                          <a:latin typeface="Calibri"/>
                        </a:rPr>
                        <a:t>No language-level label at all</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Every item shows its level (B1.1 … B2.2)</a:t>
                      </a:r>
                    </a:p>
                  </a:txBody>
                  <a:tcPr marL="73152" marR="54864" marT="27432" marB="27432" anchor="ctr">
                    <a:solidFill>
                      <a:srgbClr val="F7F6FC"/>
                    </a:solidFill>
                  </a:tcPr>
                </a:tc>
              </a:tr>
              <a:tr h="438912">
                <a:tc>
                  <a:txBody>
                    <a:bodyPr/>
                    <a:lstStyle/>
                    <a:p>
                      <a:pPr>
                        <a:spcAft>
                          <a:spcPts val="0"/>
                        </a:spcAft>
                      </a:pPr>
                      <a:r>
                        <a:rPr sz="1300" b="1" i="0">
                          <a:solidFill>
                            <a:srgbClr val="1E1B2E"/>
                          </a:solidFill>
                          <a:latin typeface="Calibri"/>
                        </a:rPr>
                        <a:t>“Behörde” = 28 words in one pile</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“Behörde” → 4 clear sub-topics you can drill into</a:t>
                      </a:r>
                    </a:p>
                  </a:txBody>
                  <a:tcPr marL="73152" marR="54864" marT="27432" marB="27432" anchor="ctr">
                    <a:solidFill>
                      <a:srgbClr val="FFFFFF"/>
                    </a:solidFill>
                  </a:tcPr>
                </a:tc>
              </a:tr>
              <a:tr h="438912">
                <a:tc>
                  <a:txBody>
                    <a:bodyPr/>
                    <a:lstStyle/>
                    <a:p>
                      <a:pPr>
                        <a:spcAft>
                          <a:spcPts val="0"/>
                        </a:spcAft>
                      </a:pPr>
                      <a:r>
                        <a:rPr sz="1300" b="1" i="0">
                          <a:solidFill>
                            <a:srgbClr val="1E1B2E"/>
                          </a:solidFill>
                          <a:latin typeface="Calibri"/>
                        </a:rPr>
                        <a:t>Each module is its own island</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Word → phrase → writing task all linked by topic</a:t>
                      </a:r>
                    </a:p>
                  </a:txBody>
                  <a:tcPr marL="73152" marR="54864" marT="27432" marB="27432" anchor="ctr">
                    <a:solidFill>
                      <a:srgbClr val="F7F6FC"/>
                    </a:solidFill>
                  </a:tcPr>
                </a:tc>
              </a:tr>
            </a:tbl>
          </a:graphicData>
        </a:graphic>
      </p:graphicFrame>
      <p:sp>
        <p:nvSpPr>
          <p:cNvPr id="10" name="Rounded Rectangle 9"/>
          <p:cNvSpPr/>
          <p:nvPr/>
        </p:nvSpPr>
        <p:spPr>
          <a:xfrm>
            <a:off x="548640" y="6400800"/>
            <a:ext cx="11064240" cy="384048"/>
          </a:xfrm>
          <a:prstGeom prst="roundRect">
            <a:avLst/>
          </a:prstGeom>
          <a:solidFill>
            <a:srgbClr val="FBF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C06A2A"/>
                </a:solidFill>
                <a:latin typeface="Calibri"/>
              </a:rPr>
              <a:t>Why now</a:t>
            </a:r>
          </a:p>
          <a:p>
            <a:pPr algn="l">
              <a:spcBef>
                <a:spcPts val="0"/>
              </a:spcBef>
              <a:spcAft>
                <a:spcPts val="500"/>
              </a:spcAft>
            </a:pPr>
            <a:r>
              <a:rPr sz="1300" b="0" i="0">
                <a:solidFill>
                  <a:srgbClr val="444455"/>
                </a:solidFill>
                <a:latin typeface="Calibri"/>
              </a:rPr>
              <a:t>It is far cheaper to set this up at 11 topics than to untangle it at 100. The longer we wait, the more items we have to relabel later.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  ·  WHAT OTHER APPS DO (1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big consumer apps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3749040"/>
        </p:xfrm>
        <a:graphic>
          <a:graphicData uri="http://schemas.openxmlformats.org/drawingml/2006/table">
            <a:tbl>
              <a:tblPr>
                <a:tableStyleId>{5C22544A-7EE6-4342-B048-85BDC9FD1C3A}</a:tableStyleId>
              </a:tblPr>
              <a:tblGrid>
                <a:gridCol w="1737360"/>
                <a:gridCol w="4206240"/>
                <a:gridCol w="5120640"/>
              </a:tblGrid>
              <a:tr h="749808">
                <a:tc>
                  <a:txBody>
                    <a:bodyPr/>
                    <a:lstStyle/>
                    <a:p>
                      <a:pPr>
                        <a:spcAft>
                          <a:spcPts val="0"/>
                        </a:spcAft>
                      </a:pPr>
                      <a:r>
                        <a:rPr sz="1100" b="1" i="0">
                          <a:solidFill>
                            <a:srgbClr val="FFFFFF"/>
                          </a:solidFill>
                          <a:latin typeface="Calibri"/>
                        </a:rPr>
                        <a:t>App</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How it sorts content</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What it teaches us</a:t>
                      </a:r>
                    </a:p>
                  </a:txBody>
                  <a:tcPr marL="73152" marR="54864" marT="27432" marB="27432" anchor="ctr">
                    <a:solidFill>
                      <a:srgbClr val="5B5BE6"/>
                    </a:solidFill>
                  </a:tcPr>
                </a:tc>
              </a:tr>
              <a:tr h="749808">
                <a:tc>
                  <a:txBody>
                    <a:bodyPr/>
                    <a:lstStyle/>
                    <a:p>
                      <a:pPr>
                        <a:spcAft>
                          <a:spcPts val="0"/>
                        </a:spcAft>
                      </a:pPr>
                      <a:r>
                        <a:rPr sz="1200" b="1" i="0">
                          <a:solidFill>
                            <a:srgbClr val="1E1B2E"/>
                          </a:solidFill>
                          <a:latin typeface="Calibri"/>
                        </a:rPr>
                        <a:t>Duolingo</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One fixed path; the app decides, you can't filter</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Great momentum, but useless if you need Behörde words THIS week</a:t>
                      </a:r>
                    </a:p>
                  </a:txBody>
                  <a:tcPr marL="73152" marR="54864" marT="27432" marB="27432" anchor="ctr">
                    <a:solidFill>
                      <a:srgbClr val="FFFFFF"/>
                    </a:solidFill>
                  </a:tcPr>
                </a:tc>
              </a:tr>
              <a:tr h="749808">
                <a:tc>
                  <a:txBody>
                    <a:bodyPr/>
                    <a:lstStyle/>
                    <a:p>
                      <a:pPr>
                        <a:spcAft>
                          <a:spcPts val="0"/>
                        </a:spcAft>
                      </a:pPr>
                      <a:r>
                        <a:rPr sz="1200" b="1" i="0">
                          <a:solidFill>
                            <a:srgbClr val="1E1B2E"/>
                          </a:solidFill>
                          <a:latin typeface="Calibri"/>
                        </a:rPr>
                        <a:t>Babbel</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Separate courses by goal (“Business German”)</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“Business” framing fits adults, but courses are walled-off islands</a:t>
                      </a:r>
                    </a:p>
                  </a:txBody>
                  <a:tcPr marL="73152" marR="54864" marT="27432" marB="27432" anchor="ctr">
                    <a:solidFill>
                      <a:srgbClr val="F7F6FC"/>
                    </a:solidFill>
                  </a:tcPr>
                </a:tc>
              </a:tr>
              <a:tr h="749808">
                <a:tc>
                  <a:txBody>
                    <a:bodyPr/>
                    <a:lstStyle/>
                    <a:p>
                      <a:pPr>
                        <a:spcAft>
                          <a:spcPts val="0"/>
                        </a:spcAft>
                      </a:pPr>
                      <a:r>
                        <a:rPr sz="1200" b="1" i="0">
                          <a:solidFill>
                            <a:srgbClr val="1E1B2E"/>
                          </a:solidFill>
                          <a:latin typeface="Calibri"/>
                        </a:rPr>
                        <a:t>Busuu</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Sorted by language level first, then topic</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Level-first is exactly how our learners think. Steal this.</a:t>
                      </a:r>
                    </a:p>
                  </a:txBody>
                  <a:tcPr marL="73152" marR="54864" marT="27432" marB="27432" anchor="ctr">
                    <a:solidFill>
                      <a:srgbClr val="FFFFFF"/>
                    </a:solidFill>
                  </a:tcPr>
                </a:tc>
              </a:tr>
              <a:tr h="749808">
                <a:tc>
                  <a:txBody>
                    <a:bodyPr/>
                    <a:lstStyle/>
                    <a:p>
                      <a:pPr>
                        <a:spcAft>
                          <a:spcPts val="0"/>
                        </a:spcAft>
                      </a:pPr>
                      <a:r>
                        <a:rPr sz="1200" b="1" i="0">
                          <a:solidFill>
                            <a:srgbClr val="1E1B2E"/>
                          </a:solidFill>
                          <a:latin typeface="Calibri"/>
                        </a:rPr>
                        <a:t>Anki / Memrise</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Sticky labels (tags); filter by any mix</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Maximum flexibility, but no built-in teaching. Great engine, raw front.</a:t>
                      </a:r>
                    </a:p>
                  </a:txBody>
                  <a:tcPr marL="73152" marR="54864" marT="27432" marB="27432" anchor="ctr">
                    <a:solidFill>
                      <a:srgbClr val="F7F6FC"/>
                    </a:solidFill>
                  </a:tcPr>
                </a:tc>
              </a:tr>
            </a:tbl>
          </a:graphicData>
        </a:graphic>
      </p:graphicFrame>
      <p:sp>
        <p:nvSpPr>
          <p:cNvPr id="9" name="Rounded Rectangle 8"/>
          <p:cNvSpPr/>
          <p:nvPr/>
        </p:nvSpPr>
        <p:spPr>
          <a:xfrm>
            <a:off x="548640" y="5486400"/>
            <a:ext cx="11064240" cy="100584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takeaway</a:t>
            </a:r>
          </a:p>
          <a:p>
            <a:pPr algn="l">
              <a:spcBef>
                <a:spcPts val="0"/>
              </a:spcBef>
              <a:spcAft>
                <a:spcPts val="500"/>
              </a:spcAft>
            </a:pPr>
            <a:r>
              <a:rPr sz="1350" b="0" i="0">
                <a:solidFill>
                  <a:srgbClr val="444455"/>
                </a:solidFill>
                <a:latin typeface="Calibri"/>
              </a:rPr>
              <a:t>The leaders sit on a line from “app decides everything” (Duolingo) to “you control everything” (Anki). Our learners are motivated adults with a concrete need, so we want the middle: smart defaults out of the box, but the power to filter hard when they know what they want.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3  ·  WHAT OTHER APPS DO (2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serious German + exam world</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3</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3749040"/>
        </p:xfrm>
        <a:graphic>
          <a:graphicData uri="http://schemas.openxmlformats.org/drawingml/2006/table">
            <a:tbl>
              <a:tblPr>
                <a:tableStyleId>{5C22544A-7EE6-4342-B048-85BDC9FD1C3A}</a:tableStyleId>
              </a:tblPr>
              <a:tblGrid>
                <a:gridCol w="2377440"/>
                <a:gridCol w="4206240"/>
                <a:gridCol w="4480560"/>
              </a:tblGrid>
              <a:tr h="749808">
                <a:tc>
                  <a:txBody>
                    <a:bodyPr/>
                    <a:lstStyle/>
                    <a:p>
                      <a:pPr>
                        <a:spcAft>
                          <a:spcPts val="0"/>
                        </a:spcAft>
                      </a:pPr>
                      <a:r>
                        <a:rPr sz="1100" b="1" i="0">
                          <a:solidFill>
                            <a:srgbClr val="FFFFFF"/>
                          </a:solidFill>
                          <a:latin typeface="Calibri"/>
                        </a:rPr>
                        <a:t>Source</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How it sorts content</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What we steal</a:t>
                      </a:r>
                    </a:p>
                  </a:txBody>
                  <a:tcPr marL="73152" marR="54864" marT="27432" marB="27432" anchor="ctr">
                    <a:solidFill>
                      <a:srgbClr val="5B5BE6"/>
                    </a:solidFill>
                  </a:tcPr>
                </a:tc>
              </a:tr>
              <a:tr h="749808">
                <a:tc>
                  <a:txBody>
                    <a:bodyPr/>
                    <a:lstStyle/>
                    <a:p>
                      <a:pPr>
                        <a:spcAft>
                          <a:spcPts val="0"/>
                        </a:spcAft>
                      </a:pPr>
                      <a:r>
                        <a:rPr sz="1200" b="1" i="0">
                          <a:solidFill>
                            <a:srgbClr val="1E1B2E"/>
                          </a:solidFill>
                          <a:latin typeface="Calibri"/>
                        </a:rPr>
                        <a:t>Lingoda</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Strict level grid (A1.1 … C1)</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Level is a clear coordinate, not a vague feeling</a:t>
                      </a:r>
                    </a:p>
                  </a:txBody>
                  <a:tcPr marL="73152" marR="54864" marT="27432" marB="27432" anchor="ctr">
                    <a:solidFill>
                      <a:srgbClr val="FFFFFF"/>
                    </a:solidFill>
                  </a:tcPr>
                </a:tc>
              </a:tr>
              <a:tr h="749808">
                <a:tc>
                  <a:txBody>
                    <a:bodyPr/>
                    <a:lstStyle/>
                    <a:p>
                      <a:pPr>
                        <a:spcAft>
                          <a:spcPts val="0"/>
                        </a:spcAft>
                      </a:pPr>
                      <a:r>
                        <a:rPr sz="1200" b="1" i="0">
                          <a:solidFill>
                            <a:srgbClr val="1E1B2E"/>
                          </a:solidFill>
                          <a:latin typeface="Calibri"/>
                        </a:rPr>
                        <a:t>Goethe-Institut</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“Can-do” goals (“Can register at an office”)</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Frame learning around real situations, not word lists</a:t>
                      </a:r>
                    </a:p>
                  </a:txBody>
                  <a:tcPr marL="73152" marR="54864" marT="27432" marB="27432" anchor="ctr">
                    <a:solidFill>
                      <a:srgbClr val="F7F6FC"/>
                    </a:solidFill>
                  </a:tcPr>
                </a:tc>
              </a:tr>
              <a:tr h="749808">
                <a:tc>
                  <a:txBody>
                    <a:bodyPr/>
                    <a:lstStyle/>
                    <a:p>
                      <a:pPr>
                        <a:spcAft>
                          <a:spcPts val="0"/>
                        </a:spcAft>
                      </a:pPr>
                      <a:r>
                        <a:rPr sz="1200" b="1" i="0">
                          <a:solidFill>
                            <a:srgbClr val="1E1B2E"/>
                          </a:solidFill>
                          <a:latin typeface="Calibri"/>
                        </a:rPr>
                        <a:t>telc B2 Beruf</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By field of work + by exam task (write an e-mail…)</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Two labels we're missing: “field” and “exam task type”</a:t>
                      </a:r>
                    </a:p>
                  </a:txBody>
                  <a:tcPr marL="73152" marR="54864" marT="27432" marB="27432" anchor="ctr">
                    <a:solidFill>
                      <a:srgbClr val="FFFFFF"/>
                    </a:solidFill>
                  </a:tcPr>
                </a:tc>
              </a:tr>
              <a:tr h="749808">
                <a:tc>
                  <a:txBody>
                    <a:bodyPr/>
                    <a:lstStyle/>
                    <a:p>
                      <a:pPr>
                        <a:spcAft>
                          <a:spcPts val="0"/>
                        </a:spcAft>
                      </a:pPr>
                      <a:r>
                        <a:rPr sz="1200" b="1" i="0">
                          <a:solidFill>
                            <a:srgbClr val="1E1B2E"/>
                          </a:solidFill>
                          <a:latin typeface="Calibri"/>
                        </a:rPr>
                        <a:t>The official CEFR scale</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Level × situation × formality</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The official model already uses several labels at once. We should too.</a:t>
                      </a:r>
                    </a:p>
                  </a:txBody>
                  <a:tcPr marL="73152" marR="54864" marT="27432" marB="27432" anchor="ctr">
                    <a:solidFill>
                      <a:srgbClr val="F7F6FC"/>
                    </a:solidFill>
                  </a:tcPr>
                </a:tc>
              </a:tr>
            </a:tbl>
          </a:graphicData>
        </a:graphic>
      </p:graphicFrame>
      <p:sp>
        <p:nvSpPr>
          <p:cNvPr id="9" name="Rounded Rectangle 8"/>
          <p:cNvSpPr/>
          <p:nvPr/>
        </p:nvSpPr>
        <p:spPr>
          <a:xfrm>
            <a:off x="548640" y="5532120"/>
            <a:ext cx="11064240" cy="91440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takeaway</a:t>
            </a:r>
          </a:p>
          <a:p>
            <a:pPr algn="l">
              <a:spcBef>
                <a:spcPts val="0"/>
              </a:spcBef>
              <a:spcAft>
                <a:spcPts val="500"/>
              </a:spcAft>
            </a:pPr>
            <a:r>
              <a:rPr sz="1350" b="0" i="0">
                <a:solidFill>
                  <a:srgbClr val="444455"/>
                </a:solidFill>
                <a:latin typeface="Calibri"/>
              </a:rPr>
              <a:t>Everyone serious about adult and exam German labels content on more than one axis: level, situation, and formality. We don't need to invent our own system. We can follow the European standard our learners are already studying toward.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4  ·  WHAT OTHER APPS DO (3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5 rules of a great system</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4</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2743200"/>
          </a:xfrm>
          <a:prstGeom prst="rect">
            <a:avLst/>
          </a:prstGeom>
          <a:noFill/>
        </p:spPr>
        <p:txBody>
          <a:bodyPr wrap="square" anchor="t" lIns="45720" rIns="45720" tIns="18288" bIns="18288">
            <a:spAutoFit/>
          </a:bodyPr>
          <a:lstStyle/>
          <a:p>
            <a:pPr>
              <a:spcBef>
                <a:spcPts val="0"/>
              </a:spcBef>
              <a:spcAft>
                <a:spcPts val="700"/>
              </a:spcAft>
            </a:pPr>
            <a:r>
              <a:rPr sz="1500" b="1" i="0">
                <a:solidFill>
                  <a:srgbClr val="5B5BE6"/>
                </a:solidFill>
                <a:latin typeface="Calibri"/>
              </a:rPr>
              <a:t>•  </a:t>
            </a:r>
            <a:r>
              <a:rPr sz="1500" b="1" i="0">
                <a:solidFill>
                  <a:srgbClr val="444455"/>
                </a:solidFill>
                <a:latin typeface="Calibri"/>
              </a:rPr>
              <a:t>Mix-and-match labels beat deep folders. </a:t>
            </a:r>
            <a:r>
              <a:rPr sz="1500" b="0" i="0">
                <a:solidFill>
                  <a:srgbClr val="444455"/>
                </a:solidFill>
                <a:latin typeface="Calibri"/>
              </a:rPr>
              <a:t>An item is “Behörde” AND “B2” AND “formal” at once, not buried in one folder.</a:t>
            </a:r>
          </a:p>
          <a:p>
            <a:pPr>
              <a:spcBef>
                <a:spcPts val="0"/>
              </a:spcBef>
              <a:spcAft>
                <a:spcPts val="700"/>
              </a:spcAft>
            </a:pPr>
            <a:r>
              <a:rPr sz="1500" b="1" i="0">
                <a:solidFill>
                  <a:srgbClr val="5B5BE6"/>
                </a:solidFill>
                <a:latin typeface="Calibri"/>
              </a:rPr>
              <a:t>•  </a:t>
            </a:r>
            <a:r>
              <a:rPr sz="1500" b="1" i="0">
                <a:solidFill>
                  <a:srgbClr val="444455"/>
                </a:solidFill>
                <a:latin typeface="Calibri"/>
              </a:rPr>
              <a:t>Show the language level. </a:t>
            </a:r>
            <a:r>
              <a:rPr sz="1500" b="0" i="0">
                <a:solidFill>
                  <a:srgbClr val="444455"/>
                </a:solidFill>
                <a:latin typeface="Calibri"/>
              </a:rPr>
              <a:t>For a B1–B2 app, hiding level is a strategic hole.</a:t>
            </a:r>
          </a:p>
          <a:p>
            <a:pPr>
              <a:spcBef>
                <a:spcPts val="0"/>
              </a:spcBef>
              <a:spcAft>
                <a:spcPts val="700"/>
              </a:spcAft>
            </a:pPr>
            <a:r>
              <a:rPr sz="1500" b="1" i="0">
                <a:solidFill>
                  <a:srgbClr val="5B5BE6"/>
                </a:solidFill>
                <a:latin typeface="Calibri"/>
              </a:rPr>
              <a:t>•  </a:t>
            </a:r>
            <a:r>
              <a:rPr sz="1500" b="1" i="0">
                <a:solidFill>
                  <a:srgbClr val="444455"/>
                </a:solidFill>
                <a:latin typeface="Calibri"/>
              </a:rPr>
              <a:t>Let people start from a goal. </a:t>
            </a:r>
            <a:r>
              <a:rPr sz="1500" b="0" i="0">
                <a:solidFill>
                  <a:srgbClr val="444455"/>
                </a:solidFill>
                <a:latin typeface="Calibri"/>
              </a:rPr>
              <a:t>Adults arrive with a task (“prep my interview”), not a topic.</a:t>
            </a:r>
          </a:p>
          <a:p>
            <a:pPr>
              <a:spcBef>
                <a:spcPts val="0"/>
              </a:spcBef>
              <a:spcAft>
                <a:spcPts val="700"/>
              </a:spcAft>
            </a:pPr>
            <a:r>
              <a:rPr sz="1500" b="1" i="0">
                <a:solidFill>
                  <a:srgbClr val="5B5BE6"/>
                </a:solidFill>
                <a:latin typeface="Calibri"/>
              </a:rPr>
              <a:t>•  </a:t>
            </a:r>
            <a:r>
              <a:rPr sz="1500" b="1" i="0">
                <a:solidFill>
                  <a:srgbClr val="444455"/>
                </a:solidFill>
                <a:latin typeface="Calibri"/>
              </a:rPr>
              <a:t>Keep folders shallow. </a:t>
            </a:r>
            <a:r>
              <a:rPr sz="1500" b="0" i="0">
                <a:solidFill>
                  <a:srgbClr val="444455"/>
                </a:solidFill>
                <a:latin typeface="Calibri"/>
              </a:rPr>
              <a:t>Two or three levels. Deeper and people get lost.</a:t>
            </a:r>
          </a:p>
          <a:p>
            <a:pPr>
              <a:spcBef>
                <a:spcPts val="0"/>
              </a:spcBef>
              <a:spcAft>
                <a:spcPts val="700"/>
              </a:spcAft>
            </a:pPr>
            <a:r>
              <a:rPr sz="1500" b="1" i="0">
                <a:solidFill>
                  <a:srgbClr val="5B5BE6"/>
                </a:solidFill>
                <a:latin typeface="Calibri"/>
              </a:rPr>
              <a:t>•  </a:t>
            </a:r>
            <a:r>
              <a:rPr sz="1500" b="1" i="0">
                <a:solidFill>
                  <a:srgbClr val="444455"/>
                </a:solidFill>
                <a:latin typeface="Calibri"/>
              </a:rPr>
              <a:t>One system underneath, many views on top. </a:t>
            </a:r>
            <a:r>
              <a:rPr sz="1500" b="0" i="0">
                <a:solidFill>
                  <a:srgbClr val="444455"/>
                </a:solidFill>
                <a:latin typeface="Calibri"/>
              </a:rPr>
              <a:t>Same labels power browsing, search, and review.</a:t>
            </a:r>
          </a:p>
        </p:txBody>
      </p:sp>
      <p:sp>
        <p:nvSpPr>
          <p:cNvPr id="9" name="Rounded Rectangle 8"/>
          <p:cNvSpPr/>
          <p:nvPr/>
        </p:nvSpPr>
        <p:spPr>
          <a:xfrm>
            <a:off x="548640" y="4572000"/>
            <a:ext cx="11064240" cy="1920240"/>
          </a:xfrm>
          <a:prstGeom prst="round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B03A3A"/>
                </a:solidFill>
                <a:latin typeface="Calibri"/>
              </a:rPr>
              <a:t>Mistakes to avoid (some are in our app today)</a:t>
            </a:r>
          </a:p>
          <a:p>
            <a:pPr algn="l">
              <a:spcBef>
                <a:spcPts val="0"/>
              </a:spcBef>
              <a:spcAft>
                <a:spcPts val="300"/>
              </a:spcAft>
            </a:pPr>
            <a:r>
              <a:rPr sz="1350" b="0" i="0">
                <a:solidFill>
                  <a:srgbClr val="444455"/>
                </a:solidFill>
                <a:latin typeface="Calibri"/>
              </a:rPr>
              <a:t>•  One flat list every part of the app is forced to share  (us, today)</a:t>
            </a:r>
          </a:p>
          <a:p>
            <a:pPr algn="l">
              <a:spcBef>
                <a:spcPts val="0"/>
              </a:spcBef>
              <a:spcAft>
                <a:spcPts val="300"/>
              </a:spcAft>
            </a:pPr>
            <a:r>
              <a:rPr sz="1350" b="0" i="0">
                <a:solidFill>
                  <a:srgbClr val="444455"/>
                </a:solidFill>
                <a:latin typeface="Calibri"/>
              </a:rPr>
              <a:t>•  Deep folder trees you have to dig through  (old-school course software)</a:t>
            </a:r>
          </a:p>
          <a:p>
            <a:pPr algn="l">
              <a:spcBef>
                <a:spcPts val="0"/>
              </a:spcBef>
              <a:spcAft>
                <a:spcPts val="300"/>
              </a:spcAft>
            </a:pPr>
            <a:r>
              <a:rPr sz="1350" b="0" i="0">
                <a:solidFill>
                  <a:srgbClr val="444455"/>
                </a:solidFill>
                <a:latin typeface="Calibri"/>
              </a:rPr>
              <a:t>•  Each module its own walled-off system  (Babbel-style islands)</a:t>
            </a:r>
          </a:p>
          <a:p>
            <a:pPr algn="l">
              <a:spcBef>
                <a:spcPts val="0"/>
              </a:spcBef>
              <a:spcAft>
                <a:spcPts val="300"/>
              </a:spcAft>
            </a:pPr>
            <a:r>
              <a:rPr sz="1350" b="0" i="0">
                <a:solidFill>
                  <a:srgbClr val="444455"/>
                </a:solidFill>
                <a:latin typeface="Calibri"/>
              </a:rPr>
              <a:t>•  Language level missing or an afterthought  (us,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5  ·  THE CORE IDEA (1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Folders vs. labels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5</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1828800"/>
          </a:xfrm>
          <a:prstGeom prst="rect">
            <a:avLst/>
          </a:prstGeom>
          <a:noFill/>
        </p:spPr>
        <p:txBody>
          <a:bodyPr wrap="square" anchor="t" lIns="45720" rIns="45720" tIns="18288" bIns="18288">
            <a:spAutoFit/>
          </a:bodyPr>
          <a:lstStyle/>
          <a:p>
            <a:pPr algn="l">
              <a:spcBef>
                <a:spcPts val="0"/>
              </a:spcBef>
              <a:spcAft>
                <a:spcPts val="800"/>
              </a:spcAft>
            </a:pPr>
            <a:r>
              <a:rPr sz="1500" b="1" i="0">
                <a:solidFill>
                  <a:srgbClr val="1E1B2E"/>
                </a:solidFill>
                <a:latin typeface="Calibri"/>
              </a:rPr>
              <a:t>The single most important distinction in this whole deck:</a:t>
            </a:r>
          </a:p>
          <a:p>
            <a:pPr>
              <a:spcBef>
                <a:spcPts val="0"/>
              </a:spcBef>
              <a:spcAft>
                <a:spcPts val="700"/>
              </a:spcAft>
            </a:pPr>
            <a:r>
              <a:rPr sz="1500" b="1" i="0">
                <a:solidFill>
                  <a:srgbClr val="5B5BE6"/>
                </a:solidFill>
                <a:latin typeface="Calibri"/>
              </a:rPr>
              <a:t>•  </a:t>
            </a:r>
            <a:r>
              <a:rPr sz="1500" b="1" i="0">
                <a:solidFill>
                  <a:srgbClr val="444455"/>
                </a:solidFill>
                <a:latin typeface="Calibri"/>
              </a:rPr>
              <a:t>A folder answers “where does this live?” </a:t>
            </a:r>
            <a:r>
              <a:rPr sz="1500" b="0" i="0">
                <a:solidFill>
                  <a:srgbClr val="444455"/>
                </a:solidFill>
                <a:latin typeface="Calibri"/>
              </a:rPr>
              <a:t>One home per item. Good for browsing and a sense of place. Bad when something belongs in several places.</a:t>
            </a:r>
          </a:p>
          <a:p>
            <a:pPr>
              <a:spcBef>
                <a:spcPts val="0"/>
              </a:spcBef>
              <a:spcAft>
                <a:spcPts val="700"/>
              </a:spcAft>
            </a:pPr>
            <a:r>
              <a:rPr sz="1500" b="1" i="0">
                <a:solidFill>
                  <a:srgbClr val="5B5BE6"/>
                </a:solidFill>
                <a:latin typeface="Calibri"/>
              </a:rPr>
              <a:t>•  </a:t>
            </a:r>
            <a:r>
              <a:rPr sz="1500" b="1" i="0">
                <a:solidFill>
                  <a:srgbClr val="444455"/>
                </a:solidFill>
                <a:latin typeface="Calibri"/>
              </a:rPr>
              <a:t>A label answers “what is this like?” </a:t>
            </a:r>
            <a:r>
              <a:rPr sz="1500" b="0" i="0">
                <a:solidFill>
                  <a:srgbClr val="444455"/>
                </a:solidFill>
                <a:latin typeface="Calibri"/>
              </a:rPr>
              <a:t>Many per item. Good for filtering, search and personalization. Bad at giving a single “you are here.”</a:t>
            </a:r>
          </a:p>
        </p:txBody>
      </p:sp>
      <p:graphicFrame>
        <p:nvGraphicFramePr>
          <p:cNvPr id="9" name="Table 8"/>
          <p:cNvGraphicFramePr>
            <a:graphicFrameLocks noGrp="1"/>
          </p:cNvGraphicFramePr>
          <p:nvPr/>
        </p:nvGraphicFramePr>
        <p:xfrm>
          <a:off x="548640" y="3977639"/>
          <a:ext cx="11064240" cy="1828800"/>
        </p:xfrm>
        <a:graphic>
          <a:graphicData uri="http://schemas.openxmlformats.org/drawingml/2006/table">
            <a:tbl>
              <a:tblPr>
                <a:tableStyleId>{5C22544A-7EE6-4342-B048-85BDC9FD1C3A}</a:tableStyleId>
              </a:tblPr>
              <a:tblGrid>
                <a:gridCol w="5120640"/>
                <a:gridCol w="5943600"/>
              </a:tblGrid>
              <a:tr h="457200">
                <a:tc>
                  <a:txBody>
                    <a:bodyPr/>
                    <a:lstStyle/>
                    <a:p>
                      <a:pPr>
                        <a:spcAft>
                          <a:spcPts val="0"/>
                        </a:spcAft>
                      </a:pPr>
                      <a:r>
                        <a:rPr sz="1100" b="1" i="0">
                          <a:solidFill>
                            <a:srgbClr val="FFFFFF"/>
                          </a:solidFill>
                          <a:latin typeface="Calibri"/>
                        </a:rPr>
                        <a:t>What the learner wants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How we give it</a:t>
                      </a:r>
                    </a:p>
                  </a:txBody>
                  <a:tcPr marL="73152" marR="54864" marT="27432" marB="27432" anchor="ctr">
                    <a:solidFill>
                      <a:srgbClr val="5B5BE6"/>
                    </a:solidFill>
                  </a:tcPr>
                </a:tc>
              </a:tr>
              <a:tr h="457200">
                <a:tc>
                  <a:txBody>
                    <a:bodyPr/>
                    <a:lstStyle/>
                    <a:p>
                      <a:pPr>
                        <a:spcAft>
                          <a:spcPts val="0"/>
                        </a:spcAft>
                      </a:pPr>
                      <a:r>
                        <a:rPr sz="1300" b="1" i="0">
                          <a:solidFill>
                            <a:srgbClr val="1E1B2E"/>
                          </a:solidFill>
                          <a:latin typeface="Calibri"/>
                        </a:rPr>
                        <a:t>“Show me a map of everything”</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Folders  (Field → Topic → Sub-topic)</a:t>
                      </a:r>
                    </a:p>
                  </a:txBody>
                  <a:tcPr marL="73152" marR="54864" marT="27432" marB="27432" anchor="ctr">
                    <a:solidFill>
                      <a:srgbClr val="FFFFFF"/>
                    </a:solidFill>
                  </a:tcPr>
                </a:tc>
              </a:tr>
              <a:tr h="457200">
                <a:tc>
                  <a:txBody>
                    <a:bodyPr/>
                    <a:lstStyle/>
                    <a:p>
                      <a:pPr>
                        <a:spcAft>
                          <a:spcPts val="0"/>
                        </a:spcAft>
                      </a:pPr>
                      <a:r>
                        <a:rPr sz="1300" b="1" i="0">
                          <a:solidFill>
                            <a:srgbClr val="1E1B2E"/>
                          </a:solidFill>
                          <a:latin typeface="Calibri"/>
                        </a:rPr>
                        <a:t>“Narrow to exactly what I want now”</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Labels  (level, formality, status…)</a:t>
                      </a:r>
                    </a:p>
                  </a:txBody>
                  <a:tcPr marL="73152" marR="54864" marT="27432" marB="27432" anchor="ctr">
                    <a:solidFill>
                      <a:srgbClr val="F7F6FC"/>
                    </a:solidFill>
                  </a:tcPr>
                </a:tc>
              </a:tr>
              <a:tr h="457200">
                <a:tc>
                  <a:txBody>
                    <a:bodyPr/>
                    <a:lstStyle/>
                    <a:p>
                      <a:pPr>
                        <a:spcAft>
                          <a:spcPts val="0"/>
                        </a:spcAft>
                      </a:pPr>
                      <a:r>
                        <a:rPr sz="1300" b="1" i="0">
                          <a:solidFill>
                            <a:srgbClr val="1E1B2E"/>
                          </a:solidFill>
                          <a:latin typeface="Calibri"/>
                        </a:rPr>
                        <a:t>“Just pick the next best thing for me”</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Labels + what the app knows about you</a:t>
                      </a:r>
                    </a:p>
                  </a:txBody>
                  <a:tcPr marL="73152" marR="54864" marT="27432" marB="27432" anchor="ctr">
                    <a:solidFill>
                      <a:srgbClr val="FFFFFF"/>
                    </a:solidFill>
                  </a:tcPr>
                </a:tc>
              </a:tr>
            </a:tbl>
          </a:graphicData>
        </a:graphic>
      </p:graphicFrame>
      <p:sp>
        <p:nvSpPr>
          <p:cNvPr id="10" name="Rounded Rectangle 9"/>
          <p:cNvSpPr/>
          <p:nvPr/>
        </p:nvSpPr>
        <p:spPr>
          <a:xfrm>
            <a:off x="548640" y="5806440"/>
            <a:ext cx="11064240" cy="73152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Our rule</a:t>
            </a:r>
          </a:p>
          <a:p>
            <a:pPr algn="l">
              <a:spcBef>
                <a:spcPts val="0"/>
              </a:spcBef>
              <a:spcAft>
                <a:spcPts val="500"/>
              </a:spcAft>
            </a:pPr>
            <a:r>
              <a:rPr sz="1350" b="0" i="0">
                <a:solidFill>
                  <a:srgbClr val="444455"/>
                </a:solidFill>
                <a:latin typeface="Calibri"/>
              </a:rPr>
              <a:t>Use a shallow folder tree for topics only. Use labels for everything else. Never make “level” or “formal” a folder, those are properties of an item, not places it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6  ·  THE CORE IDEA (2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Keep each label clean &amp; independent</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6</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2743200"/>
          </a:xfrm>
          <a:prstGeom prst="rect">
            <a:avLst/>
          </a:prstGeom>
          <a:noFill/>
        </p:spPr>
        <p:txBody>
          <a:bodyPr wrap="square" anchor="t" lIns="45720" rIns="45720" tIns="18288" bIns="18288">
            <a:spAutoFit/>
          </a:bodyPr>
          <a:lstStyle/>
          <a:p>
            <a:pPr algn="l">
              <a:spcBef>
                <a:spcPts val="0"/>
              </a:spcBef>
              <a:spcAft>
                <a:spcPts val="600"/>
              </a:spcAft>
            </a:pPr>
            <a:r>
              <a:rPr sz="1500" b="1" i="0">
                <a:solidFill>
                  <a:srgbClr val="1E1B2E"/>
                </a:solidFill>
                <a:latin typeface="Calibri"/>
              </a:rPr>
              <a:t>Each label should be independent of the others.</a:t>
            </a:r>
          </a:p>
          <a:p>
            <a:pPr algn="l">
              <a:spcBef>
                <a:spcPts val="0"/>
              </a:spcBef>
              <a:spcAft>
                <a:spcPts val="1200"/>
              </a:spcAft>
            </a:pPr>
            <a:r>
              <a:rPr sz="1450" b="0" i="0">
                <a:solidFill>
                  <a:srgbClr val="444455"/>
                </a:solidFill>
                <a:latin typeface="Calibri"/>
              </a:rPr>
              <a:t>You should be able to set “level = B2” without it forcing “topic = Behörde” or “formal.” When labels are independent, a handful of them combine into thousands of useful, specific views.</a:t>
            </a:r>
          </a:p>
          <a:p>
            <a:pPr algn="l">
              <a:spcBef>
                <a:spcPts val="0"/>
              </a:spcBef>
              <a:spcAft>
                <a:spcPts val="400"/>
              </a:spcAft>
            </a:pPr>
            <a:r>
              <a:rPr sz="1500" b="1" i="0">
                <a:solidFill>
                  <a:srgbClr val="1E1B2E"/>
                </a:solidFill>
                <a:latin typeface="Calibri"/>
              </a:rPr>
              <a:t>A simple test for whether a label is worth keeping:</a:t>
            </a:r>
          </a:p>
          <a:p>
            <a:pPr>
              <a:spcBef>
                <a:spcPts val="0"/>
              </a:spcBef>
              <a:spcAft>
                <a:spcPts val="700"/>
              </a:spcAft>
            </a:pPr>
            <a:r>
              <a:rPr sz="1500" b="1" i="0">
                <a:solidFill>
                  <a:srgbClr val="5B5BE6"/>
                </a:solidFill>
                <a:latin typeface="Calibri"/>
              </a:rPr>
              <a:t>•  </a:t>
            </a:r>
            <a:r>
              <a:rPr sz="1500" b="1" i="0">
                <a:solidFill>
                  <a:srgbClr val="444455"/>
                </a:solidFill>
                <a:latin typeface="Calibri"/>
              </a:rPr>
              <a:t>“Formality” passes. </a:t>
            </a:r>
            <a:r>
              <a:rPr sz="1500" b="0" i="0">
                <a:solidFill>
                  <a:srgbClr val="444455"/>
                </a:solidFill>
                <a:latin typeface="Calibri"/>
              </a:rPr>
              <a:t>Two B2 Behörde words can differ only in how formal they are. Worth a label.</a:t>
            </a:r>
          </a:p>
          <a:p>
            <a:pPr>
              <a:spcBef>
                <a:spcPts val="0"/>
              </a:spcBef>
              <a:spcAft>
                <a:spcPts val="700"/>
              </a:spcAft>
            </a:pPr>
            <a:r>
              <a:rPr sz="1500" b="1" i="0">
                <a:solidFill>
                  <a:srgbClr val="5B5BE6"/>
                </a:solidFill>
                <a:latin typeface="Calibri"/>
              </a:rPr>
              <a:t>•  </a:t>
            </a:r>
            <a:r>
              <a:rPr sz="1500" b="1" i="0">
                <a:solidFill>
                  <a:srgbClr val="444455"/>
                </a:solidFill>
                <a:latin typeface="Calibri"/>
              </a:rPr>
              <a:t>“Difficulty” fails. </a:t>
            </a:r>
            <a:r>
              <a:rPr sz="1500" b="0" i="0">
                <a:solidFill>
                  <a:srgbClr val="444455"/>
                </a:solidFill>
                <a:latin typeface="Calibri"/>
              </a:rPr>
              <a:t>It's just another word for “level.” Don't store the same fact twice; pick one and stick to it.</a:t>
            </a:r>
          </a:p>
        </p:txBody>
      </p:sp>
      <p:sp>
        <p:nvSpPr>
          <p:cNvPr id="9" name="Rounded Rectangle 8"/>
          <p:cNvSpPr/>
          <p:nvPr/>
        </p:nvSpPr>
        <p:spPr>
          <a:xfrm>
            <a:off x="548640" y="4983480"/>
            <a:ext cx="5394960" cy="150876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Fixed labels (a short, set list)</a:t>
            </a:r>
          </a:p>
          <a:p>
            <a:pPr algn="l">
              <a:spcBef>
                <a:spcPts val="0"/>
              </a:spcBef>
              <a:spcAft>
                <a:spcPts val="500"/>
              </a:spcAft>
            </a:pPr>
            <a:r>
              <a:rPr sz="1350" b="0" i="0">
                <a:solidFill>
                  <a:srgbClr val="444455"/>
                </a:solidFill>
                <a:latin typeface="Calibri"/>
              </a:rPr>
              <a:t>Level, formality, word type, exam tag. These power the filter buttons. Keep the list short and stable.</a:t>
            </a:r>
          </a:p>
        </p:txBody>
      </p:sp>
      <p:sp>
        <p:nvSpPr>
          <p:cNvPr id="10" name="Rounded Rectangle 9"/>
          <p:cNvSpPr/>
          <p:nvPr/>
        </p:nvSpPr>
        <p:spPr>
          <a:xfrm>
            <a:off x="6217920" y="4983480"/>
            <a:ext cx="5394960" cy="1508760"/>
          </a:xfrm>
          <a:prstGeom prst="roundRect">
            <a:avLst/>
          </a:prstGeom>
          <a:solidFill>
            <a:srgbClr val="FBF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C06A2A"/>
                </a:solidFill>
                <a:latin typeface="Calibri"/>
              </a:rPr>
              <a:t>Free labels (open, can grow)</a:t>
            </a:r>
          </a:p>
          <a:p>
            <a:pPr algn="l">
              <a:spcBef>
                <a:spcPts val="0"/>
              </a:spcBef>
              <a:spcAft>
                <a:spcPts val="500"/>
              </a:spcAft>
            </a:pPr>
            <a:r>
              <a:rPr sz="1350" b="0" i="0">
                <a:solidFill>
                  <a:srgbClr val="444455"/>
                </a:solidFill>
                <a:latin typeface="Calibri"/>
              </a:rPr>
              <a:t>Fine-grained keywords and real-life “can-do” goals. These power search and future AI. Allowed to be messy.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7  ·  THE CORE IDEA (3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How deep should folders go?</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7</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1280160"/>
          </a:xfrm>
          <a:prstGeom prst="rect">
            <a:avLst/>
          </a:prstGeom>
          <a:noFill/>
        </p:spPr>
        <p:txBody>
          <a:bodyPr wrap="square" anchor="t" lIns="45720" rIns="45720" tIns="18288" bIns="18288">
            <a:spAutoFit/>
          </a:bodyPr>
          <a:lstStyle/>
          <a:p>
            <a:pPr algn="l">
              <a:spcBef>
                <a:spcPts val="0"/>
              </a:spcBef>
              <a:spcAft>
                <a:spcPts val="600"/>
              </a:spcAft>
            </a:pPr>
            <a:r>
              <a:rPr sz="1600" b="1" i="0">
                <a:solidFill>
                  <a:srgbClr val="1E1B2E"/>
                </a:solidFill>
                <a:latin typeface="Calibri"/>
              </a:rPr>
              <a:t>Three levels, and stop. Show 5–9 choices at each step, never 30.</a:t>
            </a:r>
          </a:p>
          <a:p>
            <a:pPr algn="l">
              <a:spcBef>
                <a:spcPts val="0"/>
              </a:spcBef>
              <a:spcAft>
                <a:spcPts val="600"/>
              </a:spcAft>
            </a:pPr>
            <a:r>
              <a:rPr sz="1450" b="0" i="0">
                <a:solidFill>
                  <a:srgbClr val="444455"/>
                </a:solidFill>
                <a:latin typeface="Calibri"/>
              </a:rPr>
              <a:t>Every app we studied lands here. Go deeper and navigation costs more taps and memory than the extra precision is worth; people bounce.</a:t>
            </a:r>
          </a:p>
        </p:txBody>
      </p:sp>
      <p:sp>
        <p:nvSpPr>
          <p:cNvPr id="9" name="Rectangle 8"/>
          <p:cNvSpPr/>
          <p:nvPr/>
        </p:nvSpPr>
        <p:spPr>
          <a:xfrm>
            <a:off x="548640" y="3063240"/>
            <a:ext cx="11064240" cy="1417320"/>
          </a:xfrm>
          <a:prstGeom prst="rect">
            <a:avLst/>
          </a:prstGeom>
          <a:solidFill>
            <a:srgbClr val="1B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bIns="109728"/>
          <a:lstStyle/>
          <a:p>
            <a:pPr algn="ctr">
              <a:spcAft>
                <a:spcPts val="100"/>
              </a:spcAft>
            </a:pPr>
            <a:r>
              <a:rPr sz="1300" b="0" i="0">
                <a:solidFill>
                  <a:srgbClr val="E8E6F5"/>
                </a:solidFill>
                <a:latin typeface="Consolas"/>
              </a:rPr>
              <a:t>~5–7 Fields            (broadest: “Working life”, “Everyday life”…)</a:t>
            </a:r>
          </a:p>
          <a:p>
            <a:pPr>
              <a:spcAft>
                <a:spcPts val="100"/>
              </a:spcAft>
            </a:pPr>
            <a:r>
              <a:rPr sz="1300" b="0" i="0">
                <a:solidFill>
                  <a:srgbClr val="E8E6F5"/>
                </a:solidFill>
                <a:latin typeface="Consolas"/>
              </a:rPr>
              <a:t>   └─ ~6–10 Topics each   (our 11 current topics live here)</a:t>
            </a:r>
          </a:p>
          <a:p>
            <a:pPr>
              <a:spcAft>
                <a:spcPts val="100"/>
              </a:spcAft>
            </a:pPr>
            <a:r>
              <a:rPr sz="1300" b="0" i="0">
                <a:solidFill>
                  <a:srgbClr val="E8E6F5"/>
                </a:solidFill>
                <a:latin typeface="Consolas"/>
              </a:rPr>
              <a:t>        └─ ~3–6 Sub-topics each   (NEW – the missing middle layer)</a:t>
            </a:r>
          </a:p>
          <a:p>
            <a:pPr>
              <a:spcAft>
                <a:spcPts val="100"/>
              </a:spcAft>
            </a:pPr>
            <a:r>
              <a:rPr sz="1300" b="0" i="0">
                <a:solidFill>
                  <a:srgbClr val="E8E6F5"/>
                </a:solidFill>
                <a:latin typeface="Consolas"/>
              </a:rPr>
              <a:t>             └─ the actual words, phrases and exercises</a:t>
            </a:r>
          </a:p>
        </p:txBody>
      </p:sp>
      <p:sp>
        <p:nvSpPr>
          <p:cNvPr id="10" name="Rounded Rectangle 9"/>
          <p:cNvSpPr/>
          <p:nvPr/>
        </p:nvSpPr>
        <p:spPr>
          <a:xfrm>
            <a:off x="548640" y="4709160"/>
            <a:ext cx="11064240" cy="178308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Why this shape works</a:t>
            </a:r>
          </a:p>
          <a:p>
            <a:pPr algn="l">
              <a:spcBef>
                <a:spcPts val="0"/>
              </a:spcBef>
              <a:spcAft>
                <a:spcPts val="500"/>
              </a:spcAft>
            </a:pPr>
            <a:r>
              <a:rPr sz="1350" b="0" i="0">
                <a:solidFill>
                  <a:srgbClr val="444455"/>
                </a:solidFill>
                <a:latin typeface="Calibri"/>
              </a:rPr>
              <a:t>It leaves room for ~160 sub-topics and effectively unlimited items, while never showing a learner more than about 9 choices at a time. One more rule that saves pain later: never rename the hidden ID of a topic, only its display name. That way we can re-label “Behörden” to anything without breaking the thousands of items pointing at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8  ·  OUR PROPOSED DESIGN (1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full set of labels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8</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3657600"/>
        </p:xfrm>
        <a:graphic>
          <a:graphicData uri="http://schemas.openxmlformats.org/drawingml/2006/table">
            <a:tbl>
              <a:tblPr>
                <a:tableStyleId>{5C22544A-7EE6-4342-B048-85BDC9FD1C3A}</a:tableStyleId>
              </a:tblPr>
              <a:tblGrid>
                <a:gridCol w="2743200"/>
                <a:gridCol w="5029200"/>
                <a:gridCol w="3291840"/>
              </a:tblGrid>
              <a:tr h="457200">
                <a:tc>
                  <a:txBody>
                    <a:bodyPr/>
                    <a:lstStyle/>
                    <a:p>
                      <a:pPr>
                        <a:spcAft>
                          <a:spcPts val="0"/>
                        </a:spcAft>
                      </a:pPr>
                      <a:r>
                        <a:rPr sz="1100" b="1" i="0">
                          <a:solidFill>
                            <a:srgbClr val="FFFFFF"/>
                          </a:solidFill>
                          <a:latin typeface="Calibri"/>
                        </a:rPr>
                        <a:t>Label</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Plain meaning</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Used by</a:t>
                      </a:r>
                    </a:p>
                  </a:txBody>
                  <a:tcPr marL="73152" marR="54864" marT="27432" marB="27432" anchor="ctr">
                    <a:solidFill>
                      <a:srgbClr val="5B5BE6"/>
                    </a:solidFill>
                  </a:tcPr>
                </a:tc>
              </a:tr>
              <a:tr h="457200">
                <a:tc>
                  <a:txBody>
                    <a:bodyPr/>
                    <a:lstStyle/>
                    <a:p>
                      <a:pPr>
                        <a:spcAft>
                          <a:spcPts val="0"/>
                        </a:spcAft>
                      </a:pPr>
                      <a:r>
                        <a:rPr sz="1200" b="1" i="0">
                          <a:solidFill>
                            <a:srgbClr val="1E1B2E"/>
                          </a:solidFill>
                          <a:latin typeface="Calibri"/>
                        </a:rPr>
                        <a:t>Topic / Sub-topic</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Where it lives in the tree</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Words, phrases, writing</a:t>
                      </a:r>
                    </a:p>
                  </a:txBody>
                  <a:tcPr marL="73152" marR="54864" marT="27432" marB="27432" anchor="ctr">
                    <a:solidFill>
                      <a:srgbClr val="FFFFFF"/>
                    </a:solidFill>
                  </a:tcPr>
                </a:tc>
              </a:tr>
              <a:tr h="457200">
                <a:tc>
                  <a:txBody>
                    <a:bodyPr/>
                    <a:lstStyle/>
                    <a:p>
                      <a:pPr>
                        <a:spcAft>
                          <a:spcPts val="0"/>
                        </a:spcAft>
                      </a:pPr>
                      <a:r>
                        <a:rPr sz="1200" b="1" i="0">
                          <a:solidFill>
                            <a:srgbClr val="1E1B2E"/>
                          </a:solidFill>
                          <a:latin typeface="Calibri"/>
                        </a:rPr>
                        <a:t>Level (A1–C2)</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How hard / advanced it is</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Everything</a:t>
                      </a:r>
                    </a:p>
                  </a:txBody>
                  <a:tcPr marL="73152" marR="54864" marT="27432" marB="27432" anchor="ctr">
                    <a:solidFill>
                      <a:srgbClr val="F7F6FC"/>
                    </a:solidFill>
                  </a:tcPr>
                </a:tc>
              </a:tr>
              <a:tr h="457200">
                <a:tc>
                  <a:txBody>
                    <a:bodyPr/>
                    <a:lstStyle/>
                    <a:p>
                      <a:pPr>
                        <a:spcAft>
                          <a:spcPts val="0"/>
                        </a:spcAft>
                      </a:pPr>
                      <a:r>
                        <a:rPr sz="1200" b="1" i="0">
                          <a:solidFill>
                            <a:srgbClr val="1E1B2E"/>
                          </a:solidFill>
                          <a:latin typeface="Calibri"/>
                        </a:rPr>
                        <a:t>Function</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What it's FOR (agree, suggest, negotiate)</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Phrases, dialogues</a:t>
                      </a:r>
                    </a:p>
                  </a:txBody>
                  <a:tcPr marL="73152" marR="54864" marT="27432" marB="27432" anchor="ctr">
                    <a:solidFill>
                      <a:srgbClr val="FFFFFF"/>
                    </a:solidFill>
                  </a:tcPr>
                </a:tc>
              </a:tr>
              <a:tr h="457200">
                <a:tc>
                  <a:txBody>
                    <a:bodyPr/>
                    <a:lstStyle/>
                    <a:p>
                      <a:pPr>
                        <a:spcAft>
                          <a:spcPts val="0"/>
                        </a:spcAft>
                      </a:pPr>
                      <a:r>
                        <a:rPr sz="1200" b="1" i="0">
                          <a:solidFill>
                            <a:srgbClr val="1E1B2E"/>
                          </a:solidFill>
                          <a:latin typeface="Calibri"/>
                        </a:rPr>
                        <a:t>Formality</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neutral / formal / diplomatic</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All text</a:t>
                      </a:r>
                    </a:p>
                  </a:txBody>
                  <a:tcPr marL="73152" marR="54864" marT="27432" marB="27432" anchor="ctr">
                    <a:solidFill>
                      <a:srgbClr val="F7F6FC"/>
                    </a:solidFill>
                  </a:tcPr>
                </a:tc>
              </a:tr>
              <a:tr h="457200">
                <a:tc>
                  <a:txBody>
                    <a:bodyPr/>
                    <a:lstStyle/>
                    <a:p>
                      <a:pPr>
                        <a:spcAft>
                          <a:spcPts val="0"/>
                        </a:spcAft>
                      </a:pPr>
                      <a:r>
                        <a:rPr sz="1200" b="1" i="0">
                          <a:solidFill>
                            <a:srgbClr val="1E1B2E"/>
                          </a:solidFill>
                          <a:latin typeface="Calibri"/>
                        </a:rPr>
                        <a:t>Word type</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noun, verb, adjective…</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Vocabulary</a:t>
                      </a:r>
                    </a:p>
                  </a:txBody>
                  <a:tcPr marL="73152" marR="54864" marT="27432" marB="27432" anchor="ctr">
                    <a:solidFill>
                      <a:srgbClr val="FFFFFF"/>
                    </a:solidFill>
                  </a:tcPr>
                </a:tc>
              </a:tr>
              <a:tr h="457200">
                <a:tc>
                  <a:txBody>
                    <a:bodyPr/>
                    <a:lstStyle/>
                    <a:p>
                      <a:pPr>
                        <a:spcAft>
                          <a:spcPts val="0"/>
                        </a:spcAft>
                      </a:pPr>
                      <a:r>
                        <a:rPr sz="1200" b="1" i="0">
                          <a:solidFill>
                            <a:srgbClr val="1E1B2E"/>
                          </a:solidFill>
                          <a:latin typeface="Calibri"/>
                        </a:rPr>
                        <a:t>Usefulness</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core / common / specialized</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Words, collocations</a:t>
                      </a:r>
                    </a:p>
                  </a:txBody>
                  <a:tcPr marL="73152" marR="54864" marT="27432" marB="27432" anchor="ctr">
                    <a:solidFill>
                      <a:srgbClr val="F7F6FC"/>
                    </a:solidFill>
                  </a:tcPr>
                </a:tc>
              </a:tr>
              <a:tr h="457200">
                <a:tc>
                  <a:txBody>
                    <a:bodyPr/>
                    <a:lstStyle/>
                    <a:p>
                      <a:pPr>
                        <a:spcAft>
                          <a:spcPts val="0"/>
                        </a:spcAft>
                      </a:pPr>
                      <a:r>
                        <a:rPr sz="1200" b="1" i="0">
                          <a:solidFill>
                            <a:srgbClr val="1E1B2E"/>
                          </a:solidFill>
                          <a:latin typeface="Calibri"/>
                        </a:rPr>
                        <a:t>Exam tag</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telc e-mail, Goethe speaking…</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Everything</a:t>
                      </a:r>
                    </a:p>
                  </a:txBody>
                  <a:tcPr marL="73152" marR="54864" marT="27432" marB="27432" anchor="ctr">
                    <a:solidFill>
                      <a:srgbClr val="FFFFFF"/>
                    </a:solidFill>
                  </a:tcPr>
                </a:tc>
              </a:tr>
            </a:tbl>
          </a:graphicData>
        </a:graphic>
      </p:graphicFrame>
      <p:sp>
        <p:nvSpPr>
          <p:cNvPr id="9" name="Rounded Rectangle 8"/>
          <p:cNvSpPr/>
          <p:nvPr/>
        </p:nvSpPr>
        <p:spPr>
          <a:xfrm>
            <a:off x="548640" y="5806440"/>
            <a:ext cx="11064240" cy="77724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Good news: this can roll out gradually</a:t>
            </a:r>
          </a:p>
          <a:p>
            <a:pPr algn="l">
              <a:spcBef>
                <a:spcPts val="0"/>
              </a:spcBef>
              <a:spcAft>
                <a:spcPts val="500"/>
              </a:spcAft>
            </a:pPr>
            <a:r>
              <a:rPr sz="1350" b="0" i="0">
                <a:solidFill>
                  <a:srgbClr val="444455"/>
                </a:solidFill>
                <a:latin typeface="Calibri"/>
              </a:rPr>
              <a:t>Topic and Level are the only two labels everything needs. The rest can be added over months, one batch at a time, without ever breaking what already works. We are mostly formalizing labels the content already half-has.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9  ·  OUR PROPOSED DESIGN (2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Add a top “Field” layer</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9</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822960"/>
          </a:xfrm>
          <a:prstGeom prst="rect">
            <a:avLst/>
          </a:prstGeom>
          <a:noFill/>
        </p:spPr>
        <p:txBody>
          <a:bodyPr wrap="square" anchor="t" lIns="45720" rIns="45720" tIns="18288" bIns="18288">
            <a:spAutoFit/>
          </a:bodyPr>
          <a:lstStyle/>
          <a:p>
            <a:pPr algn="l">
              <a:spcBef>
                <a:spcPts val="0"/>
              </a:spcBef>
              <a:spcAft>
                <a:spcPts val="600"/>
              </a:spcAft>
            </a:pPr>
            <a:r>
              <a:rPr sz="1450" b="0" i="0">
                <a:solidFill>
                  <a:srgbClr val="444455"/>
                </a:solidFill>
                <a:latin typeface="Calibri"/>
              </a:rPr>
              <a:t>Our 11 topics currently have no parent. As we add banking, doctor visits and housing, a flat list of 20+ topics gets unwieldy. Group them under ~6 Fields.</a:t>
            </a:r>
          </a:p>
        </p:txBody>
      </p:sp>
      <p:graphicFrame>
        <p:nvGraphicFramePr>
          <p:cNvPr id="9" name="Table 8"/>
          <p:cNvGraphicFramePr>
            <a:graphicFrameLocks noGrp="1"/>
          </p:cNvGraphicFramePr>
          <p:nvPr/>
        </p:nvGraphicFramePr>
        <p:xfrm>
          <a:off x="548640" y="2514600"/>
          <a:ext cx="11064240" cy="3200400"/>
        </p:xfrm>
        <a:graphic>
          <a:graphicData uri="http://schemas.openxmlformats.org/drawingml/2006/table">
            <a:tbl>
              <a:tblPr>
                <a:tableStyleId>{5C22544A-7EE6-4342-B048-85BDC9FD1C3A}</a:tableStyleId>
              </a:tblPr>
              <a:tblGrid>
                <a:gridCol w="3291840"/>
                <a:gridCol w="7772400"/>
              </a:tblGrid>
              <a:tr h="457200">
                <a:tc>
                  <a:txBody>
                    <a:bodyPr/>
                    <a:lstStyle/>
                    <a:p>
                      <a:pPr>
                        <a:spcAft>
                          <a:spcPts val="0"/>
                        </a:spcAft>
                      </a:pPr>
                      <a:r>
                        <a:rPr sz="1100" b="1" i="0">
                          <a:solidFill>
                            <a:srgbClr val="FFFFFF"/>
                          </a:solidFill>
                          <a:latin typeface="Calibri"/>
                        </a:rPr>
                        <a:t>Field</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Holds (today + planned)</a:t>
                      </a:r>
                    </a:p>
                  </a:txBody>
                  <a:tcPr marL="73152" marR="54864" marT="27432" marB="27432" anchor="ctr">
                    <a:solidFill>
                      <a:srgbClr val="5B5BE6"/>
                    </a:solidFill>
                  </a:tcPr>
                </a:tc>
              </a:tr>
              <a:tr h="457200">
                <a:tc>
                  <a:txBody>
                    <a:bodyPr/>
                    <a:lstStyle/>
                    <a:p>
                      <a:pPr>
                        <a:spcAft>
                          <a:spcPts val="0"/>
                        </a:spcAft>
                      </a:pPr>
                      <a:r>
                        <a:rPr sz="1250" b="1" i="0">
                          <a:solidFill>
                            <a:srgbClr val="1E1B2E"/>
                          </a:solidFill>
                          <a:latin typeface="Calibri"/>
                        </a:rPr>
                        <a:t>Working life</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meetings, scheduling, logistics, customer, conflict, project</a:t>
                      </a:r>
                    </a:p>
                  </a:txBody>
                  <a:tcPr marL="73152" marR="54864" marT="27432" marB="27432" anchor="ctr">
                    <a:solidFill>
                      <a:srgbClr val="FFFFFF"/>
                    </a:solidFill>
                  </a:tcPr>
                </a:tc>
              </a:tr>
              <a:tr h="457200">
                <a:tc>
                  <a:txBody>
                    <a:bodyPr/>
                    <a:lstStyle/>
                    <a:p>
                      <a:pPr>
                        <a:spcAft>
                          <a:spcPts val="0"/>
                        </a:spcAft>
                      </a:pPr>
                      <a:r>
                        <a:rPr sz="1250" b="1" i="0">
                          <a:solidFill>
                            <a:srgbClr val="1E1B2E"/>
                          </a:solidFill>
                          <a:latin typeface="Calibri"/>
                        </a:rPr>
                        <a:t>Work environment</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technology, sustainability, safety, business travel</a:t>
                      </a:r>
                    </a:p>
                  </a:txBody>
                  <a:tcPr marL="73152" marR="54864" marT="27432" marB="27432" anchor="ctr">
                    <a:solidFill>
                      <a:srgbClr val="F7F6FC"/>
                    </a:solidFill>
                  </a:tcPr>
                </a:tc>
              </a:tr>
              <a:tr h="457200">
                <a:tc>
                  <a:txBody>
                    <a:bodyPr/>
                    <a:lstStyle/>
                    <a:p>
                      <a:pPr>
                        <a:spcAft>
                          <a:spcPts val="0"/>
                        </a:spcAft>
                      </a:pPr>
                      <a:r>
                        <a:rPr sz="1250" b="1" i="0">
                          <a:solidFill>
                            <a:srgbClr val="1E1B2E"/>
                          </a:solidFill>
                          <a:latin typeface="Calibri"/>
                        </a:rPr>
                        <a:t>Everyday life &amp; errands</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Behörde, + banking, housing, shopping (planned)</a:t>
                      </a:r>
                    </a:p>
                  </a:txBody>
                  <a:tcPr marL="73152" marR="54864" marT="27432" marB="27432" anchor="ctr">
                    <a:solidFill>
                      <a:srgbClr val="FFFFFF"/>
                    </a:solidFill>
                  </a:tcPr>
                </a:tc>
              </a:tr>
              <a:tr h="457200">
                <a:tc>
                  <a:txBody>
                    <a:bodyPr/>
                    <a:lstStyle/>
                    <a:p>
                      <a:pPr>
                        <a:spcAft>
                          <a:spcPts val="0"/>
                        </a:spcAft>
                      </a:pPr>
                      <a:r>
                        <a:rPr sz="1250" b="1" i="0">
                          <a:solidFill>
                            <a:srgbClr val="1E1B2E"/>
                          </a:solidFill>
                          <a:latin typeface="Calibri"/>
                        </a:rPr>
                        <a:t>Health &amp; social</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doctor, insurance, family (planned)</a:t>
                      </a:r>
                    </a:p>
                  </a:txBody>
                  <a:tcPr marL="73152" marR="54864" marT="27432" marB="27432" anchor="ctr">
                    <a:solidFill>
                      <a:srgbClr val="F7F6FC"/>
                    </a:solidFill>
                  </a:tcPr>
                </a:tc>
              </a:tr>
              <a:tr h="457200">
                <a:tc>
                  <a:txBody>
                    <a:bodyPr/>
                    <a:lstStyle/>
                    <a:p>
                      <a:pPr>
                        <a:spcAft>
                          <a:spcPts val="0"/>
                        </a:spcAft>
                      </a:pPr>
                      <a:r>
                        <a:rPr sz="1250" b="1" i="0">
                          <a:solidFill>
                            <a:srgbClr val="1E1B2E"/>
                          </a:solidFill>
                          <a:latin typeface="Calibri"/>
                        </a:rPr>
                        <a:t>Education &amp; language</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grammar topics, study skills (planned)</a:t>
                      </a:r>
                    </a:p>
                  </a:txBody>
                  <a:tcPr marL="73152" marR="54864" marT="27432" marB="27432" anchor="ctr">
                    <a:solidFill>
                      <a:srgbClr val="FFFFFF"/>
                    </a:solidFill>
                  </a:tcPr>
                </a:tc>
              </a:tr>
              <a:tr h="457200">
                <a:tc>
                  <a:txBody>
                    <a:bodyPr/>
                    <a:lstStyle/>
                    <a:p>
                      <a:pPr>
                        <a:spcAft>
                          <a:spcPts val="0"/>
                        </a:spcAft>
                      </a:pPr>
                      <a:r>
                        <a:rPr sz="1250" b="1" i="0">
                          <a:solidFill>
                            <a:srgbClr val="1E1B2E"/>
                          </a:solidFill>
                          <a:latin typeface="Calibri"/>
                        </a:rPr>
                        <a:t>Exam training</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a curated VIEW, not a real folder (see slide 11)</a:t>
                      </a:r>
                    </a:p>
                  </a:txBody>
                  <a:tcPr marL="73152" marR="54864" marT="27432" marB="27432" anchor="ctr">
                    <a:solidFill>
                      <a:srgbClr val="F7F6FC"/>
                    </a:solidFill>
                  </a:tcPr>
                </a:tc>
              </a:tr>
            </a:tbl>
          </a:graphicData>
        </a:graphic>
      </p:graphicFrame>
      <p:sp>
        <p:nvSpPr>
          <p:cNvPr id="10" name="Rounded Rectangle 9"/>
          <p:cNvSpPr/>
          <p:nvPr/>
        </p:nvSpPr>
        <p:spPr>
          <a:xfrm>
            <a:off x="548640" y="5806440"/>
            <a:ext cx="11064240" cy="77724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Low risk</a:t>
            </a:r>
          </a:p>
          <a:p>
            <a:pPr algn="l">
              <a:spcBef>
                <a:spcPts val="0"/>
              </a:spcBef>
              <a:spcAft>
                <a:spcPts val="500"/>
              </a:spcAft>
            </a:pPr>
            <a:r>
              <a:rPr sz="1350" b="0" i="0">
                <a:solidFill>
                  <a:srgbClr val="444455"/>
                </a:solidFill>
                <a:latin typeface="Calibri"/>
              </a:rPr>
              <a:t>Nothing moves. Each existing topic just gains a “parent” pointer. Splitting the 10 work topics into two fields keeps every menu within a comfortable ~9 items.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10  ·  OUR PROPOSED DESIGN (3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missing middle: sub-topics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10</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3-subtheme.png"/>
          <p:cNvPicPr>
            <a:picLocks noChangeAspect="1"/>
          </p:cNvPicPr>
          <p:nvPr/>
        </p:nvPicPr>
        <p:blipFill>
          <a:blip r:embed="rId2"/>
          <a:stretch>
            <a:fillRect/>
          </a:stretch>
        </p:blipFill>
        <p:spPr>
          <a:xfrm>
            <a:off x="640080" y="1600200"/>
            <a:ext cx="2065645" cy="4846320"/>
          </a:xfrm>
          <a:prstGeom prst="rect">
            <a:avLst/>
          </a:prstGeom>
        </p:spPr>
      </p:pic>
      <p:sp>
        <p:nvSpPr>
          <p:cNvPr id="9" name="Rounded Rectangle 8"/>
          <p:cNvSpPr/>
          <p:nvPr/>
        </p:nvSpPr>
        <p:spPr>
          <a:xfrm>
            <a:off x="640080" y="1600200"/>
            <a:ext cx="2065645" cy="484632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216152"/>
            <a:ext cx="2065645"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Behörde sub-topics</a:t>
            </a:r>
          </a:p>
        </p:txBody>
      </p:sp>
      <p:sp>
        <p:nvSpPr>
          <p:cNvPr id="11" name="TextBox 10"/>
          <p:cNvSpPr txBox="1"/>
          <p:nvPr/>
        </p:nvSpPr>
        <p:spPr>
          <a:xfrm>
            <a:off x="3208645" y="1737360"/>
            <a:ext cx="8525850"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Today, tapping “Behörde” dumps 28 words in one pile.</a:t>
            </a:r>
          </a:p>
          <a:p>
            <a:pPr algn="l">
              <a:spcBef>
                <a:spcPts val="0"/>
              </a:spcBef>
              <a:spcAft>
                <a:spcPts val="1200"/>
              </a:spcAft>
            </a:pPr>
            <a:r>
              <a:rPr sz="1450" b="0" i="0">
                <a:solidFill>
                  <a:srgbClr val="444455"/>
                </a:solidFill>
                <a:latin typeface="Calibri"/>
              </a:rPr>
              <a:t>Instead, split each topic into a few clear sub-topics (the screen on the left). The hints already exist: our “situations” list per topic becomes the sub-topics almost word-for-word.</a:t>
            </a:r>
          </a:p>
          <a:p>
            <a:pPr algn="l">
              <a:spcBef>
                <a:spcPts val="0"/>
              </a:spcBef>
              <a:spcAft>
                <a:spcPts val="500"/>
              </a:spcAft>
            </a:pPr>
            <a:r>
              <a:rPr sz="1500" b="1" i="0">
                <a:solidFill>
                  <a:srgbClr val="2A9D6E"/>
                </a:solidFill>
                <a:latin typeface="Calibri"/>
              </a:rPr>
              <a:t>Why this is the highest-value single change</a:t>
            </a:r>
          </a:p>
          <a:p>
            <a:pPr>
              <a:spcBef>
                <a:spcPts val="0"/>
              </a:spcBef>
              <a:spcAft>
                <a:spcPts val="700"/>
              </a:spcAft>
            </a:pPr>
            <a:r>
              <a:rPr sz="1400" b="1" i="0">
                <a:solidFill>
                  <a:srgbClr val="5B5BE6"/>
                </a:solidFill>
                <a:latin typeface="Calibri"/>
              </a:rPr>
              <a:t>•  </a:t>
            </a:r>
            <a:r>
              <a:rPr sz="1400" b="1" i="0">
                <a:solidFill>
                  <a:srgbClr val="444455"/>
                </a:solidFill>
                <a:latin typeface="Calibri"/>
              </a:rPr>
              <a:t>Navigable. </a:t>
            </a:r>
            <a:r>
              <a:rPr sz="1400" b="0" i="0">
                <a:solidFill>
                  <a:srgbClr val="444455"/>
                </a:solidFill>
                <a:latin typeface="Calibri"/>
              </a:rPr>
              <a:t>“I need the appeal-letter words,” not “somewhere in these 28.”</a:t>
            </a:r>
          </a:p>
          <a:p>
            <a:pPr>
              <a:spcBef>
                <a:spcPts val="0"/>
              </a:spcBef>
              <a:spcAft>
                <a:spcPts val="700"/>
              </a:spcAft>
            </a:pPr>
            <a:r>
              <a:rPr sz="1400" b="1" i="0">
                <a:solidFill>
                  <a:srgbClr val="5B5BE6"/>
                </a:solidFill>
                <a:latin typeface="Calibri"/>
              </a:rPr>
              <a:t>•  </a:t>
            </a:r>
            <a:r>
              <a:rPr sz="1400" b="1" i="0">
                <a:solidFill>
                  <a:srgbClr val="444455"/>
                </a:solidFill>
                <a:latin typeface="Calibri"/>
              </a:rPr>
              <a:t>Smarter coaching. </a:t>
            </a:r>
            <a:r>
              <a:rPr sz="1400" b="0" i="0">
                <a:solidFill>
                  <a:srgbClr val="444455"/>
                </a:solidFill>
                <a:latin typeface="Calibri"/>
              </a:rPr>
              <a:t>The app can say “you're weak on official letters,” not just “on Behörde.”</a:t>
            </a:r>
          </a:p>
          <a:p>
            <a:pPr>
              <a:spcBef>
                <a:spcPts val="0"/>
              </a:spcBef>
              <a:spcAft>
                <a:spcPts val="700"/>
              </a:spcAft>
            </a:pPr>
            <a:r>
              <a:rPr sz="1400" b="1" i="0">
                <a:solidFill>
                  <a:srgbClr val="5B5BE6"/>
                </a:solidFill>
                <a:latin typeface="Calibri"/>
              </a:rPr>
              <a:t>•  </a:t>
            </a:r>
            <a:r>
              <a:rPr sz="1400" b="1" i="0">
                <a:solidFill>
                  <a:srgbClr val="444455"/>
                </a:solidFill>
                <a:latin typeface="Calibri"/>
              </a:rPr>
              <a:t>Zero-risk rollout. </a:t>
            </a:r>
            <a:r>
              <a:rPr sz="1400" b="0" i="0">
                <a:solidFill>
                  <a:srgbClr val="444455"/>
                </a:solidFill>
                <a:latin typeface="Calibri"/>
              </a:rPr>
              <a:t>Items with no sub-topic yet just roll up to the topic, exactly like today. We back-fill one topic at a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11  ·  OUR PROPOSED DESIGN (4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“Exam prep” is a saved search, not a folder</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11</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1097280"/>
          </a:xfrm>
          <a:prstGeom prst="rect">
            <a:avLst/>
          </a:prstGeom>
          <a:noFill/>
        </p:spPr>
        <p:txBody>
          <a:bodyPr wrap="square" anchor="t" lIns="45720" rIns="45720" tIns="18288" bIns="18288">
            <a:spAutoFit/>
          </a:bodyPr>
          <a:lstStyle/>
          <a:p>
            <a:pPr algn="l">
              <a:spcBef>
                <a:spcPts val="0"/>
              </a:spcBef>
              <a:spcAft>
                <a:spcPts val="600"/>
              </a:spcAft>
            </a:pPr>
            <a:r>
              <a:rPr sz="1500" b="0" i="0">
                <a:solidFill>
                  <a:srgbClr val="444455"/>
                </a:solidFill>
                <a:latin typeface="Calibri"/>
              </a:rPr>
              <a:t>A trap to avoid: making “Exam prep” or “Formal phrases” a folder. They aren't places, they're searches. An exam set borrows Behörde words + negotiation phrases + e-mail grammar; it doesn't own that content.</a:t>
            </a:r>
          </a:p>
        </p:txBody>
      </p:sp>
      <p:graphicFrame>
        <p:nvGraphicFramePr>
          <p:cNvPr id="9" name="Table 8"/>
          <p:cNvGraphicFramePr>
            <a:graphicFrameLocks noGrp="1"/>
          </p:cNvGraphicFramePr>
          <p:nvPr/>
        </p:nvGraphicFramePr>
        <p:xfrm>
          <a:off x="548640" y="2788920"/>
          <a:ext cx="11064240" cy="2514600"/>
        </p:xfrm>
        <a:graphic>
          <a:graphicData uri="http://schemas.openxmlformats.org/drawingml/2006/table">
            <a:tbl>
              <a:tblPr>
                <a:tableStyleId>{5C22544A-7EE6-4342-B048-85BDC9FD1C3A}</a:tableStyleId>
              </a:tblPr>
              <a:tblGrid>
                <a:gridCol w="2926080"/>
                <a:gridCol w="4846320"/>
                <a:gridCol w="3291840"/>
              </a:tblGrid>
              <a:tr h="502920">
                <a:tc>
                  <a:txBody>
                    <a:bodyPr/>
                    <a:lstStyle/>
                    <a:p>
                      <a:pPr>
                        <a:spcAft>
                          <a:spcPts val="0"/>
                        </a:spcAft>
                      </a:pPr>
                      <a:r>
                        <a:rPr sz="1100" b="1" i="0">
                          <a:solidFill>
                            <a:srgbClr val="FFFFFF"/>
                          </a:solidFill>
                          <a:latin typeface="Calibri"/>
                        </a:rPr>
                        <a:t>The learner wants…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We build it as…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NOT as…</a:t>
                      </a:r>
                    </a:p>
                  </a:txBody>
                  <a:tcPr marL="73152" marR="54864" marT="27432" marB="27432" anchor="ctr">
                    <a:solidFill>
                      <a:srgbClr val="5B5BE6"/>
                    </a:solidFill>
                  </a:tcPr>
                </a:tc>
              </a:tr>
              <a:tr h="502920">
                <a:tc>
                  <a:txBody>
                    <a:bodyPr/>
                    <a:lstStyle/>
                    <a:p>
                      <a:pPr>
                        <a:spcAft>
                          <a:spcPts val="0"/>
                        </a:spcAft>
                      </a:pPr>
                      <a:r>
                        <a:rPr sz="1250" b="1" i="0">
                          <a:solidFill>
                            <a:srgbClr val="1E1B2E"/>
                          </a:solidFill>
                          <a:latin typeface="Calibri"/>
                        </a:rPr>
                        <a:t>telc B2 Beruf prep</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a saved search: exam tag = telc</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a folder that copies content</a:t>
                      </a:r>
                    </a:p>
                  </a:txBody>
                  <a:tcPr marL="73152" marR="54864" marT="27432" marB="27432" anchor="ctr">
                    <a:solidFill>
                      <a:srgbClr val="FFFFFF"/>
                    </a:solidFill>
                  </a:tcPr>
                </a:tc>
              </a:tr>
              <a:tr h="502920">
                <a:tc>
                  <a:txBody>
                    <a:bodyPr/>
                    <a:lstStyle/>
                    <a:p>
                      <a:pPr>
                        <a:spcAft>
                          <a:spcPts val="0"/>
                        </a:spcAft>
                      </a:pPr>
                      <a:r>
                        <a:rPr sz="1250" b="1" i="0">
                          <a:solidFill>
                            <a:srgbClr val="1E1B2E"/>
                          </a:solidFill>
                          <a:latin typeface="Calibri"/>
                        </a:rPr>
                        <a:t>Formal e-mail phrases</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“formal” + “request/opinion” labels</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a “Formal” topic</a:t>
                      </a:r>
                    </a:p>
                  </a:txBody>
                  <a:tcPr marL="73152" marR="54864" marT="27432" marB="27432" anchor="ctr">
                    <a:solidFill>
                      <a:srgbClr val="F7F6FC"/>
                    </a:solidFill>
                  </a:tcPr>
                </a:tc>
              </a:tr>
              <a:tr h="502920">
                <a:tc>
                  <a:txBody>
                    <a:bodyPr/>
                    <a:lstStyle/>
                    <a:p>
                      <a:pPr>
                        <a:spcAft>
                          <a:spcPts val="0"/>
                        </a:spcAft>
                      </a:pPr>
                      <a:r>
                        <a:rPr sz="1250" b="1" i="0">
                          <a:solidFill>
                            <a:srgbClr val="1E1B2E"/>
                          </a:solidFill>
                          <a:latin typeface="Calibri"/>
                        </a:rPr>
                        <a:t>Everything at level B2.1</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“level = B2.1” across the app</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a “B2” island</a:t>
                      </a:r>
                    </a:p>
                  </a:txBody>
                  <a:tcPr marL="73152" marR="54864" marT="27432" marB="27432" anchor="ctr">
                    <a:solidFill>
                      <a:srgbClr val="FFFFFF"/>
                    </a:solidFill>
                  </a:tcPr>
                </a:tc>
              </a:tr>
              <a:tr h="502920">
                <a:tc>
                  <a:txBody>
                    <a:bodyPr/>
                    <a:lstStyle/>
                    <a:p>
                      <a:pPr>
                        <a:spcAft>
                          <a:spcPts val="0"/>
                        </a:spcAft>
                      </a:pPr>
                      <a:r>
                        <a:rPr sz="1250" b="1" i="0">
                          <a:solidFill>
                            <a:srgbClr val="1E1B2E"/>
                          </a:solidFill>
                          <a:latin typeface="Calibri"/>
                        </a:rPr>
                        <a:t>My weak spots</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“still learning” (from review data)</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a:t>
                      </a:r>
                    </a:p>
                  </a:txBody>
                  <a:tcPr marL="73152" marR="54864" marT="27432" marB="27432" anchor="ctr">
                    <a:solidFill>
                      <a:srgbClr val="F7F6FC"/>
                    </a:solidFill>
                  </a:tcPr>
                </a:tc>
              </a:tr>
            </a:tbl>
          </a:graphicData>
        </a:graphic>
      </p:graphicFrame>
      <p:sp>
        <p:nvSpPr>
          <p:cNvPr id="10" name="Rounded Rectangle 9"/>
          <p:cNvSpPr/>
          <p:nvPr/>
        </p:nvSpPr>
        <p:spPr>
          <a:xfrm>
            <a:off x="548640" y="5669280"/>
            <a:ext cx="11064240" cy="82296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Why it matters</a:t>
            </a:r>
          </a:p>
          <a:p>
            <a:pPr algn="l">
              <a:spcBef>
                <a:spcPts val="0"/>
              </a:spcBef>
              <a:spcAft>
                <a:spcPts val="500"/>
              </a:spcAft>
            </a:pPr>
            <a:r>
              <a:rPr sz="1350" b="0" i="0">
                <a:solidFill>
                  <a:srgbClr val="444455"/>
                </a:solidFill>
                <a:latin typeface="Calibri"/>
              </a:rPr>
              <a:t>Keeping these as searches (not folders) is what stops us from copying the same word into ten places. That copying is exactly what makes Babbel-style course-islands so hard to maintain.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12  ·  OUR PROPOSED DESIGN (5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whole picture on one screen</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12</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72768"/>
            <a:ext cx="11064240" cy="4297680"/>
          </a:xfrm>
          <a:prstGeom prst="rect">
            <a:avLst/>
          </a:prstGeom>
          <a:solidFill>
            <a:srgbClr val="1B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bIns="109728"/>
          <a:lstStyle/>
          <a:p>
            <a:pPr algn="ctr">
              <a:spcAft>
                <a:spcPts val="100"/>
              </a:spcAft>
            </a:pPr>
            <a:r>
              <a:rPr sz="1250" b="0" i="0">
                <a:solidFill>
                  <a:srgbClr val="E8E6F5"/>
                </a:solidFill>
                <a:latin typeface="Consolas"/>
              </a:rPr>
              <a:t>├─ FIELD  Working life</a:t>
            </a:r>
          </a:p>
          <a:p>
            <a:pPr>
              <a:spcAft>
                <a:spcPts val="100"/>
              </a:spcAft>
            </a:pPr>
            <a:r>
              <a:rPr sz="1250" b="0" i="0">
                <a:solidFill>
                  <a:srgbClr val="E8E6F5"/>
                </a:solidFill>
                <a:latin typeface="Consolas"/>
              </a:rPr>
              <a:t>│   ├─ TOPIC  Meetings &amp; teamwork        [B1–B2]</a:t>
            </a:r>
          </a:p>
          <a:p>
            <a:pPr>
              <a:spcAft>
                <a:spcPts val="100"/>
              </a:spcAft>
            </a:pPr>
            <a:r>
              <a:rPr sz="1250" b="0" i="0">
                <a:solidFill>
                  <a:srgbClr val="E8E6F5"/>
                </a:solidFill>
                <a:latin typeface="Consolas"/>
              </a:rPr>
              <a:t>│   │   ├─ Running a meeting   ├─ Making a point</a:t>
            </a:r>
          </a:p>
          <a:p>
            <a:pPr>
              <a:spcAft>
                <a:spcPts val="100"/>
              </a:spcAft>
            </a:pPr>
            <a:r>
              <a:rPr sz="1250" b="0" i="0">
                <a:solidFill>
                  <a:srgbClr val="E8E6F5"/>
                </a:solidFill>
                <a:latin typeface="Consolas"/>
              </a:rPr>
              <a:t>│   │   └─ Minutes &amp; sign-off  └─ Reaching consensus</a:t>
            </a:r>
          </a:p>
          <a:p>
            <a:pPr>
              <a:spcAft>
                <a:spcPts val="100"/>
              </a:spcAft>
            </a:pPr>
            <a:r>
              <a:rPr sz="1250" b="0" i="0">
                <a:solidFill>
                  <a:srgbClr val="E8E6F5"/>
                </a:solidFill>
                <a:latin typeface="Consolas"/>
              </a:rPr>
              <a:t>│   └─ TOPIC  Conflict resolution         [B2]</a:t>
            </a:r>
          </a:p>
          <a:p>
            <a:pPr>
              <a:spcAft>
                <a:spcPts val="100"/>
              </a:spcAft>
            </a:pPr>
            <a:r>
              <a:rPr sz="1250" b="0" i="0">
                <a:solidFill>
                  <a:srgbClr val="E8E6F5"/>
                </a:solidFill>
                <a:latin typeface="Consolas"/>
              </a:rPr>
              <a:t>├─ FIELD  Everyday life &amp; errands</a:t>
            </a:r>
          </a:p>
          <a:p>
            <a:pPr>
              <a:spcAft>
                <a:spcPts val="100"/>
              </a:spcAft>
            </a:pPr>
            <a:r>
              <a:rPr sz="1250" b="0" i="0">
                <a:solidFill>
                  <a:srgbClr val="E8E6F5"/>
                </a:solidFill>
                <a:latin typeface="Consolas"/>
              </a:rPr>
              <a:t>│   └─ TOPIC  Authorities &amp; bureaucracy    [B1–B2]</a:t>
            </a:r>
          </a:p>
          <a:p>
            <a:pPr>
              <a:spcAft>
                <a:spcPts val="100"/>
              </a:spcAft>
            </a:pPr>
            <a:r>
              <a:rPr sz="1250" b="0" i="0">
                <a:solidFill>
                  <a:srgbClr val="E8E6F5"/>
                </a:solidFill>
                <a:latin typeface="Consolas"/>
              </a:rPr>
              <a:t>│       └─ Registration · Immigration · Forms · Official letters</a:t>
            </a:r>
          </a:p>
          <a:p>
            <a:pPr>
              <a:spcAft>
                <a:spcPts val="100"/>
              </a:spcAft>
            </a:pPr>
            <a:r>
              <a:rPr sz="1250" b="0" i="0">
                <a:solidFill>
                  <a:srgbClr val="E8E6F5"/>
                </a:solidFill>
                <a:latin typeface="Consolas"/>
              </a:rPr>
              <a:t>└─ FIELD  Exam training   (a VIEW, not a content folder)</a:t>
            </a:r>
          </a:p>
          <a:p>
            <a:pPr>
              <a:spcAft>
                <a:spcPts val="100"/>
              </a:spcAft>
            </a:pPr>
            <a:r>
              <a:rPr sz="1250" b="0" i="0">
                <a:solidFill>
                  <a:srgbClr val="E8E6F5"/>
                </a:solidFill>
                <a:latin typeface="Consolas"/>
              </a:rPr>
              <a:t>    └─ telc B2 Beruf  →  saved search: exam tag = telc</a:t>
            </a:r>
          </a:p>
          <a:p>
            <a:pPr>
              <a:spcAft>
                <a:spcPts val="100"/>
              </a:spcAft>
            </a:pPr>
            <a:r>
              <a:rPr sz="1250" b="0" i="0">
                <a:solidFill>
                  <a:srgbClr val="E8E6F5"/>
                </a:solidFill>
                <a:latin typeface="Consolas"/>
              </a:rPr>
              <a:t/>
            </a:r>
          </a:p>
          <a:p>
            <a:pPr>
              <a:spcAft>
                <a:spcPts val="100"/>
              </a:spcAft>
            </a:pPr>
            <a:r>
              <a:rPr sz="1250" b="0" i="0">
                <a:solidFill>
                  <a:srgbClr val="10B7CF"/>
                </a:solidFill>
                <a:latin typeface="Consolas"/>
              </a:rPr>
              <a:t>SMART LABELS (apply across the whole tree above):</a:t>
            </a:r>
          </a:p>
          <a:p>
            <a:pPr>
              <a:spcAft>
                <a:spcPts val="100"/>
              </a:spcAft>
            </a:pPr>
            <a:r>
              <a:rPr sz="1250" b="0" i="0">
                <a:solidFill>
                  <a:srgbClr val="E8E6F5"/>
                </a:solidFill>
                <a:latin typeface="Consolas"/>
              </a:rPr>
              <a:t>  level · function · formality · word type · usefulness · exam tag · “still learning”</a:t>
            </a:r>
          </a:p>
        </p:txBody>
      </p:sp>
      <p:sp>
        <p:nvSpPr>
          <p:cNvPr id="9" name="TextBox 8"/>
          <p:cNvSpPr txBox="1"/>
          <p:nvPr/>
        </p:nvSpPr>
        <p:spPr>
          <a:xfrm>
            <a:off x="548640" y="6035040"/>
            <a:ext cx="11064240" cy="457200"/>
          </a:xfrm>
          <a:prstGeom prst="rect">
            <a:avLst/>
          </a:prstGeom>
          <a:noFill/>
        </p:spPr>
        <p:txBody>
          <a:bodyPr wrap="square" anchor="t" lIns="45720" rIns="45720" tIns="18288" bIns="18288">
            <a:spAutoFit/>
          </a:bodyPr>
          <a:lstStyle/>
          <a:p>
            <a:pPr algn="l">
              <a:spcBef>
                <a:spcPts val="0"/>
              </a:spcBef>
              <a:spcAft>
                <a:spcPts val="600"/>
              </a:spcAft>
            </a:pPr>
            <a:r>
              <a:rPr sz="1400" b="1" i="0">
                <a:solidFill>
                  <a:srgbClr val="5B5BE6"/>
                </a:solidFill>
                <a:latin typeface="Calibri"/>
              </a:rPr>
              <a:t>Three levels you can see. Everything else is a label you switch on, not a place you walk to.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2011680"/>
          </a:xfrm>
          <a:prstGeom prst="rect">
            <a:avLst/>
          </a:prstGeom>
          <a:noFill/>
        </p:spPr>
        <p:txBody>
          <a:bodyPr wrap="square" anchor="t" lIns="45720" rIns="45720" tIns="18288" bIns="18288">
            <a:spAutoFit/>
          </a:bodyPr>
          <a:lstStyle/>
          <a:p>
            <a:pPr algn="l">
              <a:spcBef>
                <a:spcPts val="0"/>
              </a:spcBef>
              <a:spcAft>
                <a:spcPts val="800"/>
              </a:spcAft>
            </a:pPr>
            <a:r>
              <a:rPr sz="1400" b="1" i="0">
                <a:solidFill>
                  <a:srgbClr val="10B7CF"/>
                </a:solidFill>
                <a:latin typeface="Calibri"/>
              </a:rPr>
              <a:t>SEE IT IN ACTION</a:t>
            </a:r>
          </a:p>
          <a:p>
            <a:pPr algn="l">
              <a:spcBef>
                <a:spcPts val="0"/>
              </a:spcBef>
              <a:spcAft>
                <a:spcPts val="1000"/>
              </a:spcAft>
            </a:pPr>
            <a:r>
              <a:rPr sz="4000" b="1" i="0">
                <a:solidFill>
                  <a:srgbClr val="FFFFFF"/>
                </a:solidFill>
                <a:latin typeface="Calibri"/>
              </a:rPr>
              <a:t>How the app would look</a:t>
            </a:r>
          </a:p>
          <a:p>
            <a:pPr algn="l">
              <a:spcBef>
                <a:spcPts val="0"/>
              </a:spcBef>
              <a:spcAft>
                <a:spcPts val="600"/>
              </a:spcAft>
            </a:pPr>
            <a:r>
              <a:rPr sz="1700" b="0" i="0">
                <a:solidFill>
                  <a:srgbClr val="C9C6DE"/>
                </a:solidFill>
                <a:latin typeface="Calibri"/>
              </a:rPr>
              <a:t>The next 6 screens are mockups of these ideas inside Genauly. “Proposed” screens are design concepts, not the live app yet.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(1 OF 6)</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Before vs. after: the vocabulary screen</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13</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1-before.png"/>
          <p:cNvPicPr>
            <a:picLocks noChangeAspect="1"/>
          </p:cNvPicPr>
          <p:nvPr/>
        </p:nvPicPr>
        <p:blipFill>
          <a:blip r:embed="rId2"/>
          <a:stretch>
            <a:fillRect/>
          </a:stretch>
        </p:blipFill>
        <p:spPr>
          <a:xfrm>
            <a:off x="960120" y="1783080"/>
            <a:ext cx="1968209" cy="4617720"/>
          </a:xfrm>
          <a:prstGeom prst="rect">
            <a:avLst/>
          </a:prstGeom>
        </p:spPr>
      </p:pic>
      <p:sp>
        <p:nvSpPr>
          <p:cNvPr id="9" name="Rounded Rectangle 8"/>
          <p:cNvSpPr/>
          <p:nvPr/>
        </p:nvSpPr>
        <p:spPr>
          <a:xfrm>
            <a:off x="960120" y="1783080"/>
            <a:ext cx="1968209" cy="461772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0120" y="1399032"/>
            <a:ext cx="1968209" cy="310896"/>
          </a:xfrm>
          <a:prstGeom prst="roundRect">
            <a:avLst/>
          </a:prstGeom>
          <a:solidFill>
            <a:srgbClr val="B0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TODAY</a:t>
            </a:r>
          </a:p>
        </p:txBody>
      </p:sp>
      <p:pic>
        <p:nvPicPr>
          <p:cNvPr id="11" name="Picture 10" descr="shot-02-after-browser.png"/>
          <p:cNvPicPr>
            <a:picLocks noChangeAspect="1"/>
          </p:cNvPicPr>
          <p:nvPr/>
        </p:nvPicPr>
        <p:blipFill>
          <a:blip r:embed="rId3"/>
          <a:stretch>
            <a:fillRect/>
          </a:stretch>
        </p:blipFill>
        <p:spPr>
          <a:xfrm>
            <a:off x="3703320" y="1783080"/>
            <a:ext cx="1968209" cy="4617720"/>
          </a:xfrm>
          <a:prstGeom prst="rect">
            <a:avLst/>
          </a:prstGeom>
        </p:spPr>
      </p:pic>
      <p:sp>
        <p:nvSpPr>
          <p:cNvPr id="12" name="Rounded Rectangle 11"/>
          <p:cNvSpPr/>
          <p:nvPr/>
        </p:nvSpPr>
        <p:spPr>
          <a:xfrm>
            <a:off x="3703320" y="1783080"/>
            <a:ext cx="1968209" cy="461772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1399032"/>
            <a:ext cx="1968209"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a:t>
            </a:r>
          </a:p>
        </p:txBody>
      </p:sp>
      <p:sp>
        <p:nvSpPr>
          <p:cNvPr id="14" name="TextBox 13"/>
          <p:cNvSpPr txBox="1"/>
          <p:nvPr/>
        </p:nvSpPr>
        <p:spPr>
          <a:xfrm>
            <a:off x="6766560" y="1828800"/>
            <a:ext cx="5059375" cy="438912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What changed</a:t>
            </a:r>
          </a:p>
          <a:p>
            <a:pPr>
              <a:spcBef>
                <a:spcPts val="0"/>
              </a:spcBef>
              <a:spcAft>
                <a:spcPts val="700"/>
              </a:spcAft>
            </a:pPr>
            <a:r>
              <a:rPr sz="1400" b="1" i="0">
                <a:solidFill>
                  <a:srgbClr val="5B5BE6"/>
                </a:solidFill>
                <a:latin typeface="Calibri"/>
              </a:rPr>
              <a:t>•  </a:t>
            </a:r>
            <a:r>
              <a:rPr sz="1400" b="1" i="0">
                <a:solidFill>
                  <a:srgbClr val="444455"/>
                </a:solidFill>
                <a:latin typeface="Calibri"/>
              </a:rPr>
              <a:t>A real filter bar </a:t>
            </a:r>
            <a:r>
              <a:rPr sz="1400" b="0" i="0">
                <a:solidFill>
                  <a:srgbClr val="444455"/>
                </a:solidFill>
                <a:latin typeface="Calibri"/>
              </a:rPr>
              <a:t>(Topic · Level · Filter) replaces the single dropdown.</a:t>
            </a:r>
          </a:p>
          <a:p>
            <a:pPr>
              <a:spcBef>
                <a:spcPts val="0"/>
              </a:spcBef>
              <a:spcAft>
                <a:spcPts val="700"/>
              </a:spcAft>
            </a:pPr>
            <a:r>
              <a:rPr sz="1400" b="1" i="0">
                <a:solidFill>
                  <a:srgbClr val="5B5BE6"/>
                </a:solidFill>
                <a:latin typeface="Calibri"/>
              </a:rPr>
              <a:t>•  </a:t>
            </a:r>
            <a:r>
              <a:rPr sz="1400" b="1" i="0">
                <a:solidFill>
                  <a:srgbClr val="444455"/>
                </a:solidFill>
                <a:latin typeface="Calibri"/>
              </a:rPr>
              <a:t>Every word shows its level </a:t>
            </a:r>
            <a:r>
              <a:rPr sz="1400" b="0" i="0">
                <a:solidFill>
                  <a:srgbClr val="444455"/>
                </a:solidFill>
                <a:latin typeface="Calibri"/>
              </a:rPr>
              <a:t>and formality at a glance.</a:t>
            </a:r>
          </a:p>
          <a:p>
            <a:pPr>
              <a:spcBef>
                <a:spcPts val="0"/>
              </a:spcBef>
              <a:spcAft>
                <a:spcPts val="700"/>
              </a:spcAft>
            </a:pPr>
            <a:r>
              <a:rPr sz="1400" b="1" i="0">
                <a:solidFill>
                  <a:srgbClr val="5B5BE6"/>
                </a:solidFill>
                <a:latin typeface="Calibri"/>
              </a:rPr>
              <a:t>•  </a:t>
            </a:r>
            <a:r>
              <a:rPr sz="1400" b="1" i="0">
                <a:solidFill>
                  <a:srgbClr val="444455"/>
                </a:solidFill>
                <a:latin typeface="Calibri"/>
              </a:rPr>
              <a:t>A live count </a:t>
            </a:r>
            <a:r>
              <a:rPr sz="1400" b="0" i="0">
                <a:solidFill>
                  <a:srgbClr val="444455"/>
                </a:solidFill>
                <a:latin typeface="Calibri"/>
              </a:rPr>
              <a:t>(“28 words…”) tells you what you're looking at.</a:t>
            </a:r>
          </a:p>
          <a:p>
            <a:pPr>
              <a:spcBef>
                <a:spcPts val="0"/>
              </a:spcBef>
              <a:spcAft>
                <a:spcPts val="700"/>
              </a:spcAft>
            </a:pPr>
            <a:r>
              <a:rPr sz="1400" b="1" i="0">
                <a:solidFill>
                  <a:srgbClr val="5B5BE6"/>
                </a:solidFill>
                <a:latin typeface="Calibri"/>
              </a:rPr>
              <a:t>•  </a:t>
            </a:r>
            <a:r>
              <a:rPr sz="1400" b="1" i="0">
                <a:solidFill>
                  <a:srgbClr val="444455"/>
                </a:solidFill>
                <a:latin typeface="Calibri"/>
              </a:rPr>
              <a:t>“Still learning” status </a:t>
            </a:r>
            <a:r>
              <a:rPr sz="1400" b="0" i="0">
                <a:solidFill>
                  <a:srgbClr val="444455"/>
                </a:solidFill>
                <a:latin typeface="Calibri"/>
              </a:rPr>
              <a:t>is visible, so practice has a target.</a:t>
            </a:r>
          </a:p>
        </p:txBody>
      </p:sp>
      <p:sp>
        <p:nvSpPr>
          <p:cNvPr id="15" name="Rounded Rectangle 14"/>
          <p:cNvSpPr/>
          <p:nvPr/>
        </p:nvSpPr>
        <p:spPr>
          <a:xfrm>
            <a:off x="6766560" y="5074920"/>
            <a:ext cx="5059375" cy="13716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Same data, friendlier surface</a:t>
            </a:r>
          </a:p>
          <a:p>
            <a:pPr algn="l">
              <a:spcBef>
                <a:spcPts val="0"/>
              </a:spcBef>
              <a:spcAft>
                <a:spcPts val="500"/>
              </a:spcAft>
            </a:pPr>
            <a:r>
              <a:rPr sz="1350" b="0" i="0">
                <a:solidFill>
                  <a:srgbClr val="444455"/>
                </a:solidFill>
                <a:latin typeface="Calibri"/>
              </a:rPr>
              <a:t>Nothing about the words changed. We simply added labels and let the learner filter on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(2 OF 6)</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Start from a goal, not a word list</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14</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4-intent.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Home screen</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Most adults open the app with a task in mind, not a topic.</a:t>
            </a:r>
          </a:p>
          <a:p>
            <a:pPr algn="l">
              <a:spcBef>
                <a:spcPts val="0"/>
              </a:spcBef>
              <a:spcAft>
                <a:spcPts val="1200"/>
              </a:spcAft>
            </a:pPr>
            <a:r>
              <a:rPr sz="1450" b="0" i="0">
                <a:solidFill>
                  <a:srgbClr val="444455"/>
                </a:solidFill>
                <a:latin typeface="Calibri"/>
              </a:rPr>
              <a:t>So the home screen leads with real situations. Tapping a card quietly sets the right labels behind the scenes and drops the learner straight into the right words, phrases and exercises.</a:t>
            </a:r>
          </a:p>
          <a:p>
            <a:pPr>
              <a:spcBef>
                <a:spcPts val="0"/>
              </a:spcBef>
              <a:spcAft>
                <a:spcPts val="700"/>
              </a:spcAft>
            </a:pPr>
            <a:r>
              <a:rPr sz="1400" b="1" i="0">
                <a:solidFill>
                  <a:srgbClr val="5B5BE6"/>
                </a:solidFill>
                <a:latin typeface="Calibri"/>
              </a:rPr>
              <a:t>•  </a:t>
            </a:r>
            <a:r>
              <a:rPr sz="1400" b="1" i="0">
                <a:solidFill>
                  <a:srgbClr val="444455"/>
                </a:solidFill>
                <a:latin typeface="Calibri"/>
              </a:rPr>
              <a:t>“Register at the Bürgeramt” </a:t>
            </a:r>
            <a:r>
              <a:rPr sz="1400" b="0" i="0">
                <a:solidFill>
                  <a:srgbClr val="444455"/>
                </a:solidFill>
                <a:latin typeface="Calibri"/>
              </a:rPr>
              <a:t>→ Behörde topic, B1–B2, 15-minute set.</a:t>
            </a:r>
          </a:p>
          <a:p>
            <a:pPr>
              <a:spcBef>
                <a:spcPts val="0"/>
              </a:spcBef>
              <a:spcAft>
                <a:spcPts val="700"/>
              </a:spcAft>
            </a:pPr>
            <a:r>
              <a:rPr sz="1400" b="1" i="0">
                <a:solidFill>
                  <a:srgbClr val="5B5BE6"/>
                </a:solidFill>
                <a:latin typeface="Calibri"/>
              </a:rPr>
              <a:t>•  </a:t>
            </a:r>
            <a:r>
              <a:rPr sz="1400" b="1" i="0">
                <a:solidFill>
                  <a:srgbClr val="444455"/>
                </a:solidFill>
                <a:latin typeface="Calibri"/>
              </a:rPr>
              <a:t>“Practice a job interview” </a:t>
            </a:r>
            <a:r>
              <a:rPr sz="1400" b="0" i="0">
                <a:solidFill>
                  <a:srgbClr val="444455"/>
                </a:solidFill>
                <a:latin typeface="Calibri"/>
              </a:rPr>
              <a:t>→ work topics, B2, speaking focus.</a:t>
            </a:r>
          </a:p>
          <a:p>
            <a:pPr>
              <a:spcBef>
                <a:spcPts val="0"/>
              </a:spcBef>
              <a:spcAft>
                <a:spcPts val="700"/>
              </a:spcAft>
            </a:pPr>
            <a:r>
              <a:rPr sz="1400" b="1" i="0">
                <a:solidFill>
                  <a:srgbClr val="5B5BE6"/>
                </a:solidFill>
                <a:latin typeface="Calibri"/>
              </a:rPr>
              <a:t>•  </a:t>
            </a:r>
            <a:r>
              <a:rPr sz="1400" b="1" i="0">
                <a:solidFill>
                  <a:srgbClr val="444455"/>
                </a:solidFill>
                <a:latin typeface="Calibri"/>
              </a:rPr>
              <a:t>“telc B2 e-mail” </a:t>
            </a:r>
            <a:r>
              <a:rPr sz="1400" b="0" i="0">
                <a:solidFill>
                  <a:srgbClr val="444455"/>
                </a:solidFill>
                <a:latin typeface="Calibri"/>
              </a:rPr>
              <a:t>→ writing trainer, exam tag set.</a:t>
            </a:r>
          </a:p>
          <a:p>
            <a:pPr algn="l">
              <a:spcBef>
                <a:spcPts val="0"/>
              </a:spcBef>
              <a:spcAft>
                <a:spcPts val="0"/>
              </a:spcAft>
            </a:pPr>
            <a:r>
              <a:rPr sz="1350" b="0" i="1">
                <a:solidFill>
                  <a:srgbClr val="777488"/>
                </a:solidFill>
                <a:latin typeface="Calibri"/>
              </a:rPr>
              <a:t>Browsing by topic still exists, just below. This is the welcome mat, not the only door.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(3 OF 6)</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Drilling into a topic</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15</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3-subtheme.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Sub-topic picker</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Inside “Authorities &amp; bureaucracy.”</a:t>
            </a:r>
          </a:p>
          <a:p>
            <a:pPr algn="l">
              <a:spcBef>
                <a:spcPts val="0"/>
              </a:spcBef>
              <a:spcAft>
                <a:spcPts val="1200"/>
              </a:spcAft>
            </a:pPr>
            <a:r>
              <a:rPr sz="1450" b="0" i="0">
                <a:solidFill>
                  <a:srgbClr val="444455"/>
                </a:solidFill>
                <a:latin typeface="Calibri"/>
              </a:rPr>
              <a:t>Instead of 28 words in one list, the learner picks a clear sub-topic. Each row shows how much content sits inside and at what level, so there are no surprises.</a:t>
            </a:r>
          </a:p>
          <a:p>
            <a:pPr algn="l">
              <a:spcBef>
                <a:spcPts val="0"/>
              </a:spcBef>
              <a:spcAft>
                <a:spcPts val="1200"/>
              </a:spcAft>
            </a:pPr>
            <a:r>
              <a:rPr sz="1450" b="0" i="0">
                <a:solidFill>
                  <a:srgbClr val="444455"/>
                </a:solidFill>
                <a:latin typeface="Calibri"/>
              </a:rPr>
              <a:t>This is the same screen pattern every topic would use, so the app feels consistent as it grows from 11 topics to 50.</a:t>
            </a:r>
          </a:p>
        </p:txBody>
      </p:sp>
      <p:sp>
        <p:nvSpPr>
          <p:cNvPr id="12" name="Rounded Rectangle 11"/>
          <p:cNvSpPr/>
          <p:nvPr/>
        </p:nvSpPr>
        <p:spPr>
          <a:xfrm>
            <a:off x="4206240" y="4754880"/>
            <a:ext cx="7573975" cy="13716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Where the sub-topics come from</a:t>
            </a:r>
          </a:p>
          <a:p>
            <a:pPr algn="l">
              <a:spcBef>
                <a:spcPts val="0"/>
              </a:spcBef>
              <a:spcAft>
                <a:spcPts val="500"/>
              </a:spcAft>
            </a:pPr>
            <a:r>
              <a:rPr sz="1350" b="0" i="0">
                <a:solidFill>
                  <a:srgbClr val="444455"/>
                </a:solidFill>
                <a:latin typeface="Calibri"/>
              </a:rPr>
              <a:t>We already wrote a “situations” list for every topic. Those lines become these sub-topics almost directly, so this is mostly relabeling, not new writing.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(4 OF 6)</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Everything about a word, in one place</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16</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5-cross-module.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Word detail</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Tap a word, see the whole web around it.</a:t>
            </a:r>
          </a:p>
          <a:p>
            <a:pPr algn="l">
              <a:spcBef>
                <a:spcPts val="0"/>
              </a:spcBef>
              <a:spcAft>
                <a:spcPts val="1200"/>
              </a:spcAft>
            </a:pPr>
            <a:r>
              <a:rPr sz="1450" b="0" i="0">
                <a:solidFill>
                  <a:srgbClr val="444455"/>
                </a:solidFill>
                <a:latin typeface="Calibri"/>
              </a:rPr>
              <a:t>Because every module shares the same topic labels, a single word can show its matching collocation, a ready-made phrase, a writing task and a role-play, all automatically.</a:t>
            </a:r>
          </a:p>
          <a:p>
            <a:pPr>
              <a:spcBef>
                <a:spcPts val="0"/>
              </a:spcBef>
              <a:spcAft>
                <a:spcPts val="700"/>
              </a:spcAft>
            </a:pPr>
            <a:r>
              <a:rPr sz="1400" b="1" i="0">
                <a:solidFill>
                  <a:srgbClr val="5B5BE6"/>
                </a:solidFill>
                <a:latin typeface="Calibri"/>
              </a:rPr>
              <a:t>•  </a:t>
            </a:r>
            <a:r>
              <a:rPr sz="1400" b="1" i="0">
                <a:solidFill>
                  <a:srgbClr val="444455"/>
                </a:solidFill>
                <a:latin typeface="Calibri"/>
              </a:rPr>
              <a:t>der Bescheid </a:t>
            </a:r>
            <a:r>
              <a:rPr sz="1400" b="0" i="0">
                <a:solidFill>
                  <a:srgbClr val="444455"/>
                </a:solidFill>
                <a:latin typeface="Calibri"/>
              </a:rPr>
              <a:t>→ “einen Bescheid erhalten” (collocation)</a:t>
            </a:r>
          </a:p>
          <a:p>
            <a:pPr>
              <a:spcBef>
                <a:spcPts val="0"/>
              </a:spcBef>
              <a:spcAft>
                <a:spcPts val="700"/>
              </a:spcAft>
            </a:pPr>
            <a:r>
              <a:rPr sz="1400" b="1" i="0">
                <a:solidFill>
                  <a:srgbClr val="5B5BE6"/>
                </a:solidFill>
                <a:latin typeface="Calibri"/>
              </a:rPr>
              <a:t>•  </a:t>
            </a:r>
            <a:r>
              <a:rPr sz="1400" b="1" i="0">
                <a:solidFill>
                  <a:srgbClr val="444455"/>
                </a:solidFill>
                <a:latin typeface="Calibri"/>
              </a:rPr>
              <a:t>→ “Hiermit lege ich Widerspruch ein…” </a:t>
            </a:r>
            <a:r>
              <a:rPr sz="1400" b="0" i="0">
                <a:solidFill>
                  <a:srgbClr val="444455"/>
                </a:solidFill>
                <a:latin typeface="Calibri"/>
              </a:rPr>
              <a:t>(phrase)</a:t>
            </a:r>
          </a:p>
          <a:p>
            <a:pPr>
              <a:spcBef>
                <a:spcPts val="0"/>
              </a:spcBef>
              <a:spcAft>
                <a:spcPts val="700"/>
              </a:spcAft>
            </a:pPr>
            <a:r>
              <a:rPr sz="1400" b="1" i="0">
                <a:solidFill>
                  <a:srgbClr val="5B5BE6"/>
                </a:solidFill>
                <a:latin typeface="Calibri"/>
              </a:rPr>
              <a:t>•  </a:t>
            </a:r>
            <a:r>
              <a:rPr sz="1400" b="1" i="0">
                <a:solidFill>
                  <a:srgbClr val="444455"/>
                </a:solidFill>
                <a:latin typeface="Calibri"/>
              </a:rPr>
              <a:t>→ “Write an objection letter” </a:t>
            </a:r>
            <a:r>
              <a:rPr sz="1400" b="0" i="0">
                <a:solidFill>
                  <a:srgbClr val="444455"/>
                </a:solidFill>
                <a:latin typeface="Calibri"/>
              </a:rPr>
              <a:t>(writing task)</a:t>
            </a:r>
          </a:p>
        </p:txBody>
      </p:sp>
      <p:sp>
        <p:nvSpPr>
          <p:cNvPr id="12" name="Rounded Rectangle 11"/>
          <p:cNvSpPr/>
          <p:nvPr/>
        </p:nvSpPr>
        <p:spPr>
          <a:xfrm>
            <a:off x="4206240" y="5074920"/>
            <a:ext cx="7573975" cy="13716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The payoff competitors can't copy</a:t>
            </a:r>
          </a:p>
          <a:p>
            <a:pPr algn="l">
              <a:spcBef>
                <a:spcPts val="0"/>
              </a:spcBef>
              <a:spcAft>
                <a:spcPts val="500"/>
              </a:spcAft>
            </a:pPr>
            <a:r>
              <a:rPr sz="1350" b="0" i="0">
                <a:solidFill>
                  <a:srgbClr val="444455"/>
                </a:solidFill>
                <a:latin typeface="Calibri"/>
              </a:rPr>
              <a:t>Apps with walled-off courses can't link like this. Our shared labels turn four separate modules into one connected learning web, with no extra hand-maintained lists.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(5 OF 6)</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“Advanced” filter (for power users)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17</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6-filter-sheet.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Filter sheet</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Beginners never see this. Power users love it.</a:t>
            </a:r>
          </a:p>
          <a:p>
            <a:pPr algn="l">
              <a:spcBef>
                <a:spcPts val="0"/>
              </a:spcBef>
              <a:spcAft>
                <a:spcPts val="1200"/>
              </a:spcAft>
            </a:pPr>
            <a:r>
              <a:rPr sz="1450" b="0" i="0">
                <a:solidFill>
                  <a:srgbClr val="444455"/>
                </a:solidFill>
                <a:latin typeface="Calibri"/>
              </a:rPr>
              <a:t>Tapping “Filter” slides up this sheet. Notice three things that make it feel smart rather than fiddly:</a:t>
            </a:r>
          </a:p>
          <a:p>
            <a:pPr>
              <a:spcBef>
                <a:spcPts val="0"/>
              </a:spcBef>
              <a:spcAft>
                <a:spcPts val="700"/>
              </a:spcAft>
            </a:pPr>
            <a:r>
              <a:rPr sz="1400" b="1" i="0">
                <a:solidFill>
                  <a:srgbClr val="5B5BE6"/>
                </a:solidFill>
                <a:latin typeface="Calibri"/>
              </a:rPr>
              <a:t>•  </a:t>
            </a:r>
            <a:r>
              <a:rPr sz="1400" b="1" i="0">
                <a:solidFill>
                  <a:srgbClr val="444455"/>
                </a:solidFill>
                <a:latin typeface="Calibri"/>
              </a:rPr>
              <a:t>Live counts </a:t>
            </a:r>
            <a:r>
              <a:rPr sz="1400" b="0" i="0">
                <a:solidFill>
                  <a:srgbClr val="444455"/>
                </a:solidFill>
                <a:latin typeface="Calibri"/>
              </a:rPr>
              <a:t>on each option (“B2.1 (19)”), so you know what you'll get.</a:t>
            </a:r>
          </a:p>
          <a:p>
            <a:pPr>
              <a:spcBef>
                <a:spcPts val="0"/>
              </a:spcBef>
              <a:spcAft>
                <a:spcPts val="700"/>
              </a:spcAft>
            </a:pPr>
            <a:r>
              <a:rPr sz="1400" b="1" i="0">
                <a:solidFill>
                  <a:srgbClr val="5B5BE6"/>
                </a:solidFill>
                <a:latin typeface="Calibri"/>
              </a:rPr>
              <a:t>•  </a:t>
            </a:r>
            <a:r>
              <a:rPr sz="1400" b="1" i="0">
                <a:solidFill>
                  <a:srgbClr val="444455"/>
                </a:solidFill>
                <a:latin typeface="Calibri"/>
              </a:rPr>
              <a:t>Dead ends greyed out </a:t>
            </a:r>
            <a:r>
              <a:rPr sz="1400" b="0" i="0">
                <a:solidFill>
                  <a:srgbClr val="444455"/>
                </a:solidFill>
                <a:latin typeface="Calibri"/>
              </a:rPr>
              <a:t>(“C1 (0)”) so you never hit an empty screen.</a:t>
            </a:r>
          </a:p>
          <a:p>
            <a:pPr>
              <a:spcBef>
                <a:spcPts val="0"/>
              </a:spcBef>
              <a:spcAft>
                <a:spcPts val="700"/>
              </a:spcAft>
            </a:pPr>
            <a:r>
              <a:rPr sz="1400" b="1" i="0">
                <a:solidFill>
                  <a:srgbClr val="5B5BE6"/>
                </a:solidFill>
                <a:latin typeface="Calibri"/>
              </a:rPr>
              <a:t>•  </a:t>
            </a:r>
            <a:r>
              <a:rPr sz="1400" b="1" i="0">
                <a:solidFill>
                  <a:srgbClr val="444455"/>
                </a:solidFill>
                <a:latin typeface="Calibri"/>
              </a:rPr>
              <a:t>“Hide mastered” </a:t>
            </a:r>
            <a:r>
              <a:rPr sz="1400" b="0" i="0">
                <a:solidFill>
                  <a:srgbClr val="444455"/>
                </a:solidFill>
                <a:latin typeface="Calibri"/>
              </a:rPr>
              <a:t>turns the browser into a focused study tool.</a:t>
            </a:r>
          </a:p>
        </p:txBody>
      </p:sp>
      <p:sp>
        <p:nvSpPr>
          <p:cNvPr id="12" name="Rounded Rectangle 11"/>
          <p:cNvSpPr/>
          <p:nvPr/>
        </p:nvSpPr>
        <p:spPr>
          <a:xfrm>
            <a:off x="4206240" y="5074920"/>
            <a:ext cx="7573975" cy="137160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golden UX rule</a:t>
            </a:r>
          </a:p>
          <a:p>
            <a:pPr algn="l">
              <a:spcBef>
                <a:spcPts val="0"/>
              </a:spcBef>
              <a:spcAft>
                <a:spcPts val="500"/>
              </a:spcAft>
            </a:pPr>
            <a:r>
              <a:rPr sz="1350" b="0" i="0">
                <a:solidFill>
                  <a:srgbClr val="444455"/>
                </a:solidFill>
                <a:latin typeface="Calibri"/>
              </a:rPr>
              <a:t>The power must exist, but it must not be in a beginner's face. Two simple filters by default; everything else one tap away under “Advanced.”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(6 OF 6)</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five screens together</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18</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2-after-browser.png"/>
          <p:cNvPicPr>
            <a:picLocks noChangeAspect="1"/>
          </p:cNvPicPr>
          <p:nvPr/>
        </p:nvPicPr>
        <p:blipFill>
          <a:blip r:embed="rId2"/>
          <a:stretch>
            <a:fillRect/>
          </a:stretch>
        </p:blipFill>
        <p:spPr>
          <a:xfrm>
            <a:off x="640080" y="1783080"/>
            <a:ext cx="1597951" cy="3749039"/>
          </a:xfrm>
          <a:prstGeom prst="rect">
            <a:avLst/>
          </a:prstGeom>
        </p:spPr>
      </p:pic>
      <p:sp>
        <p:nvSpPr>
          <p:cNvPr id="9" name="Rounded Rectangle 8"/>
          <p:cNvSpPr/>
          <p:nvPr/>
        </p:nvSpPr>
        <p:spPr>
          <a:xfrm>
            <a:off x="640080"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200" b="1" i="0">
                <a:solidFill>
                  <a:srgbClr val="444455"/>
                </a:solidFill>
                <a:latin typeface="Calibri"/>
              </a:rPr>
              <a:t>Filter &amp; browse</a:t>
            </a:r>
          </a:p>
        </p:txBody>
      </p:sp>
      <p:pic>
        <p:nvPicPr>
          <p:cNvPr id="11" name="Picture 10" descr="shot-03-subtheme.png"/>
          <p:cNvPicPr>
            <a:picLocks noChangeAspect="1"/>
          </p:cNvPicPr>
          <p:nvPr/>
        </p:nvPicPr>
        <p:blipFill>
          <a:blip r:embed="rId3"/>
          <a:stretch>
            <a:fillRect/>
          </a:stretch>
        </p:blipFill>
        <p:spPr>
          <a:xfrm>
            <a:off x="2439199" y="1783080"/>
            <a:ext cx="1597951" cy="3749039"/>
          </a:xfrm>
          <a:prstGeom prst="rect">
            <a:avLst/>
          </a:prstGeom>
        </p:spPr>
      </p:pic>
      <p:sp>
        <p:nvSpPr>
          <p:cNvPr id="12" name="Rounded Rectangle 11"/>
          <p:cNvSpPr/>
          <p:nvPr/>
        </p:nvSpPr>
        <p:spPr>
          <a:xfrm>
            <a:off x="2439199"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39199"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200" b="1" i="0">
                <a:solidFill>
                  <a:srgbClr val="444455"/>
                </a:solidFill>
                <a:latin typeface="Calibri"/>
              </a:rPr>
              <a:t>Sub-topics</a:t>
            </a:r>
          </a:p>
        </p:txBody>
      </p:sp>
      <p:pic>
        <p:nvPicPr>
          <p:cNvPr id="14" name="Picture 13" descr="shot-04-intent.png"/>
          <p:cNvPicPr>
            <a:picLocks noChangeAspect="1"/>
          </p:cNvPicPr>
          <p:nvPr/>
        </p:nvPicPr>
        <p:blipFill>
          <a:blip r:embed="rId4"/>
          <a:stretch>
            <a:fillRect/>
          </a:stretch>
        </p:blipFill>
        <p:spPr>
          <a:xfrm>
            <a:off x="4238318" y="1783080"/>
            <a:ext cx="1597951" cy="3749039"/>
          </a:xfrm>
          <a:prstGeom prst="rect">
            <a:avLst/>
          </a:prstGeom>
        </p:spPr>
      </p:pic>
      <p:sp>
        <p:nvSpPr>
          <p:cNvPr id="15" name="Rounded Rectangle 14"/>
          <p:cNvSpPr/>
          <p:nvPr/>
        </p:nvSpPr>
        <p:spPr>
          <a:xfrm>
            <a:off x="4238318"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38318"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200" b="1" i="0">
                <a:solidFill>
                  <a:srgbClr val="444455"/>
                </a:solidFill>
                <a:latin typeface="Calibri"/>
              </a:rPr>
              <a:t>Goal-first home</a:t>
            </a:r>
          </a:p>
        </p:txBody>
      </p:sp>
      <p:pic>
        <p:nvPicPr>
          <p:cNvPr id="17" name="Picture 16" descr="shot-05-cross-module.png"/>
          <p:cNvPicPr>
            <a:picLocks noChangeAspect="1"/>
          </p:cNvPicPr>
          <p:nvPr/>
        </p:nvPicPr>
        <p:blipFill>
          <a:blip r:embed="rId5"/>
          <a:stretch>
            <a:fillRect/>
          </a:stretch>
        </p:blipFill>
        <p:spPr>
          <a:xfrm>
            <a:off x="6037437" y="1783080"/>
            <a:ext cx="1597951" cy="3749039"/>
          </a:xfrm>
          <a:prstGeom prst="rect">
            <a:avLst/>
          </a:prstGeom>
        </p:spPr>
      </p:pic>
      <p:sp>
        <p:nvSpPr>
          <p:cNvPr id="18" name="Rounded Rectangle 17"/>
          <p:cNvSpPr/>
          <p:nvPr/>
        </p:nvSpPr>
        <p:spPr>
          <a:xfrm>
            <a:off x="6037437"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7437"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200" b="1" i="0">
                <a:solidFill>
                  <a:srgbClr val="444455"/>
                </a:solidFill>
                <a:latin typeface="Calibri"/>
              </a:rPr>
              <a:t>Connected word</a:t>
            </a:r>
          </a:p>
        </p:txBody>
      </p:sp>
      <p:pic>
        <p:nvPicPr>
          <p:cNvPr id="20" name="Picture 19" descr="shot-06-filter-sheet.png"/>
          <p:cNvPicPr>
            <a:picLocks noChangeAspect="1"/>
          </p:cNvPicPr>
          <p:nvPr/>
        </p:nvPicPr>
        <p:blipFill>
          <a:blip r:embed="rId6"/>
          <a:stretch>
            <a:fillRect/>
          </a:stretch>
        </p:blipFill>
        <p:spPr>
          <a:xfrm>
            <a:off x="7836556" y="1783080"/>
            <a:ext cx="1597951" cy="3749039"/>
          </a:xfrm>
          <a:prstGeom prst="rect">
            <a:avLst/>
          </a:prstGeom>
        </p:spPr>
      </p:pic>
      <p:sp>
        <p:nvSpPr>
          <p:cNvPr id="21" name="Rounded Rectangle 20"/>
          <p:cNvSpPr/>
          <p:nvPr/>
        </p:nvSpPr>
        <p:spPr>
          <a:xfrm>
            <a:off x="7836556"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36556"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200" b="1" i="0">
                <a:solidFill>
                  <a:srgbClr val="444455"/>
                </a:solidFill>
                <a:latin typeface="Calibri"/>
              </a:rPr>
              <a:t>Advanced filter</a:t>
            </a:r>
          </a:p>
        </p:txBody>
      </p:sp>
      <p:sp>
        <p:nvSpPr>
          <p:cNvPr id="23" name="TextBox 22"/>
          <p:cNvSpPr txBox="1"/>
          <p:nvPr/>
        </p:nvSpPr>
        <p:spPr>
          <a:xfrm>
            <a:off x="548640" y="6126480"/>
            <a:ext cx="11064240" cy="457200"/>
          </a:xfrm>
          <a:prstGeom prst="rect">
            <a:avLst/>
          </a:prstGeom>
          <a:noFill/>
        </p:spPr>
        <p:txBody>
          <a:bodyPr wrap="square" anchor="t" lIns="45720" rIns="45720" tIns="18288" bIns="18288">
            <a:spAutoFit/>
          </a:bodyPr>
          <a:lstStyle/>
          <a:p>
            <a:pPr algn="ctr">
              <a:spcBef>
                <a:spcPts val="0"/>
              </a:spcBef>
              <a:spcAft>
                <a:spcPts val="600"/>
              </a:spcAft>
            </a:pPr>
            <a:r>
              <a:rPr sz="1400" b="1" i="0">
                <a:solidFill>
                  <a:srgbClr val="5B5BE6"/>
                </a:solidFill>
                <a:latin typeface="Calibri"/>
              </a:rPr>
              <a:t>One consistent design language across browse, drill-down, goals, connections and power-filtering.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19  ·  HOW FILTERING WORKS (1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Three layers of filters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19</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2194560"/>
        </p:xfrm>
        <a:graphic>
          <a:graphicData uri="http://schemas.openxmlformats.org/drawingml/2006/table">
            <a:tbl>
              <a:tblPr>
                <a:tableStyleId>{5C22544A-7EE6-4342-B048-85BDC9FD1C3A}</a:tableStyleId>
              </a:tblPr>
              <a:tblGrid>
                <a:gridCol w="3108960"/>
                <a:gridCol w="5486400"/>
                <a:gridCol w="2468880"/>
              </a:tblGrid>
              <a:tr h="548640">
                <a:tc>
                  <a:txBody>
                    <a:bodyPr/>
                    <a:lstStyle/>
                    <a:p>
                      <a:pPr>
                        <a:spcAft>
                          <a:spcPts val="0"/>
                        </a:spcAft>
                      </a:pPr>
                      <a:r>
                        <a:rPr sz="1100" b="1" i="0">
                          <a:solidFill>
                            <a:srgbClr val="FFFFFF"/>
                          </a:solidFill>
                          <a:latin typeface="Calibri"/>
                        </a:rPr>
                        <a:t>Layer</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Filters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When shown</a:t>
                      </a:r>
                    </a:p>
                  </a:txBody>
                  <a:tcPr marL="73152" marR="54864" marT="27432" marB="27432" anchor="ctr">
                    <a:solidFill>
                      <a:srgbClr val="5B5BE6"/>
                    </a:solidFill>
                  </a:tcPr>
                </a:tc>
              </a:tr>
              <a:tr h="548640">
                <a:tc>
                  <a:txBody>
                    <a:bodyPr/>
                    <a:lstStyle/>
                    <a:p>
                      <a:pPr>
                        <a:spcAft>
                          <a:spcPts val="0"/>
                        </a:spcAft>
                      </a:pPr>
                      <a:r>
                        <a:rPr sz="1250" b="1" i="0">
                          <a:solidFill>
                            <a:srgbClr val="1E1B2E"/>
                          </a:solidFill>
                          <a:latin typeface="Calibri"/>
                        </a:rPr>
                        <a:t>Everyday (always there)</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Topic / Sub-topic · Level</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Right on the screen</a:t>
                      </a:r>
                    </a:p>
                  </a:txBody>
                  <a:tcPr marL="73152" marR="54864" marT="27432" marB="27432" anchor="ctr">
                    <a:solidFill>
                      <a:srgbClr val="FFFFFF"/>
                    </a:solidFill>
                  </a:tcPr>
                </a:tc>
              </a:tr>
              <a:tr h="548640">
                <a:tc>
                  <a:txBody>
                    <a:bodyPr/>
                    <a:lstStyle/>
                    <a:p>
                      <a:pPr>
                        <a:spcAft>
                          <a:spcPts val="0"/>
                        </a:spcAft>
                      </a:pPr>
                      <a:r>
                        <a:rPr sz="1250" b="1" i="0">
                          <a:solidFill>
                            <a:srgbClr val="1E1B2E"/>
                          </a:solidFill>
                          <a:latin typeface="Calibri"/>
                        </a:rPr>
                        <a:t>Handy (one tap away)</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Field · Usefulness · Exam tag</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Behind “Filter”</a:t>
                      </a:r>
                    </a:p>
                  </a:txBody>
                  <a:tcPr marL="73152" marR="54864" marT="27432" marB="27432" anchor="ctr">
                    <a:solidFill>
                      <a:srgbClr val="F7F6FC"/>
                    </a:solidFill>
                  </a:tcPr>
                </a:tc>
              </a:tr>
              <a:tr h="548640">
                <a:tc>
                  <a:txBody>
                    <a:bodyPr/>
                    <a:lstStyle/>
                    <a:p>
                      <a:pPr>
                        <a:spcAft>
                          <a:spcPts val="0"/>
                        </a:spcAft>
                      </a:pPr>
                      <a:r>
                        <a:rPr sz="1250" b="1" i="0">
                          <a:solidFill>
                            <a:srgbClr val="1E1B2E"/>
                          </a:solidFill>
                          <a:latin typeface="Calibri"/>
                        </a:rPr>
                        <a:t>Power-user (advanced)</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Formality · Word type · Function · “still learning”</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“Advanced” section</a:t>
                      </a:r>
                    </a:p>
                  </a:txBody>
                  <a:tcPr marL="73152" marR="54864" marT="27432" marB="27432" anchor="ctr">
                    <a:solidFill>
                      <a:srgbClr val="FFFFFF"/>
                    </a:solidFill>
                  </a:tcPr>
                </a:tc>
              </a:tr>
            </a:tbl>
          </a:graphicData>
        </a:graphic>
      </p:graphicFrame>
      <p:sp>
        <p:nvSpPr>
          <p:cNvPr id="9" name="TextBox 8"/>
          <p:cNvSpPr txBox="1"/>
          <p:nvPr/>
        </p:nvSpPr>
        <p:spPr>
          <a:xfrm>
            <a:off x="548640" y="3657600"/>
            <a:ext cx="11064240" cy="2743200"/>
          </a:xfrm>
          <a:prstGeom prst="rect">
            <a:avLst/>
          </a:prstGeom>
          <a:noFill/>
        </p:spPr>
        <p:txBody>
          <a:bodyPr wrap="square" anchor="t" lIns="45720" rIns="45720" tIns="18288" bIns="18288">
            <a:spAutoFit/>
          </a:bodyPr>
          <a:lstStyle/>
          <a:p>
            <a:pPr algn="l">
              <a:spcBef>
                <a:spcPts val="0"/>
              </a:spcBef>
              <a:spcAft>
                <a:spcPts val="600"/>
              </a:spcAft>
            </a:pPr>
            <a:r>
              <a:rPr sz="1600" b="1" i="0">
                <a:solidFill>
                  <a:srgbClr val="1E1B2E"/>
                </a:solidFill>
                <a:latin typeface="Calibri"/>
              </a:rPr>
              <a:t>Build order, plainly</a:t>
            </a:r>
          </a:p>
          <a:p>
            <a:pPr>
              <a:spcBef>
                <a:spcPts val="0"/>
              </a:spcBef>
              <a:spcAft>
                <a:spcPts val="700"/>
              </a:spcAft>
            </a:pPr>
            <a:r>
              <a:rPr sz="1500" b="1" i="0">
                <a:solidFill>
                  <a:srgbClr val="5B5BE6"/>
                </a:solidFill>
                <a:latin typeface="Calibri"/>
              </a:rPr>
              <a:t>•  </a:t>
            </a:r>
            <a:r>
              <a:rPr sz="1500" b="1" i="0">
                <a:solidFill>
                  <a:srgbClr val="444455"/>
                </a:solidFill>
                <a:latin typeface="Calibri"/>
              </a:rPr>
              <a:t>First: </a:t>
            </a:r>
            <a:r>
              <a:rPr sz="1500" b="0" i="0">
                <a:solidFill>
                  <a:srgbClr val="444455"/>
                </a:solidFill>
                <a:latin typeface="Calibri"/>
              </a:rPr>
              <a:t>Topic, Sub-topic, Level. These answer most of what people want.</a:t>
            </a:r>
          </a:p>
          <a:p>
            <a:pPr>
              <a:spcBef>
                <a:spcPts val="0"/>
              </a:spcBef>
              <a:spcAft>
                <a:spcPts val="700"/>
              </a:spcAft>
            </a:pPr>
            <a:r>
              <a:rPr sz="1500" b="1" i="0">
                <a:solidFill>
                  <a:srgbClr val="5B5BE6"/>
                </a:solidFill>
                <a:latin typeface="Calibri"/>
              </a:rPr>
              <a:t>•  </a:t>
            </a:r>
            <a:r>
              <a:rPr sz="1500" b="1" i="0">
                <a:solidFill>
                  <a:srgbClr val="444455"/>
                </a:solidFill>
                <a:latin typeface="Calibri"/>
              </a:rPr>
              <a:t>Second: </a:t>
            </a:r>
            <a:r>
              <a:rPr sz="1500" b="0" i="0">
                <a:solidFill>
                  <a:srgbClr val="444455"/>
                </a:solidFill>
                <a:latin typeface="Calibri"/>
              </a:rPr>
              <a:t>Exam tag, Usefulness, Formality.</a:t>
            </a:r>
          </a:p>
          <a:p>
            <a:pPr>
              <a:spcBef>
                <a:spcPts val="0"/>
              </a:spcBef>
              <a:spcAft>
                <a:spcPts val="700"/>
              </a:spcAft>
            </a:pPr>
            <a:r>
              <a:rPr sz="1500" b="1" i="0">
                <a:solidFill>
                  <a:srgbClr val="5B5BE6"/>
                </a:solidFill>
                <a:latin typeface="Calibri"/>
              </a:rPr>
              <a:t>•  </a:t>
            </a:r>
            <a:r>
              <a:rPr sz="1500" b="1" i="0">
                <a:solidFill>
                  <a:srgbClr val="444455"/>
                </a:solidFill>
                <a:latin typeface="Calibri"/>
              </a:rPr>
              <a:t>Last (mostly automatic): </a:t>
            </a:r>
            <a:r>
              <a:rPr sz="1500" b="0" i="0">
                <a:solidFill>
                  <a:srgbClr val="444455"/>
                </a:solidFill>
                <a:latin typeface="Calibri"/>
              </a:rPr>
              <a:t>Word type, Function, and “still learning” (which quietly powers daily review).</a:t>
            </a:r>
          </a:p>
        </p:txBody>
      </p:sp>
      <p:sp>
        <p:nvSpPr>
          <p:cNvPr id="10" name="Rounded Rectangle 9"/>
          <p:cNvSpPr/>
          <p:nvPr/>
        </p:nvSpPr>
        <p:spPr>
          <a:xfrm>
            <a:off x="548640" y="5669280"/>
            <a:ext cx="11064240" cy="77724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one to highlight</a:t>
            </a:r>
          </a:p>
          <a:p>
            <a:pPr algn="l">
              <a:spcBef>
                <a:spcPts val="0"/>
              </a:spcBef>
              <a:spcAft>
                <a:spcPts val="500"/>
              </a:spcAft>
            </a:pPr>
            <a:r>
              <a:rPr sz="1350" b="0" i="0">
                <a:solidFill>
                  <a:srgbClr val="444455"/>
                </a:solidFill>
                <a:latin typeface="Calibri"/>
              </a:rPr>
              <a:t>“Still learning” is the filter that turns a word list into a study tool: hide what you've mastered, drill what's due. Most learners never toggle it by hand, but it drives the daily review under the hood.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20  ·  HOW FILTERING WORKS (2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What makes filtering feel smart</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20</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4754880"/>
          </a:xfrm>
          <a:prstGeom prst="rect">
            <a:avLst/>
          </a:prstGeom>
          <a:noFill/>
        </p:spPr>
        <p:txBody>
          <a:bodyPr wrap="square" anchor="t" lIns="45720" rIns="45720" tIns="18288" bIns="18288">
            <a:spAutoFit/>
          </a:bodyPr>
          <a:lstStyle/>
          <a:p>
            <a:pPr>
              <a:spcBef>
                <a:spcPts val="0"/>
              </a:spcBef>
              <a:spcAft>
                <a:spcPts val="700"/>
              </a:spcAft>
            </a:pPr>
            <a:r>
              <a:rPr sz="1500" b="1" i="0">
                <a:solidFill>
                  <a:srgbClr val="5B5BE6"/>
                </a:solidFill>
                <a:latin typeface="Calibri"/>
              </a:rPr>
              <a:t>•  </a:t>
            </a:r>
            <a:r>
              <a:rPr sz="1500" b="1" i="0">
                <a:solidFill>
                  <a:srgbClr val="444455"/>
                </a:solidFill>
                <a:latin typeface="Calibri"/>
              </a:rPr>
              <a:t>Different labels narrow down. </a:t>
            </a:r>
            <a:r>
              <a:rPr sz="1500" b="0" i="0">
                <a:solidFill>
                  <a:srgbClr val="444455"/>
                </a:solidFill>
                <a:latin typeface="Calibri"/>
              </a:rPr>
              <a:t>“Behörde” + “B2” + “formal” shows only items that are all three.</a:t>
            </a:r>
          </a:p>
          <a:p>
            <a:pPr>
              <a:spcBef>
                <a:spcPts val="0"/>
              </a:spcBef>
              <a:spcAft>
                <a:spcPts val="700"/>
              </a:spcAft>
            </a:pPr>
            <a:r>
              <a:rPr sz="1500" b="1" i="0">
                <a:solidFill>
                  <a:srgbClr val="5B5BE6"/>
                </a:solidFill>
                <a:latin typeface="Calibri"/>
              </a:rPr>
              <a:t>•  </a:t>
            </a:r>
            <a:r>
              <a:rPr sz="1500" b="1" i="0">
                <a:solidFill>
                  <a:srgbClr val="444455"/>
                </a:solidFill>
                <a:latin typeface="Calibri"/>
              </a:rPr>
              <a:t>Same label widens. </a:t>
            </a:r>
            <a:r>
              <a:rPr sz="1500" b="0" i="0">
                <a:solidFill>
                  <a:srgbClr val="444455"/>
                </a:solidFill>
                <a:latin typeface="Calibri"/>
              </a:rPr>
              <a:t>Ticking both “B1” and “B2” shows either (a range).</a:t>
            </a:r>
          </a:p>
          <a:p>
            <a:pPr>
              <a:spcBef>
                <a:spcPts val="0"/>
              </a:spcBef>
              <a:spcAft>
                <a:spcPts val="700"/>
              </a:spcAft>
            </a:pPr>
            <a:r>
              <a:rPr sz="1500" b="1" i="0">
                <a:solidFill>
                  <a:srgbClr val="5B5BE6"/>
                </a:solidFill>
                <a:latin typeface="Calibri"/>
              </a:rPr>
              <a:t>•  </a:t>
            </a:r>
            <a:r>
              <a:rPr sz="1500" b="1" i="0">
                <a:solidFill>
                  <a:srgbClr val="444455"/>
                </a:solidFill>
                <a:latin typeface="Calibri"/>
              </a:rPr>
              <a:t>Always show counts. </a:t>
            </a:r>
            <a:r>
              <a:rPr sz="1500" b="0" i="0">
                <a:solidFill>
                  <a:srgbClr val="444455"/>
                </a:solidFill>
                <a:latin typeface="Calibri"/>
              </a:rPr>
              <a:t>Every option says how many items it'll show (“Formal (12)”), and impossible options are greyed out. This one detail is the difference between guided and frustrating.</a:t>
            </a:r>
          </a:p>
          <a:p>
            <a:pPr>
              <a:spcBef>
                <a:spcPts val="0"/>
              </a:spcBef>
              <a:spcAft>
                <a:spcPts val="700"/>
              </a:spcAft>
            </a:pPr>
            <a:r>
              <a:rPr sz="1500" b="1" i="0">
                <a:solidFill>
                  <a:srgbClr val="5B5BE6"/>
                </a:solidFill>
                <a:latin typeface="Calibri"/>
              </a:rPr>
              <a:t>•  </a:t>
            </a:r>
            <a:r>
              <a:rPr sz="1500" b="1" i="0">
                <a:solidFill>
                  <a:srgbClr val="444455"/>
                </a:solidFill>
                <a:latin typeface="Calibri"/>
              </a:rPr>
              <a:t>Never a blank screen. </a:t>
            </a:r>
            <a:r>
              <a:rPr sz="1500" b="0" i="0">
                <a:solidFill>
                  <a:srgbClr val="444455"/>
                </a:solidFill>
                <a:latin typeface="Calibri"/>
              </a:rPr>
              <a:t>If a combination has nothing, show “Nothing here yet. Nearest: 8 items at B2.2,” not an empty page.</a:t>
            </a:r>
          </a:p>
        </p:txBody>
      </p:sp>
      <p:sp>
        <p:nvSpPr>
          <p:cNvPr id="9" name="Rounded Rectangle 8"/>
          <p:cNvSpPr/>
          <p:nvPr/>
        </p:nvSpPr>
        <p:spPr>
          <a:xfrm>
            <a:off x="548640" y="4572000"/>
            <a:ext cx="11064240" cy="182880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A quiet bonus: shareable links</a:t>
            </a:r>
          </a:p>
          <a:p>
            <a:pPr algn="l">
              <a:spcBef>
                <a:spcPts val="0"/>
              </a:spcBef>
              <a:spcAft>
                <a:spcPts val="500"/>
              </a:spcAft>
            </a:pPr>
            <a:r>
              <a:rPr sz="1350" b="0" i="0">
                <a:solidFill>
                  <a:srgbClr val="444455"/>
                </a:solidFill>
                <a:latin typeface="Calibri"/>
              </a:rPr>
              <a:t>Each filtered view lives in its web address, so “formal B2 Behörde words” becomes a link the learner can bookmark, and the writing coach can deep-link straight to the right practice set. Empty combinations also double as a to-do list for us: they show exactly what content to write next.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21  ·  HOW FILTERING WORKS (3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Same filters, sized to the screen</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21</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2834640"/>
        </p:xfrm>
        <a:graphic>
          <a:graphicData uri="http://schemas.openxmlformats.org/drawingml/2006/table">
            <a:tbl>
              <a:tblPr>
                <a:tableStyleId>{5C22544A-7EE6-4342-B048-85BDC9FD1C3A}</a:tableStyleId>
              </a:tblPr>
              <a:tblGrid>
                <a:gridCol w="2377440"/>
                <a:gridCol w="8686800"/>
              </a:tblGrid>
              <a:tr h="566928">
                <a:tc>
                  <a:txBody>
                    <a:bodyPr/>
                    <a:lstStyle/>
                    <a:p>
                      <a:pPr>
                        <a:spcAft>
                          <a:spcPts val="0"/>
                        </a:spcAft>
                      </a:pPr>
                      <a:r>
                        <a:rPr sz="1100" b="1" i="0">
                          <a:solidFill>
                            <a:srgbClr val="FFFFFF"/>
                          </a:solidFill>
                          <a:latin typeface="Calibri"/>
                        </a:rPr>
                        <a:t>Where</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What it looks like</a:t>
                      </a:r>
                    </a:p>
                  </a:txBody>
                  <a:tcPr marL="73152" marR="54864" marT="27432" marB="27432" anchor="ctr">
                    <a:solidFill>
                      <a:srgbClr val="5B5BE6"/>
                    </a:solidFill>
                  </a:tcPr>
                </a:tc>
              </a:tr>
              <a:tr h="566928">
                <a:tc>
                  <a:txBody>
                    <a:bodyPr/>
                    <a:lstStyle/>
                    <a:p>
                      <a:pPr>
                        <a:spcAft>
                          <a:spcPts val="0"/>
                        </a:spcAft>
                      </a:pPr>
                      <a:r>
                        <a:rPr sz="1300" b="1" i="0">
                          <a:solidFill>
                            <a:srgbClr val="1E1B2E"/>
                          </a:solidFill>
                          <a:latin typeface="Calibri"/>
                        </a:rPr>
                        <a:t>On a phone</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A row of filter chips at the top; “More” opens a slide-up sheet (slide 17)</a:t>
                      </a:r>
                    </a:p>
                  </a:txBody>
                  <a:tcPr marL="73152" marR="54864" marT="27432" marB="27432" anchor="ctr">
                    <a:solidFill>
                      <a:srgbClr val="FFFFFF"/>
                    </a:solidFill>
                  </a:tcPr>
                </a:tc>
              </a:tr>
              <a:tr h="566928">
                <a:tc>
                  <a:txBody>
                    <a:bodyPr/>
                    <a:lstStyle/>
                    <a:p>
                      <a:pPr>
                        <a:spcAft>
                          <a:spcPts val="0"/>
                        </a:spcAft>
                      </a:pPr>
                      <a:r>
                        <a:rPr sz="1300" b="1" i="0">
                          <a:solidFill>
                            <a:srgbClr val="1E1B2E"/>
                          </a:solidFill>
                          <a:latin typeface="Calibri"/>
                        </a:rPr>
                        <a:t>On a desktop</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A filter column down the left side with checkboxes and counts</a:t>
                      </a:r>
                    </a:p>
                  </a:txBody>
                  <a:tcPr marL="73152" marR="54864" marT="27432" marB="27432" anchor="ctr">
                    <a:solidFill>
                      <a:srgbClr val="F7F6FC"/>
                    </a:solidFill>
                  </a:tcPr>
                </a:tc>
              </a:tr>
              <a:tr h="566928">
                <a:tc>
                  <a:txBody>
                    <a:bodyPr/>
                    <a:lstStyle/>
                    <a:p>
                      <a:pPr>
                        <a:spcAft>
                          <a:spcPts val="0"/>
                        </a:spcAft>
                      </a:pPr>
                      <a:r>
                        <a:rPr sz="1300" b="1" i="0">
                          <a:solidFill>
                            <a:srgbClr val="1E1B2E"/>
                          </a:solidFill>
                          <a:latin typeface="Calibri"/>
                        </a:rPr>
                        <a:t>Search box</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Type anything; searches keywords and goals, narrowed by your active filters</a:t>
                      </a:r>
                    </a:p>
                  </a:txBody>
                  <a:tcPr marL="73152" marR="54864" marT="27432" marB="27432" anchor="ctr">
                    <a:solidFill>
                      <a:srgbClr val="FFFFFF"/>
                    </a:solidFill>
                  </a:tcPr>
                </a:tc>
              </a:tr>
              <a:tr h="566928">
                <a:tc>
                  <a:txBody>
                    <a:bodyPr/>
                    <a:lstStyle/>
                    <a:p>
                      <a:pPr>
                        <a:spcAft>
                          <a:spcPts val="0"/>
                        </a:spcAft>
                      </a:pPr>
                      <a:r>
                        <a:rPr sz="1300" b="1" i="0">
                          <a:solidFill>
                            <a:srgbClr val="1E1B2E"/>
                          </a:solidFill>
                          <a:latin typeface="Calibri"/>
                        </a:rPr>
                        <a:t>Goal cards</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Dashboard “starting points” that pre-set a bundle of filters (slide 14)</a:t>
                      </a:r>
                    </a:p>
                  </a:txBody>
                  <a:tcPr marL="73152" marR="54864" marT="27432" marB="27432" anchor="ctr">
                    <a:solidFill>
                      <a:srgbClr val="F7F6FC"/>
                    </a:solidFill>
                  </a:tcPr>
                </a:tc>
              </a:tr>
            </a:tbl>
          </a:graphicData>
        </a:graphic>
      </p:graphicFrame>
      <p:sp>
        <p:nvSpPr>
          <p:cNvPr id="9" name="Rounded Rectangle 8"/>
          <p:cNvSpPr/>
          <p:nvPr/>
        </p:nvSpPr>
        <p:spPr>
          <a:xfrm>
            <a:off x="548640" y="4572000"/>
            <a:ext cx="11064240" cy="18288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The principle that ties it together: show complexity gradually</a:t>
            </a:r>
          </a:p>
          <a:p>
            <a:pPr algn="l">
              <a:spcBef>
                <a:spcPts val="0"/>
              </a:spcBef>
              <a:spcAft>
                <a:spcPts val="500"/>
              </a:spcAft>
            </a:pPr>
            <a:r>
              <a:rPr sz="1350" b="0" i="0">
                <a:solidFill>
                  <a:srgbClr val="444455"/>
                </a:solidFill>
                <a:latin typeface="Calibri"/>
              </a:rPr>
              <a:t>A first-timer sees two filters and a goal card. A power user opens “Advanced” and slices by formality, word type and progress. Same underlying data, complexity revealed only as the learner asks for it. We never dump eight filters on a beginner.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22  ·  HOW FILTERING WORKS (4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filters that know YOU</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22</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914400"/>
          </a:xfrm>
          <a:prstGeom prst="rect">
            <a:avLst/>
          </a:prstGeom>
          <a:noFill/>
        </p:spPr>
        <p:txBody>
          <a:bodyPr wrap="square" anchor="t" lIns="45720" rIns="45720" tIns="18288" bIns="18288">
            <a:spAutoFit/>
          </a:bodyPr>
          <a:lstStyle/>
          <a:p>
            <a:pPr algn="l">
              <a:spcBef>
                <a:spcPts val="0"/>
              </a:spcBef>
              <a:spcAft>
                <a:spcPts val="600"/>
              </a:spcAft>
            </a:pPr>
            <a:r>
              <a:rPr sz="1450" b="0" i="0">
                <a:solidFill>
                  <a:srgbClr val="444455"/>
                </a:solidFill>
                <a:latin typeface="Calibri"/>
              </a:rPr>
              <a:t>The most powerful filters aren't about the content, they're about your relationship to it. The app already tracks these; today it just doesn't let you filter on them.</a:t>
            </a:r>
          </a:p>
        </p:txBody>
      </p:sp>
      <p:graphicFrame>
        <p:nvGraphicFramePr>
          <p:cNvPr id="9" name="Table 8"/>
          <p:cNvGraphicFramePr>
            <a:graphicFrameLocks noGrp="1"/>
          </p:cNvGraphicFramePr>
          <p:nvPr/>
        </p:nvGraphicFramePr>
        <p:xfrm>
          <a:off x="548640" y="2606040"/>
          <a:ext cx="11064240" cy="2286000"/>
        </p:xfrm>
        <a:graphic>
          <a:graphicData uri="http://schemas.openxmlformats.org/drawingml/2006/table">
            <a:tbl>
              <a:tblPr>
                <a:tableStyleId>{5C22544A-7EE6-4342-B048-85BDC9FD1C3A}</a:tableStyleId>
              </a:tblPr>
              <a:tblGrid>
                <a:gridCol w="4114800"/>
                <a:gridCol w="6949440"/>
              </a:tblGrid>
              <a:tr h="457200">
                <a:tc>
                  <a:txBody>
                    <a:bodyPr/>
                    <a:lstStyle/>
                    <a:p>
                      <a:pPr>
                        <a:spcAft>
                          <a:spcPts val="0"/>
                        </a:spcAft>
                      </a:pPr>
                      <a:r>
                        <a:rPr sz="1100" b="1" i="0">
                          <a:solidFill>
                            <a:srgbClr val="FFFFFF"/>
                          </a:solidFill>
                          <a:latin typeface="Calibri"/>
                        </a:rPr>
                        <a:t>Personal filter</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Powers</a:t>
                      </a:r>
                    </a:p>
                  </a:txBody>
                  <a:tcPr marL="73152" marR="54864" marT="27432" marB="27432" anchor="ctr">
                    <a:solidFill>
                      <a:srgbClr val="5B5BE6"/>
                    </a:solidFill>
                  </a:tcPr>
                </a:tc>
              </a:tr>
              <a:tr h="457200">
                <a:tc>
                  <a:txBody>
                    <a:bodyPr/>
                    <a:lstStyle/>
                    <a:p>
                      <a:pPr>
                        <a:spcAft>
                          <a:spcPts val="0"/>
                        </a:spcAft>
                      </a:pPr>
                      <a:r>
                        <a:rPr sz="1250" b="1" i="0">
                          <a:solidFill>
                            <a:srgbClr val="1E1B2E"/>
                          </a:solidFill>
                          <a:latin typeface="Calibri"/>
                        </a:rPr>
                        <a:t>Mastered / learning / new</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“Hide what I know”, “drill my weak ones”</a:t>
                      </a:r>
                    </a:p>
                  </a:txBody>
                  <a:tcPr marL="73152" marR="54864" marT="27432" marB="27432" anchor="ctr">
                    <a:solidFill>
                      <a:srgbClr val="FFFFFF"/>
                    </a:solidFill>
                  </a:tcPr>
                </a:tc>
              </a:tr>
              <a:tr h="457200">
                <a:tc>
                  <a:txBody>
                    <a:bodyPr/>
                    <a:lstStyle/>
                    <a:p>
                      <a:pPr>
                        <a:spcAft>
                          <a:spcPts val="0"/>
                        </a:spcAft>
                      </a:pPr>
                      <a:r>
                        <a:rPr sz="1250" b="1" i="0">
                          <a:solidFill>
                            <a:srgbClr val="1E1B2E"/>
                          </a:solidFill>
                          <a:latin typeface="Calibri"/>
                        </a:rPr>
                        <a:t>Due for review today</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The daily review queue</a:t>
                      </a:r>
                    </a:p>
                  </a:txBody>
                  <a:tcPr marL="73152" marR="54864" marT="27432" marB="27432" anchor="ctr">
                    <a:solidFill>
                      <a:srgbClr val="F7F6FC"/>
                    </a:solidFill>
                  </a:tcPr>
                </a:tc>
              </a:tr>
              <a:tr h="457200">
                <a:tc>
                  <a:txBody>
                    <a:bodyPr/>
                    <a:lstStyle/>
                    <a:p>
                      <a:pPr>
                        <a:spcAft>
                          <a:spcPts val="0"/>
                        </a:spcAft>
                      </a:pPr>
                      <a:r>
                        <a:rPr sz="1250" b="1" i="0">
                          <a:solidFill>
                            <a:srgbClr val="1E1B2E"/>
                          </a:solidFill>
                          <a:latin typeface="Calibri"/>
                        </a:rPr>
                        <a:t>Your weak grammar areas</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“Practice your cases” shortcuts from the writing coach</a:t>
                      </a:r>
                    </a:p>
                  </a:txBody>
                  <a:tcPr marL="73152" marR="54864" marT="27432" marB="27432" anchor="ctr">
                    <a:solidFill>
                      <a:srgbClr val="FFFFFF"/>
                    </a:solidFill>
                  </a:tcPr>
                </a:tc>
              </a:tr>
              <a:tr h="457200">
                <a:tc>
                  <a:txBody>
                    <a:bodyPr/>
                    <a:lstStyle/>
                    <a:p>
                      <a:pPr>
                        <a:spcAft>
                          <a:spcPts val="0"/>
                        </a:spcAft>
                      </a:pPr>
                      <a:r>
                        <a:rPr sz="1250" b="1" i="0">
                          <a:solidFill>
                            <a:srgbClr val="1E1B2E"/>
                          </a:solidFill>
                          <a:latin typeface="Calibri"/>
                        </a:rPr>
                        <a:t>Never opened</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“New to me” discovery</a:t>
                      </a:r>
                    </a:p>
                  </a:txBody>
                  <a:tcPr marL="73152" marR="54864" marT="27432" marB="27432" anchor="ctr">
                    <a:solidFill>
                      <a:srgbClr val="F7F6FC"/>
                    </a:solidFill>
                  </a:tcPr>
                </a:tc>
              </a:tr>
            </a:tbl>
          </a:graphicData>
        </a:graphic>
      </p:graphicFrame>
      <p:sp>
        <p:nvSpPr>
          <p:cNvPr id="10" name="Rounded Rectangle 9"/>
          <p:cNvSpPr/>
          <p:nvPr/>
        </p:nvSpPr>
        <p:spPr>
          <a:xfrm>
            <a:off x="548640" y="5074920"/>
            <a:ext cx="11064240" cy="141732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This is where it pays off for AI</a:t>
            </a:r>
          </a:p>
          <a:p>
            <a:pPr algn="l">
              <a:spcBef>
                <a:spcPts val="0"/>
              </a:spcBef>
              <a:spcAft>
                <a:spcPts val="500"/>
              </a:spcAft>
            </a:pPr>
            <a:r>
              <a:rPr sz="1350" b="0" i="0">
                <a:solidFill>
                  <a:srgbClr val="444455"/>
                </a:solidFill>
                <a:latin typeface="Calibri"/>
              </a:rPr>
              <a:t>Once content wears clean labels, an adaptive engine can build a session as a simple search: “12 items due, leaning on the negotiation phrases you keep missing, from the topic you started yesterday.” Without labels the engine is blind. With them, smart personalization is just filtering with good defaults.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23  ·  ACROSS THE 4 MODULES</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One backbone, a few module-specific labels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23</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685800"/>
          </a:xfrm>
          <a:prstGeom prst="rect">
            <a:avLst/>
          </a:prstGeom>
          <a:noFill/>
        </p:spPr>
        <p:txBody>
          <a:bodyPr wrap="square" anchor="t" lIns="45720" rIns="45720" tIns="18288" bIns="18288">
            <a:spAutoFit/>
          </a:bodyPr>
          <a:lstStyle/>
          <a:p>
            <a:pPr algn="l">
              <a:spcBef>
                <a:spcPts val="0"/>
              </a:spcBef>
              <a:spcAft>
                <a:spcPts val="600"/>
              </a:spcAft>
            </a:pPr>
            <a:r>
              <a:rPr sz="1450" b="1" i="0">
                <a:solidFill>
                  <a:srgbClr val="1E1B2E"/>
                </a:solidFill>
                <a:latin typeface="Calibri"/>
              </a:rPr>
              <a:t>Should all four modules share one system? Mostly yes, a shared backbone, plus the one or two labels each module uniquely needs.</a:t>
            </a:r>
          </a:p>
        </p:txBody>
      </p:sp>
      <p:graphicFrame>
        <p:nvGraphicFramePr>
          <p:cNvPr id="9" name="Table 8"/>
          <p:cNvGraphicFramePr>
            <a:graphicFrameLocks noGrp="1"/>
          </p:cNvGraphicFramePr>
          <p:nvPr/>
        </p:nvGraphicFramePr>
        <p:xfrm>
          <a:off x="548640" y="2331720"/>
          <a:ext cx="11064240" cy="2688336"/>
        </p:xfrm>
        <a:graphic>
          <a:graphicData uri="http://schemas.openxmlformats.org/drawingml/2006/table">
            <a:tbl>
              <a:tblPr>
                <a:tableStyleId>{5C22544A-7EE6-4342-B048-85BDC9FD1C3A}</a:tableStyleId>
              </a:tblPr>
              <a:tblGrid>
                <a:gridCol w="2926080"/>
                <a:gridCol w="1828800"/>
                <a:gridCol w="1920240"/>
                <a:gridCol w="2560320"/>
                <a:gridCol w="1828800"/>
              </a:tblGrid>
              <a:tr h="384048">
                <a:tc>
                  <a:txBody>
                    <a:bodyPr/>
                    <a:lstStyle/>
                    <a:p>
                      <a:pPr>
                        <a:spcAft>
                          <a:spcPts val="0"/>
                        </a:spcAft>
                      </a:pPr>
                      <a:r>
                        <a:rPr sz="1100" b="1" i="0">
                          <a:solidFill>
                            <a:srgbClr val="FFFFFF"/>
                          </a:solidFill>
                          <a:latin typeface="Calibri"/>
                        </a:rPr>
                        <a:t>Label</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Vocabulary</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Collocations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Redemittel (phrases)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Writing</a:t>
                      </a:r>
                    </a:p>
                  </a:txBody>
                  <a:tcPr marL="73152" marR="54864" marT="27432" marB="27432" anchor="ctr">
                    <a:solidFill>
                      <a:srgbClr val="5B5BE6"/>
                    </a:solidFill>
                  </a:tcPr>
                </a:tc>
              </a:tr>
              <a:tr h="384048">
                <a:tc>
                  <a:txBody>
                    <a:bodyPr/>
                    <a:lstStyle/>
                    <a:p>
                      <a:pPr>
                        <a:spcAft>
                          <a:spcPts val="0"/>
                        </a:spcAft>
                      </a:pPr>
                      <a:r>
                        <a:rPr sz="1150" b="1" i="0">
                          <a:solidFill>
                            <a:srgbClr val="1E1B2E"/>
                          </a:solidFill>
                          <a:latin typeface="Calibri"/>
                        </a:rPr>
                        <a:t>Topic / Sub-topic</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main</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main</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secondary</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main</a:t>
                      </a:r>
                    </a:p>
                  </a:txBody>
                  <a:tcPr marL="73152" marR="54864" marT="27432" marB="27432" anchor="ctr">
                    <a:solidFill>
                      <a:srgbClr val="FFFFFF"/>
                    </a:solidFill>
                  </a:tcPr>
                </a:tc>
              </a:tr>
              <a:tr h="384048">
                <a:tc>
                  <a:txBody>
                    <a:bodyPr/>
                    <a:lstStyle/>
                    <a:p>
                      <a:pPr>
                        <a:spcAft>
                          <a:spcPts val="0"/>
                        </a:spcAft>
                      </a:pPr>
                      <a:r>
                        <a:rPr sz="1150" b="1" i="0">
                          <a:solidFill>
                            <a:srgbClr val="1E1B2E"/>
                          </a:solidFill>
                          <a:latin typeface="Calibri"/>
                        </a:rPr>
                        <a:t>Level</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 (of the task)</a:t>
                      </a:r>
                    </a:p>
                  </a:txBody>
                  <a:tcPr marL="73152" marR="54864" marT="27432" marB="27432" anchor="ctr">
                    <a:solidFill>
                      <a:srgbClr val="F7F6FC"/>
                    </a:solidFill>
                  </a:tcPr>
                </a:tc>
              </a:tr>
              <a:tr h="384048">
                <a:tc>
                  <a:txBody>
                    <a:bodyPr/>
                    <a:lstStyle/>
                    <a:p>
                      <a:pPr>
                        <a:spcAft>
                          <a:spcPts val="0"/>
                        </a:spcAft>
                      </a:pPr>
                      <a:r>
                        <a:rPr sz="1150" b="1" i="0">
                          <a:solidFill>
                            <a:srgbClr val="1E1B2E"/>
                          </a:solidFill>
                          <a:latin typeface="Calibri"/>
                        </a:rPr>
                        <a:t>Formality</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 (has it)</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 (has it)</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 (target)</a:t>
                      </a:r>
                    </a:p>
                  </a:txBody>
                  <a:tcPr marL="73152" marR="54864" marT="27432" marB="27432" anchor="ctr">
                    <a:solidFill>
                      <a:srgbClr val="FFFFFF"/>
                    </a:solidFill>
                  </a:tcPr>
                </a:tc>
              </a:tr>
              <a:tr h="384048">
                <a:tc>
                  <a:txBody>
                    <a:bodyPr/>
                    <a:lstStyle/>
                    <a:p>
                      <a:pPr>
                        <a:spcAft>
                          <a:spcPts val="0"/>
                        </a:spcAft>
                      </a:pPr>
                      <a:r>
                        <a:rPr sz="1150" b="1" i="0">
                          <a:solidFill>
                            <a:srgbClr val="1E1B2E"/>
                          </a:solidFill>
                          <a:latin typeface="Calibri"/>
                        </a:rPr>
                        <a:t>Function (agree/suggest…)</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MAIN (has it)</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r>
              <a:tr h="384048">
                <a:tc>
                  <a:txBody>
                    <a:bodyPr/>
                    <a:lstStyle/>
                    <a:p>
                      <a:pPr>
                        <a:spcAft>
                          <a:spcPts val="0"/>
                        </a:spcAft>
                      </a:pPr>
                      <a:r>
                        <a:rPr sz="1150" b="1" i="0">
                          <a:solidFill>
                            <a:srgbClr val="1E1B2E"/>
                          </a:solidFill>
                          <a:latin typeface="Calibri"/>
                        </a:rPr>
                        <a:t>Word type</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FFFFF"/>
                    </a:solidFill>
                  </a:tcPr>
                </a:tc>
              </a:tr>
              <a:tr h="384048">
                <a:tc>
                  <a:txBody>
                    <a:bodyPr/>
                    <a:lstStyle/>
                    <a:p>
                      <a:pPr>
                        <a:spcAft>
                          <a:spcPts val="0"/>
                        </a:spcAft>
                      </a:pPr>
                      <a:r>
                        <a:rPr sz="1150" b="1" i="0">
                          <a:solidFill>
                            <a:srgbClr val="1E1B2E"/>
                          </a:solidFill>
                          <a:latin typeface="Calibri"/>
                        </a:rPr>
                        <a:t>Exam tag</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MAIN (task type)</a:t>
                      </a:r>
                    </a:p>
                  </a:txBody>
                  <a:tcPr marL="73152" marR="54864" marT="27432" marB="27432" anchor="ctr">
                    <a:solidFill>
                      <a:srgbClr val="F7F6FC"/>
                    </a:solidFill>
                  </a:tcPr>
                </a:tc>
              </a:tr>
            </a:tbl>
          </a:graphicData>
        </a:graphic>
      </p:graphicFrame>
      <p:sp>
        <p:nvSpPr>
          <p:cNvPr id="10" name="Rounded Rectangle 9"/>
          <p:cNvSpPr/>
          <p:nvPr/>
        </p:nvSpPr>
        <p:spPr>
          <a:xfrm>
            <a:off x="548640" y="5394960"/>
            <a:ext cx="11064240" cy="109728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key insight</a:t>
            </a:r>
          </a:p>
          <a:p>
            <a:pPr algn="l">
              <a:spcBef>
                <a:spcPts val="0"/>
              </a:spcBef>
              <a:spcAft>
                <a:spcPts val="500"/>
              </a:spcAft>
            </a:pPr>
            <a:r>
              <a:rPr sz="1350" b="0" i="0">
                <a:solidFill>
                  <a:srgbClr val="444455"/>
                </a:solidFill>
                <a:latin typeface="Calibri"/>
              </a:rPr>
              <a:t>Phrases (Redemittel) are best sorted by what they're FOR (agree, negotiate), not by topic, and they already are in our code. Don't force them under topics; just add topic as an extra label. Writing tasks are best sorted by exam task type. Respect each module's natural primary label; share everything else.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24  ·  ACROSS THE 4 MODULES</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What to lock down vs. let vary</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24</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572768"/>
            <a:ext cx="5440680" cy="41148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Lock down (one shared definition)</a:t>
            </a:r>
          </a:p>
          <a:p>
            <a:pPr algn="l">
              <a:spcBef>
                <a:spcPts val="0"/>
              </a:spcBef>
              <a:spcAft>
                <a:spcPts val="300"/>
              </a:spcAft>
            </a:pPr>
            <a:r>
              <a:rPr sz="1350" b="0" i="0">
                <a:solidFill>
                  <a:srgbClr val="444455"/>
                </a:solidFill>
                <a:latin typeface="Calibri"/>
              </a:rPr>
              <a:t>•  The topic tree – one master list every module points at. This is what links words to phrases to writing.</a:t>
            </a:r>
          </a:p>
          <a:p>
            <a:pPr algn="l">
              <a:spcBef>
                <a:spcPts val="0"/>
              </a:spcBef>
              <a:spcAft>
                <a:spcPts val="200"/>
              </a:spcAft>
            </a:pPr>
            <a:r>
              <a:rPr sz="1350" b="0" i="0">
                <a:solidFill>
                  <a:srgbClr val="444455"/>
                </a:solidFill>
                <a:latin typeface="Calibri"/>
              </a:rPr>
              <a:t> </a:t>
            </a:r>
          </a:p>
          <a:p>
            <a:pPr algn="l">
              <a:spcBef>
                <a:spcPts val="0"/>
              </a:spcBef>
              <a:spcAft>
                <a:spcPts val="300"/>
              </a:spcAft>
            </a:pPr>
            <a:r>
              <a:rPr sz="1350" b="0" i="0">
                <a:solidFill>
                  <a:srgbClr val="444455"/>
                </a:solidFill>
                <a:latin typeface="Calibri"/>
              </a:rPr>
              <a:t>•  The level scale – one A1–C2 ladder used identically everywhere. (Today the quiz uses a private “1–2–3”; fold it into the real levels.)</a:t>
            </a:r>
          </a:p>
          <a:p>
            <a:pPr algn="l">
              <a:spcBef>
                <a:spcPts val="0"/>
              </a:spcBef>
              <a:spcAft>
                <a:spcPts val="200"/>
              </a:spcAft>
            </a:pPr>
            <a:r>
              <a:rPr sz="1350" b="0" i="0">
                <a:solidFill>
                  <a:srgbClr val="444455"/>
                </a:solidFill>
                <a:latin typeface="Calibri"/>
              </a:rPr>
              <a:t> </a:t>
            </a:r>
          </a:p>
          <a:p>
            <a:pPr algn="l">
              <a:spcBef>
                <a:spcPts val="0"/>
              </a:spcBef>
              <a:spcAft>
                <a:spcPts val="300"/>
              </a:spcAft>
            </a:pPr>
            <a:r>
              <a:rPr sz="1350" b="0" i="0">
                <a:solidFill>
                  <a:srgbClr val="444455"/>
                </a:solidFill>
                <a:latin typeface="Calibri"/>
              </a:rPr>
              <a:t>•  Formality – one shared list. Collocations use 2 values, phrases use 3; unify to the bigger set so a “formal” filter means the same thing everywhere.</a:t>
            </a:r>
          </a:p>
        </p:txBody>
      </p:sp>
      <p:sp>
        <p:nvSpPr>
          <p:cNvPr id="9" name="Rounded Rectangle 8"/>
          <p:cNvSpPr/>
          <p:nvPr/>
        </p:nvSpPr>
        <p:spPr>
          <a:xfrm>
            <a:off x="6217920" y="1572768"/>
            <a:ext cx="5440680" cy="411480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Let vary (each module's own)</a:t>
            </a:r>
          </a:p>
          <a:p>
            <a:pPr algn="l">
              <a:spcBef>
                <a:spcPts val="0"/>
              </a:spcBef>
              <a:spcAft>
                <a:spcPts val="300"/>
              </a:spcAft>
            </a:pPr>
            <a:r>
              <a:rPr sz="1350" b="0" i="0">
                <a:solidFill>
                  <a:srgbClr val="444455"/>
                </a:solidFill>
                <a:latin typeface="Calibri"/>
              </a:rPr>
              <a:t>•  Each module's MAIN sorting label – topic for words, function for phrases, task type for writing.</a:t>
            </a:r>
          </a:p>
          <a:p>
            <a:pPr algn="l">
              <a:spcBef>
                <a:spcPts val="0"/>
              </a:spcBef>
              <a:spcAft>
                <a:spcPts val="200"/>
              </a:spcAft>
            </a:pPr>
            <a:r>
              <a:rPr sz="1350" b="0" i="0">
                <a:solidFill>
                  <a:srgbClr val="444455"/>
                </a:solidFill>
                <a:latin typeface="Calibri"/>
              </a:rPr>
              <a:t> </a:t>
            </a:r>
          </a:p>
          <a:p>
            <a:pPr algn="l">
              <a:spcBef>
                <a:spcPts val="0"/>
              </a:spcBef>
              <a:spcAft>
                <a:spcPts val="300"/>
              </a:spcAft>
            </a:pPr>
            <a:r>
              <a:rPr sz="1350" b="0" i="0">
                <a:solidFill>
                  <a:srgbClr val="444455"/>
                </a:solidFill>
                <a:latin typeface="Calibri"/>
              </a:rPr>
              <a:t>•  Labels only that module needs – word type for vocabulary, task type for writing.</a:t>
            </a:r>
          </a:p>
          <a:p>
            <a:pPr algn="l">
              <a:spcBef>
                <a:spcPts val="0"/>
              </a:spcBef>
              <a:spcAft>
                <a:spcPts val="200"/>
              </a:spcAft>
            </a:pPr>
            <a:r>
              <a:rPr sz="1350" b="0" i="0">
                <a:solidFill>
                  <a:srgbClr val="444455"/>
                </a:solidFill>
                <a:latin typeface="Calibri"/>
              </a:rPr>
              <a:t> </a:t>
            </a:r>
          </a:p>
          <a:p>
            <a:pPr algn="l">
              <a:spcBef>
                <a:spcPts val="0"/>
              </a:spcBef>
              <a:spcAft>
                <a:spcPts val="500"/>
              </a:spcAft>
            </a:pPr>
            <a:r>
              <a:rPr sz="1350" b="0" i="0">
                <a:solidFill>
                  <a:srgbClr val="444455"/>
                </a:solidFill>
                <a:latin typeface="Calibri"/>
              </a:rPr>
              <a:t>Rule of thumb: lock it down the moment a learner might want to filter across modules on it (level, topic, formality, exam). Keep it private only if it's meaningless elsewhere.</a:t>
            </a:r>
          </a:p>
        </p:txBody>
      </p:sp>
      <p:sp>
        <p:nvSpPr>
          <p:cNvPr id="10" name="Rounded Rectangle 9"/>
          <p:cNvSpPr/>
          <p:nvPr/>
        </p:nvSpPr>
        <p:spPr>
          <a:xfrm>
            <a:off x="548640" y="5897880"/>
            <a:ext cx="11064240" cy="640080"/>
          </a:xfrm>
          <a:prstGeom prst="roundRect">
            <a:avLst/>
          </a:prstGeom>
          <a:solidFill>
            <a:srgbClr val="FBF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C06A2A"/>
                </a:solidFill>
                <a:latin typeface="Calibri"/>
              </a:rPr>
              <a:t>One concrete cleanup this unlocks</a:t>
            </a:r>
          </a:p>
          <a:p>
            <a:pPr algn="l">
              <a:spcBef>
                <a:spcPts val="0"/>
              </a:spcBef>
              <a:spcAft>
                <a:spcPts val="500"/>
              </a:spcAft>
            </a:pPr>
            <a:r>
              <a:rPr sz="1300" b="0" i="0">
                <a:solidFill>
                  <a:srgbClr val="444455"/>
                </a:solidFill>
                <a:latin typeface="Calibri"/>
              </a:rPr>
              <a:t>Right now “level” is invisible on content and the quiz secretly uses its own 1-2-3 scale. Merging onto one real level scale is the single highest-leverage tidy-up in the whole plan.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0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C06A2A"/>
                </a:solidFill>
                <a:latin typeface="Calibri"/>
              </a:rPr>
              <a:t>SLIDE 25  ·  HONEST TRADEOFFS</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What could go wrong, and the answer</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25</a:t>
            </a:r>
          </a:p>
        </p:txBody>
      </p:sp>
      <p:sp>
        <p:nvSpPr>
          <p:cNvPr id="7" name="Rectangle 6"/>
          <p:cNvSpPr/>
          <p:nvPr/>
        </p:nvSpPr>
        <p:spPr>
          <a:xfrm>
            <a:off x="502920" y="1335024"/>
            <a:ext cx="1920240" cy="36576"/>
          </a:xfrm>
          <a:prstGeom prst="rect">
            <a:avLst/>
          </a:prstGeom>
          <a:solidFill>
            <a:srgbClr val="C0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4059936"/>
        </p:xfrm>
        <a:graphic>
          <a:graphicData uri="http://schemas.openxmlformats.org/drawingml/2006/table">
            <a:tbl>
              <a:tblPr>
                <a:tableStyleId>{5C22544A-7EE6-4342-B048-85BDC9FD1C3A}</a:tableStyleId>
              </a:tblPr>
              <a:tblGrid>
                <a:gridCol w="3840480"/>
                <a:gridCol w="1463040"/>
                <a:gridCol w="5760720"/>
              </a:tblGrid>
              <a:tr h="676656">
                <a:tc>
                  <a:txBody>
                    <a:bodyPr/>
                    <a:lstStyle/>
                    <a:p>
                      <a:pPr>
                        <a:spcAft>
                          <a:spcPts val="0"/>
                        </a:spcAft>
                      </a:pPr>
                      <a:r>
                        <a:rPr sz="1100" b="1" i="0">
                          <a:solidFill>
                            <a:srgbClr val="FFFFFF"/>
                          </a:solidFill>
                          <a:latin typeface="Calibri"/>
                        </a:rPr>
                        <a:t>Risk</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How real</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Our answer</a:t>
                      </a:r>
                    </a:p>
                  </a:txBody>
                  <a:tcPr marL="73152" marR="54864" marT="27432" marB="27432" anchor="ctr">
                    <a:solidFill>
                      <a:srgbClr val="5B5BE6"/>
                    </a:solidFill>
                  </a:tcPr>
                </a:tc>
              </a:tr>
              <a:tr h="676656">
                <a:tc>
                  <a:txBody>
                    <a:bodyPr/>
                    <a:lstStyle/>
                    <a:p>
                      <a:pPr>
                        <a:spcAft>
                          <a:spcPts val="0"/>
                        </a:spcAft>
                      </a:pPr>
                      <a:r>
                        <a:rPr sz="1150" b="1" i="0">
                          <a:solidFill>
                            <a:srgbClr val="1E1B2E"/>
                          </a:solidFill>
                          <a:latin typeface="Calibri"/>
                        </a:rPr>
                        <a:t>Re-labeling ~660 existing items is work</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Medium</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Every new label is optional and rolls up; back-fill topic-by-topic, AI drafts + human checks</a:t>
                      </a:r>
                    </a:p>
                  </a:txBody>
                  <a:tcPr marL="73152" marR="54864" marT="27432" marB="27432" anchor="ctr">
                    <a:solidFill>
                      <a:srgbClr val="FFFFFF"/>
                    </a:solidFill>
                  </a:tcPr>
                </a:tc>
              </a:tr>
              <a:tr h="676656">
                <a:tc>
                  <a:txBody>
                    <a:bodyPr/>
                    <a:lstStyle/>
                    <a:p>
                      <a:pPr>
                        <a:spcAft>
                          <a:spcPts val="0"/>
                        </a:spcAft>
                      </a:pPr>
                      <a:r>
                        <a:rPr sz="1150" b="1" i="0">
                          <a:solidFill>
                            <a:srgbClr val="1E1B2E"/>
                          </a:solidFill>
                          <a:latin typeface="Calibri"/>
                        </a:rPr>
                        <a:t>8 labels is overkill for 11 topics today</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High (fair)</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Phase it: ship only Field + Sub-topic + Level first; most other labels already exist</a:t>
                      </a:r>
                    </a:p>
                  </a:txBody>
                  <a:tcPr marL="73152" marR="54864" marT="27432" marB="27432" anchor="ctr">
                    <a:solidFill>
                      <a:srgbClr val="F7F6FC"/>
                    </a:solidFill>
                  </a:tcPr>
                </a:tc>
              </a:tr>
              <a:tr h="676656">
                <a:tc>
                  <a:txBody>
                    <a:bodyPr/>
                    <a:lstStyle/>
                    <a:p>
                      <a:pPr>
                        <a:spcAft>
                          <a:spcPts val="0"/>
                        </a:spcAft>
                      </a:pPr>
                      <a:r>
                        <a:rPr sz="1150" b="1" i="0">
                          <a:solidFill>
                            <a:srgbClr val="1E1B2E"/>
                          </a:solidFill>
                          <a:latin typeface="Calibri"/>
                        </a:rPr>
                        <a:t>Deciding a word's level is subjective</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Medium</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Draft → verify workflow we already use; lean on official Goethe / telc word lists</a:t>
                      </a:r>
                    </a:p>
                  </a:txBody>
                  <a:tcPr marL="73152" marR="54864" marT="27432" marB="27432" anchor="ctr">
                    <a:solidFill>
                      <a:srgbClr val="FFFFFF"/>
                    </a:solidFill>
                  </a:tcPr>
                </a:tc>
              </a:tr>
              <a:tr h="676656">
                <a:tc>
                  <a:txBody>
                    <a:bodyPr/>
                    <a:lstStyle/>
                    <a:p>
                      <a:pPr>
                        <a:spcAft>
                          <a:spcPts val="0"/>
                        </a:spcAft>
                      </a:pPr>
                      <a:r>
                        <a:rPr sz="1150" b="1" i="0">
                          <a:solidFill>
                            <a:srgbClr val="1E1B2E"/>
                          </a:solidFill>
                          <a:latin typeface="Calibri"/>
                        </a:rPr>
                        <a:t>Too many filters overwhelm beginners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High</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2 filters by default; the rest behind “Advanced”; counts + no empty screens</a:t>
                      </a:r>
                    </a:p>
                  </a:txBody>
                  <a:tcPr marL="73152" marR="54864" marT="27432" marB="27432" anchor="ctr">
                    <a:solidFill>
                      <a:srgbClr val="F7F6FC"/>
                    </a:solidFill>
                  </a:tcPr>
                </a:tc>
              </a:tr>
              <a:tr h="676656">
                <a:tc>
                  <a:txBody>
                    <a:bodyPr/>
                    <a:lstStyle/>
                    <a:p>
                      <a:pPr>
                        <a:spcAft>
                          <a:spcPts val="0"/>
                        </a:spcAft>
                      </a:pPr>
                      <a:r>
                        <a:rPr sz="1150" b="1" i="0">
                          <a:solidFill>
                            <a:srgbClr val="1E1B2E"/>
                          </a:solidFill>
                          <a:latin typeface="Calibri"/>
                        </a:rPr>
                        <a:t>Most label combos will be empty early</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Medium</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Treat empty as a content to-do list; reveal advanced filters as the library fills</a:t>
                      </a:r>
                    </a:p>
                  </a:txBody>
                  <a:tcPr marL="73152" marR="54864" marT="27432" marB="27432" anchor="ctr">
                    <a:solidFill>
                      <a:srgbClr val="FFFFFF"/>
                    </a:solidFill>
                  </a:tcPr>
                </a:tc>
              </a:tr>
            </a:tbl>
          </a:graphicData>
        </a:graphic>
      </p:graphicFrame>
      <p:sp>
        <p:nvSpPr>
          <p:cNvPr id="9" name="Rounded Rectangle 8"/>
          <p:cNvSpPr/>
          <p:nvPr/>
        </p:nvSpPr>
        <p:spPr>
          <a:xfrm>
            <a:off x="548640" y="5715000"/>
            <a:ext cx="11064240" cy="777240"/>
          </a:xfrm>
          <a:prstGeom prst="roundRect">
            <a:avLst/>
          </a:prstGeom>
          <a:solidFill>
            <a:srgbClr val="FBF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C06A2A"/>
                </a:solidFill>
                <a:latin typeface="Calibri"/>
              </a:rPr>
              <a:t>The honest summary</a:t>
            </a:r>
          </a:p>
          <a:p>
            <a:pPr algn="l">
              <a:spcBef>
                <a:spcPts val="0"/>
              </a:spcBef>
              <a:spcAft>
                <a:spcPts val="500"/>
              </a:spcAft>
            </a:pPr>
            <a:r>
              <a:rPr sz="1350" b="0" i="0">
                <a:solidFill>
                  <a:srgbClr val="444455"/>
                </a:solidFill>
                <a:latin typeface="Calibri"/>
              </a:rPr>
              <a:t>This plan front-loads a bit of labeling work to buy back easy navigation, real personalization and room to grow. For a product betting on depth and AI, that's the right trade, and it only gets more expensive the longer we wait.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SLIDE 26  ·  THE RECOMMENDATION</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Decisions to make + roadmap</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26</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572768"/>
            <a:ext cx="5440680" cy="233172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5 quick decisions (my defaults in bold; all reversible)</a:t>
            </a:r>
          </a:p>
          <a:p>
            <a:pPr algn="l">
              <a:spcBef>
                <a:spcPts val="0"/>
              </a:spcBef>
              <a:spcAft>
                <a:spcPts val="300"/>
              </a:spcAft>
            </a:pPr>
            <a:r>
              <a:rPr sz="1300" b="0" i="0">
                <a:solidFill>
                  <a:srgbClr val="444455"/>
                </a:solidFill>
                <a:latin typeface="Calibri"/>
              </a:rPr>
              <a:t>•  Level detail → use sub-levels B1.1…B2.2 (we live inside B1–B2)</a:t>
            </a:r>
          </a:p>
          <a:p>
            <a:pPr algn="l">
              <a:spcBef>
                <a:spcPts val="0"/>
              </a:spcBef>
              <a:spcAft>
                <a:spcPts val="300"/>
              </a:spcAft>
            </a:pPr>
            <a:r>
              <a:rPr sz="1300" b="0" i="0">
                <a:solidFill>
                  <a:srgbClr val="444455"/>
                </a:solidFill>
                <a:latin typeface="Calibri"/>
              </a:rPr>
              <a:t>•  Number of Fields → 6 (split work into two)</a:t>
            </a:r>
          </a:p>
          <a:p>
            <a:pPr algn="l">
              <a:spcBef>
                <a:spcPts val="0"/>
              </a:spcBef>
              <a:spcAft>
                <a:spcPts val="300"/>
              </a:spcAft>
            </a:pPr>
            <a:r>
              <a:rPr sz="1300" b="0" i="0">
                <a:solidFill>
                  <a:srgbClr val="444455"/>
                </a:solidFill>
                <a:latin typeface="Calibri"/>
              </a:rPr>
              <a:t>•  Sub-topics → optional, roll up by default</a:t>
            </a:r>
          </a:p>
          <a:p>
            <a:pPr algn="l">
              <a:spcBef>
                <a:spcPts val="0"/>
              </a:spcBef>
              <a:spcAft>
                <a:spcPts val="300"/>
              </a:spcAft>
            </a:pPr>
            <a:r>
              <a:rPr sz="1300" b="0" i="0">
                <a:solidFill>
                  <a:srgbClr val="444455"/>
                </a:solidFill>
                <a:latin typeface="Calibri"/>
              </a:rPr>
              <a:t>•  Phrases stay sorted by function, not topic</a:t>
            </a:r>
          </a:p>
          <a:p>
            <a:pPr algn="l">
              <a:spcBef>
                <a:spcPts val="0"/>
              </a:spcBef>
              <a:spcAft>
                <a:spcPts val="300"/>
              </a:spcAft>
            </a:pPr>
            <a:r>
              <a:rPr sz="1300" b="0" i="0">
                <a:solidFill>
                  <a:srgbClr val="444455"/>
                </a:solidFill>
                <a:latin typeface="Calibri"/>
              </a:rPr>
              <a:t>•  Re-labeling → AI drafts, human verifies</a:t>
            </a:r>
          </a:p>
        </p:txBody>
      </p:sp>
      <p:sp>
        <p:nvSpPr>
          <p:cNvPr id="9" name="Rounded Rectangle 8"/>
          <p:cNvSpPr/>
          <p:nvPr/>
        </p:nvSpPr>
        <p:spPr>
          <a:xfrm>
            <a:off x="6217920" y="1572768"/>
            <a:ext cx="5440680" cy="233172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Rollout in 5 phases</a:t>
            </a:r>
          </a:p>
          <a:p>
            <a:pPr algn="l">
              <a:spcBef>
                <a:spcPts val="0"/>
              </a:spcBef>
              <a:spcAft>
                <a:spcPts val="500"/>
              </a:spcAft>
            </a:pPr>
            <a:r>
              <a:rPr sz="1300" b="0" i="0">
                <a:solidFill>
                  <a:srgbClr val="444455"/>
                </a:solidFill>
                <a:latin typeface="Calibri"/>
              </a:rPr>
              <a:t>0 · Set up the tree + level field (invisible to users)</a:t>
            </a:r>
          </a:p>
          <a:p>
            <a:pPr algn="l">
              <a:spcBef>
                <a:spcPts val="0"/>
              </a:spcBef>
              <a:spcAft>
                <a:spcPts val="500"/>
              </a:spcAft>
            </a:pPr>
            <a:r>
              <a:rPr sz="1300" b="0" i="0">
                <a:solidFill>
                  <a:srgbClr val="444455"/>
                </a:solidFill>
                <a:latin typeface="Calibri"/>
              </a:rPr>
              <a:t>1 · Add levels + a Level filter  ← first visible win</a:t>
            </a:r>
          </a:p>
          <a:p>
            <a:pPr algn="l">
              <a:spcBef>
                <a:spcPts val="0"/>
              </a:spcBef>
              <a:spcAft>
                <a:spcPts val="500"/>
              </a:spcAft>
            </a:pPr>
            <a:r>
              <a:rPr sz="1300" b="0" i="0">
                <a:solidFill>
                  <a:srgbClr val="444455"/>
                </a:solidFill>
                <a:latin typeface="Calibri"/>
              </a:rPr>
              <a:t>2 · Sub-topics for the busiest topics</a:t>
            </a:r>
          </a:p>
          <a:p>
            <a:pPr algn="l">
              <a:spcBef>
                <a:spcPts val="0"/>
              </a:spcBef>
              <a:spcAft>
                <a:spcPts val="500"/>
              </a:spcAft>
            </a:pPr>
            <a:r>
              <a:rPr sz="1300" b="0" i="0">
                <a:solidFill>
                  <a:srgbClr val="444455"/>
                </a:solidFill>
                <a:latin typeface="Calibri"/>
              </a:rPr>
              <a:t>3 · Full filter bar + goal cards</a:t>
            </a:r>
          </a:p>
          <a:p>
            <a:pPr algn="l">
              <a:spcBef>
                <a:spcPts val="0"/>
              </a:spcBef>
              <a:spcAft>
                <a:spcPts val="500"/>
              </a:spcAft>
            </a:pPr>
            <a:r>
              <a:rPr sz="1300" b="0" i="0">
                <a:solidFill>
                  <a:srgbClr val="444455"/>
                </a:solidFill>
                <a:latin typeface="Calibri"/>
              </a:rPr>
              <a:t>4 · Cross-module links + smart review</a:t>
            </a:r>
          </a:p>
        </p:txBody>
      </p:sp>
      <p:sp>
        <p:nvSpPr>
          <p:cNvPr id="10" name="Rounded Rectangle 9"/>
          <p:cNvSpPr/>
          <p:nvPr/>
        </p:nvSpPr>
        <p:spPr>
          <a:xfrm>
            <a:off x="548640" y="4160520"/>
            <a:ext cx="11064240" cy="96012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What success looks like</a:t>
            </a:r>
          </a:p>
          <a:p>
            <a:pPr algn="l">
              <a:spcBef>
                <a:spcPts val="0"/>
              </a:spcBef>
              <a:spcAft>
                <a:spcPts val="500"/>
              </a:spcAft>
            </a:pPr>
            <a:r>
              <a:rPr sz="1350" b="0" i="0">
                <a:solidFill>
                  <a:srgbClr val="444455"/>
                </a:solidFill>
                <a:latin typeface="Calibri"/>
              </a:rPr>
              <a:t>A learner can ask for “formal B2 Behörde e-mail phrases I haven't mastered” in three taps and get a correct, non-empty result. Adding a new life area (banking, doctor) becomes filling a template, not redesigning the app. And content gaps show up as empty filters, a built-in to-do list.</a:t>
            </a:r>
          </a:p>
        </p:txBody>
      </p:sp>
      <p:sp>
        <p:nvSpPr>
          <p:cNvPr id="11" name="Rounded Rectangle 10"/>
          <p:cNvSpPr/>
          <p:nvPr/>
        </p:nvSpPr>
        <p:spPr>
          <a:xfrm>
            <a:off x="548640" y="5303520"/>
            <a:ext cx="11064240" cy="1188720"/>
          </a:xfrm>
          <a:prstGeom prst="roundRect">
            <a:avLst/>
          </a:prstGeom>
          <a:solidFill>
            <a:srgbClr val="1E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a:lstStyle/>
          <a:p>
            <a:pPr algn="l">
              <a:spcBef>
                <a:spcPts val="0"/>
              </a:spcBef>
              <a:spcAft>
                <a:spcPts val="400"/>
              </a:spcAft>
            </a:pPr>
            <a:r>
              <a:rPr sz="1300" b="1" i="0">
                <a:solidFill>
                  <a:srgbClr val="10B7CF"/>
                </a:solidFill>
                <a:latin typeface="Calibri"/>
              </a:rPr>
              <a:t>Bottom line</a:t>
            </a:r>
          </a:p>
          <a:p>
            <a:pPr algn="l">
              <a:spcBef>
                <a:spcPts val="0"/>
              </a:spcBef>
              <a:spcAft>
                <a:spcPts val="600"/>
              </a:spcAft>
            </a:pPr>
            <a:r>
              <a:rPr sz="1400" b="1" i="0">
                <a:solidFill>
                  <a:srgbClr val="FFFFFF"/>
                </a:solidFill>
                <a:latin typeface="Calibri"/>
              </a:rPr>
              <a:t>The flat 11-topic list is fine for 11 topics and fatal for 100. A shallow folder tree plus a few mix-and-match labels is the smallest change that keeps the app simple for learners and open-ended for content and AI. Build the backbone now, while it's cheap; add the labels as the library grows.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