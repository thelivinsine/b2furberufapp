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7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0B7CF"/>
                </a:solidFill>
                <a:latin typeface="Calibri"/>
              </a:rPr>
              <a:t>GENAULY  ·  PRODUCT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607040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Theme Taxonomy &amp; Filtering Redesign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C9C6DE"/>
                </a:solidFill>
                <a:latin typeface="Calibri"/>
              </a:rPr>
              <a:t>A first-principles redesign of how learning content is categorized and filtered across Wortschatz, Kollokationen, Redemittel and Schreibtraining.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12080"/>
            <a:ext cx="106070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9B98B8"/>
                </a:solidFill>
                <a:latin typeface="Calibri"/>
              </a:rPr>
              <a:t>Research &amp; recommendation deck  ·  25 slides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7C7999"/>
                </a:solidFill>
                <a:latin typeface="Calibri"/>
              </a:rPr>
              <a:t>Audience: founder + implementer   ·   Status: proposal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The problem in one sentence: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4A4A5A"/>
                </a:solidFill>
                <a:latin typeface="Calibri"/>
              </a:rPr>
              <a:t>Genauly indexes every module on a single flat list of 11 themes, but its content does not live on one axis, and that mismatch caps discoverability, personalization and scale.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E1B2E"/>
                </a:solidFill>
                <a:latin typeface="Calibri"/>
              </a:rPr>
              <a:t>Three findings from the current code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The app already runs three taxonomies and pretends it runs one.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Vocab/Collocations are filed by theme; Redemittel by communicative function (+register); Grammar by structural group. Three correct taxonomies for three kinds of content.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There is no level axis at all.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Only quiz questions carry difficulty 1–3, never surfaced. For a B1–B2 plateau product, level is invisible to the learner.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Filtering is one dropdown.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A single theme Select, no sub-themes, no level, no mastery. It cannot scale past ~15 themes or answer “formal B2 phrases I haven’t mastered.”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E1B2E"/>
                </a:solidFill>
                <a:latin typeface="Calibri"/>
              </a:rPr>
              <a:t>Recommendation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Move from a flat theme list to a faceted (multi-axis) model with a shallow Domain → Theme → Sub-theme hierarchy.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Every item carries orthogonal facets (theme, CEFR, function, register, POS, frequency, exam); the UI exposes a progressive filter stack, identical in plumbing across modules.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777488"/>
                </a:solidFill>
                <a:latin typeface="Calibri"/>
              </a:rPr>
              <a:t>Why now:  at 11 themes the pain is mild. The model you pick now is the one 100 themes and 10,000 items inherit. Faceted tagging is cheap today, expensive to retrofit.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2  ·  BENCHMARK ANALYSIS (1 OF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The consumer apps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1106424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3291840"/>
                <a:gridCol w="2834640"/>
                <a:gridCol w="3108960"/>
              </a:tblGrid>
              <a:tr h="7132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Filtering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Weakness for us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Duolingo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Single linear path; theme + grammar interleaved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Almost none; algorithm picks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No discoverability or self-direction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Babbel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Courses by goal (Business, Grammar) then lessons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Pick a course; light browse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Siloed tracks; duplicated content, no shared spine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Busuu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CEFR-first; lessons by level then topic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Filter by level, then topic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Topic taxonomy under each level is shallow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Memrise / Anki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Pure deck/tag model; many tags per card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Powerful free-form tag filtering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No pedagogy out of the box; too raw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40680"/>
            <a:ext cx="1106424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5B5BE6"/>
                </a:solidFill>
                <a:latin typeface="Calibri"/>
              </a:rPr>
              <a:t>Takeaway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4A5A"/>
                </a:solidFill>
                <a:latin typeface="Calibri"/>
              </a:rPr>
              <a:t>Leaders span zero-filter/max-guidance (Duolingo) to max-filter/zero-guidance (Anki). Our motivated adults want the middle: guided defaults, but the ability to filter hard on intent. Busuu’s level-first instinct + Anki’s tag backend; neither nails the front end alone.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3  ·  BENCHMARK ANALYSIS (2 OF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Structured courses &amp; the exam world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110642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31920"/>
                <a:gridCol w="4754880"/>
              </a:tblGrid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What we steal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Lingoda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Live classes on a strict CEFR grid (A1.1…C1.x)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Level as a hard visible coordinate; each cell = level × topic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Goethe-Institut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Per-level can-do descriptors + themed lists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The can-do statement as the unit of “why am I learning this” (maps to our situations[])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telc B2 Beruf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Organized by Handlungsfeld + exam task type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Two missing facets: field of action + exam task type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CEFR itself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Activity × competence × level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The official model is already faceted; our Redemittel-vs-theme split is CEFR’s activity-vs-domain split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Publishers (Klett, Hueber)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Linear spine, but a faceted teacher’s index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Learner view can be linear while the database is faceted; same data, two projections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B5BE6"/>
                </a:solidFill>
                <a:latin typeface="Calibri"/>
              </a:rPr>
              <a:t>Takeaway: 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4A5A"/>
                </a:solidFill>
                <a:latin typeface="Calibri"/>
              </a:rPr>
              <a:t>Everyone serious about adult/exam German uses more than one axis. CEFR gives the canonical set: level × communicative activity × domain × competence (register/range). Align to that vocabulary rather than invent our 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4  ·  BENCHMARK ANALYSIS (3 OF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What “good” looks like, distilled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2651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 i="0">
                <a:solidFill>
                  <a:srgbClr val="1E1B2E"/>
                </a:solidFill>
                <a:latin typeface="Calibri"/>
              </a:rPr>
              <a:t>Five best practices, ranked by importance for Genauly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Faceted, not hierarchical-only.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Orthogonal tags you combine; an item is “behoerde” AND “B2” AND “noun” AND “formal” at once.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Level is a first-class coordinate.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For a plateau-breaker, not having it is a strategic hole.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Intent-based entry points beat browsing.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Adults arrive with a task, not a topic.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Shallow hierarchy + rich tags out-scales deep hierarchy.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Two or three visible levels max.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One backend taxonomy, many front-end projections.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Each surface is a query over the same faceted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526280"/>
            <a:ext cx="11064240" cy="1965960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B03A3A"/>
                </a:solidFill>
                <a:latin typeface="Calibri"/>
              </a:rPr>
              <a:t>Anti-patterns to avoid (all visible in our app or the benchmarks)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A5A"/>
                </a:solidFill>
                <a:latin typeface="Calibri"/>
              </a:rPr>
              <a:t>A single flat list every module is forced to share  (us, today)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A5A"/>
                </a:solidFill>
                <a:latin typeface="Calibri"/>
              </a:rPr>
              <a:t>Deep folder trees the learner must drill through  (old LMS)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A5A"/>
                </a:solidFill>
                <a:latin typeface="Calibri"/>
              </a:rPr>
              <a:t>Per-module bespoke taxonomies with no shared spine  (Babbel silos)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A5A"/>
                </a:solidFill>
                <a:latin typeface="Calibri"/>
              </a:rPr>
              <a:t>Level as an afterthought or absent  (us, today)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5  ·  CORE TAXONOMY PRINCIPLES (1 OF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Facets vs.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E1B2E"/>
                </a:solidFill>
                <a:latin typeface="Calibri"/>
              </a:rPr>
              <a:t>The single most important decision: is a category a place (one parent, a tree) or a property (many tags, a facet)?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Hierarchy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answers “where does this live?” One home per item. Good for browsing + a sense of place; bad at items that belong in several places and at evolving.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Facet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answers “what is this like?” Many independent labels. Good for filtering, search, personalization, growth; bad at a single “you are here.”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E1B2E"/>
                </a:solidFill>
                <a:latin typeface="Calibri"/>
              </a:rPr>
              <a:t>Genauly needs both, for different jobs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114800"/>
          <a:ext cx="1106424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46320"/>
                <a:gridCol w="62179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1E1B2E"/>
                          </a:solidFill>
                          <a:latin typeface="Calibri"/>
                        </a:rPr>
                        <a:t>“Show me a map of what exists”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A4A5A"/>
                          </a:solidFill>
                          <a:latin typeface="Calibri"/>
                        </a:rPr>
                        <a:t>Hierarchy  (Domain → Theme → Sub-theme)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1E1B2E"/>
                          </a:solidFill>
                          <a:latin typeface="Calibri"/>
                        </a:rPr>
                        <a:t>“Narrow to exactly what I want now”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A4A5A"/>
                          </a:solidFill>
                          <a:latin typeface="Calibri"/>
                        </a:rPr>
                        <a:t>Facets  (level, function, register, status…)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1E1B2E"/>
                          </a:solidFill>
                          <a:latin typeface="Calibri"/>
                        </a:rPr>
                        <a:t>“Pick the next best item for me”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A4A5A"/>
                          </a:solidFill>
                          <a:latin typeface="Calibri"/>
                        </a:rPr>
                        <a:t>Facets + learner state  (mastery, due, weakness)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9788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5B5BE6"/>
                </a:solidFill>
                <a:latin typeface="Calibri"/>
              </a:rPr>
              <a:t>Principle: 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4A5A"/>
                </a:solidFill>
                <a:latin typeface="Calibri"/>
              </a:rPr>
              <a:t>Use a shallow hierarchy for the theme dimension only (themes nest naturally). Use facets for everything else. Never model level or register as a hierarchy — they are properties, not places.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6  ·  CORE TAXONOMY PRINCIPLES (2 OF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Orthogonality &amp; “one fact, one field”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Orthogonality:  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4A4A5A"/>
                </a:solidFill>
                <a:latin typeface="Calibri"/>
              </a:rPr>
              <a:t>every axis must be independent. With 6 facets of ~5 values each you address ~15,000 slices from ~30 stored labels (product, not sum).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Test for a clean axis: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4A4A5A"/>
                </a:solidFill>
                <a:latin typeface="Calibri"/>
              </a:rPr>
              <a:t>“Could two items be identical on every other axis but differ on this one?” If yes, it is a real facet.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Formality passes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— two B2 Behörde nouns can differ only in register. Keep.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“Difficulty” vs “CEFR level” fails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— same measurement. Collapse into one.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One fact, one field:  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4A4A5A"/>
                </a:solidFill>
                <a:latin typeface="Calibri"/>
              </a:rPr>
              <a:t>never encode the same info twice. Pick one canonical level scale (CEFR sub-bands); derive the rest.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1E1B2E"/>
                </a:solidFill>
                <a:latin typeface="Calibri"/>
              </a:rPr>
              <a:t>Closed vs open axes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Closed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(fixed, enum-backed, linter-validated): level, register, POS, function, module. These power filters → TypeScript unions + THEME_IDS-style arrays.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Open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(free, growing): fine-grained topic tags / Wortfelder, can-do statements. These power search + AI → plain string[].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7  ·  CORE TAXONOMY PRINCIPLES (3 OF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Depth, magic numbers &amp; naming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E1B2E"/>
                </a:solidFill>
                <a:latin typeface="Calibri"/>
              </a:rPr>
              <a:t>How deep should the theme hierarchy go?  Three levels, and stop.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2–3 visible levels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is where IA research and every benchmark converge. Deeper, and navigation cost outgrows precision.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Breadth beats depth: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aim for 5–9 siblings per level (7±2), not 30 at one level.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46120"/>
            <a:ext cx="11064240" cy="1417320"/>
          </a:xfrm>
          <a:prstGeom prst="rect">
            <a:avLst/>
          </a:prstGeom>
          <a:solidFill>
            <a:srgbClr val="1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10972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E8E6F5"/>
                </a:solidFill>
                <a:latin typeface="Consolas"/>
              </a:rPr>
              <a:t>~5–7 Domains            (broadest: Berufsleben, Alltag &amp; Behörden…)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E8E6F5"/>
                </a:solidFill>
                <a:latin typeface="Consolas"/>
              </a:rPr>
              <a:t>   └─ ~6–10 Themes each   (our current 11 themes live here)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E8E6F5"/>
                </a:solidFill>
                <a:latin typeface="Consolas"/>
              </a:rPr>
              <a:t>        └─ ~3–6 Sub-themes each   (NEW; the missing middle)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E8E6F5"/>
                </a:solidFill>
                <a:latin typeface="Consolas"/>
              </a:rPr>
              <a:t>             └─ items (vocab / colloc / phrase / prompt)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1106424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4A5A"/>
                </a:solidFill>
                <a:latin typeface="Calibri"/>
              </a:rPr>
              <a:t>Room for ~5×8×4 ≈ 160 sub-themes and unlimited items, never showing the learner more than ~9 choices at a step.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1B2E"/>
                </a:solidFill>
                <a:latin typeface="Calibri"/>
              </a:rPr>
              <a:t>Naming rules (cheap now, painful later)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4A4A5A"/>
                </a:solidFill>
                <a:latin typeface="Calibri"/>
              </a:rPr>
              <a:t>Stable IDs, mutable labels </a:t>
            </a:r>
            <a:r>
              <a:rPr sz="1300" b="0" i="0">
                <a:solidFill>
                  <a:srgbClr val="4A4A5A"/>
                </a:solidFill>
                <a:latin typeface="Calibri"/>
              </a:rPr>
              <a:t>(behoerde the id vs “Behörden &amp; Ämter” the title). Bilingual labels. No em dashes. Globally-unique slug ids so one string tag is unambiguous.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8  ·  PROPOSED THEME ARCHITECTURE (1 OF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The facet model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1106424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2468880"/>
                <a:gridCol w="356616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Facet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Applies to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enum (closed)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vocabulary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theme / sub-theme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hierarchy leaf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vocab, colloc, dialogue, writing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behoerde.anmeldung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cefr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enum A1–C2 (closed)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B2.1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enum (closed)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redemittel, dialogue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negotiation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register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enum (closed)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all text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formal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enum (closed)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vocabulary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noun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enum (closed)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vocab, colloc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core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examTag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enum set (multi)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telc-email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topicTags / canDo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string[] (open)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Meldebescheinigung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98932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4A4A5A"/>
                </a:solidFill>
                <a:latin typeface="Calibri"/>
              </a:rPr>
              <a:t>theme + cefr are the spine facets on everything; function is the spine for Redemittel/dialogue. The model is additive: ship cefr + nesting themes first, back-fill the rest over months without breaking anything.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9  ·  PROPOSED THEME ARCHITECTURE (2 OF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The Domain layer (NEW top tier)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1106424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926080"/>
                <a:gridCol w="6035040"/>
              </a:tblGrid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Domain id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DE label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Holds (today + roadmap)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beruf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Berufsleben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meetings, scheduling, logistics, customer, conflict, project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arbeitswelt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Arbeitswelt &amp; Umfeld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technology, sustainability, safety, travel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alltag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Alltag &amp; Erledigungen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behoerde, + banking, housing, shopping (roadmap)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gesundheit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Gesundheit &amp; Soziales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Arzt, insurance, family (roadmap)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bildung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Bildung &amp; Sprache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grammar-as-theme, study skills (roadmap)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pruefung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Prüfungstraining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cross-cutting VIEW, not a content home (slide 11)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40680"/>
            <a:ext cx="1106424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4A4A5A"/>
                </a:solidFill>
                <a:latin typeface="Calibri"/>
              </a:rPr>
              <a:t>11 sibling themes with no parent breaks as we add banking, Arzt, housing. Introduce 5–6 Domains as the top tier.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5B5BE6"/>
                </a:solidFill>
                <a:latin typeface="Calibri"/>
              </a:rPr>
              <a:t>Recommendation: 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4A5A"/>
                </a:solidFill>
                <a:latin typeface="Calibri"/>
              </a:rPr>
              <a:t>split the 10 workplace themes into beruf + arbeitswelt so no domain has 10 children (keep every tier within 7±2). Purely additive: add a domain field + one domains.ts; no content moves.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10  ·  PROPOSED THEME ARCHITECTURE (3 OF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The Sub-theme layer (the missing middle)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11064240" cy="1783080"/>
          </a:xfrm>
          <a:prstGeom prst="rect">
            <a:avLst/>
          </a:prstGeom>
          <a:solidFill>
            <a:srgbClr val="1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10972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10B7CF"/>
                </a:solidFill>
                <a:latin typeface="Consolas"/>
              </a:rPr>
              <a:t>Domain:  alltag — Alltag &amp; Erledigungen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E8E6F5"/>
                </a:solidFill>
                <a:latin typeface="Consolas"/>
              </a:rPr>
              <a:t> └─ Theme: behoerde — Behörden &amp; Ämter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E8E6F5"/>
                </a:solidFill>
                <a:latin typeface="Consolas"/>
              </a:rPr>
              <a:t>     ├─ behoerde.anmeldung      Anmeldung &amp; Meldewesen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E8E6F5"/>
                </a:solidFill>
                <a:latin typeface="Consolas"/>
              </a:rPr>
              <a:t>     ├─ behoerde.auslaenderamt  Ausländerbehörde &amp; Aufenthalt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E8E6F5"/>
                </a:solidFill>
                <a:latin typeface="Consolas"/>
              </a:rPr>
              <a:t>     ├─ behoerde.antrag         Anträge &amp; Unterlagen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E8E6F5"/>
                </a:solidFill>
                <a:latin typeface="Consolas"/>
              </a:rPr>
              <a:t>     └─ behoerde.bescheid       Bescheide &amp; Widerspruch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11880"/>
            <a:ext cx="11064240" cy="3017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4A5A"/>
                </a:solidFill>
                <a:latin typeface="Calibri"/>
              </a:rPr>
              <a:t>Each situations[] entry becomes ~one sub-theme. Items tag a leaf (behoerde.antrag) instead of just the theme.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5BE6"/>
                </a:solidFill>
                <a:latin typeface="Calibri"/>
              </a:rPr>
              <a:t>Migration is mechanical and low-risk: 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4A4A5A"/>
                </a:solidFill>
                <a:latin typeface="Calibri"/>
              </a:rPr>
              <a:t>an item with no sub-theme rolls up to its theme (current behavior), so we introduce the layer and back-fill leaves theme by theme without ever shipping a broken state.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E1B2E"/>
                </a:solidFill>
                <a:latin typeface="Calibri"/>
              </a:rPr>
              <a:t>Why this is the highest-value single change: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4A5A"/>
                </a:solidFill>
                <a:latin typeface="Calibri"/>
              </a:rPr>
              <a:t>sub-themes make 10,000 items navigable and give the SRS/AI a fine grain — “you are weak specifically on Bescheide,” not just “weak on Behörde.”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11  ·  PROPOSED THEME ARCHITECTURE (4 OF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Cross-cutting views are NOT tree nodes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A4A5A"/>
                </a:solidFill>
                <a:latin typeface="Calibri"/>
              </a:rPr>
              <a:t>A trap: making “Exam prep” or “Formal phrases” a folder. They are queries, not places. An exam set pulls Behörde vocab + negotiation Redemittel + email grammar; it does not own that content.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834640"/>
          <a:ext cx="11064240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029200"/>
                <a:gridCol w="3291840"/>
              </a:tblGrid>
              <a:tr h="5029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The learner wants…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Implemented as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NOT as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telc B2 Beruf prep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saved filter: examTag = telc-*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a theme duplicating content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Formal email phrases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register=formal × function∈{request,opinion}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a “Formal” theme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Everything at B2.1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cefr=B2.1 across all modules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a “B2” course silo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My weak spots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masteryState=weak (from SRS)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71500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4A5A"/>
                </a:solidFill>
                <a:latin typeface="Calibri"/>
              </a:rPr>
              <a:t>“One backend, many projections” made concrete. The pruefung domain is a presented view (curated page running exam-tag queries), not a content home. Keeping cross-cutting concerns as facets prevents the content duplication that sinks siloed tracks.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12  ·  PROPOSED THEME ARCHITECTURE (5 OF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Full visual hierarchy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11064240" cy="4434840"/>
          </a:xfrm>
          <a:prstGeom prst="rect">
            <a:avLst/>
          </a:prstGeom>
          <a:solidFill>
            <a:srgbClr val="1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10972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6F5"/>
                </a:solidFill>
                <a:latin typeface="Consolas"/>
              </a:rPr>
              <a:t>├─ DOMAIN  beruf — Berufsleben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6F5"/>
                </a:solidFill>
                <a:latin typeface="Consolas"/>
              </a:rPr>
              <a:t>│   ├─ THEME  meetings — Besprechungen        [B1–B2]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6F5"/>
                </a:solidFill>
                <a:latin typeface="Consolas"/>
              </a:rPr>
              <a:t>│   │   ├─ meetings.moderation   ├─ meetings.beitrag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6F5"/>
                </a:solidFill>
                <a:latin typeface="Consolas"/>
              </a:rPr>
              <a:t>│   │   └─ meetings.protokoll    └─ meetings.konsens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6F5"/>
                </a:solidFill>
                <a:latin typeface="Consolas"/>
              </a:rPr>
              <a:t>│   └─ THEME  conflict — Konfliktlösung         [B2]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6F5"/>
                </a:solidFill>
                <a:latin typeface="Consolas"/>
              </a:rPr>
              <a:t>│       ├─ conflict.deeskalation · conflict.kompromiss · conflict.kritik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6F5"/>
                </a:solidFill>
                <a:latin typeface="Consolas"/>
              </a:rPr>
              <a:t>├─ DOMAIN  alltag — Alltag &amp; Erledigungen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6F5"/>
                </a:solidFill>
                <a:latin typeface="Consolas"/>
              </a:rPr>
              <a:t>│   └─ THEME  behoerde — Behörden &amp; Ämter        [B1–B2]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6F5"/>
                </a:solidFill>
                <a:latin typeface="Consolas"/>
              </a:rPr>
              <a:t>│       └─ anmeldung · auslaenderamt · antrag · bescheid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6F5"/>
                </a:solidFill>
                <a:latin typeface="Consolas"/>
              </a:rPr>
              <a:t>└─ DOMAIN  pruefung   (VIEW, not a content home)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6F5"/>
                </a:solidFill>
                <a:latin typeface="Consolas"/>
              </a:rPr>
              <a:t>    ├─ telc B2 Beruf  → query: examTag = telc-*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6F5"/>
                </a:solidFill>
                <a:latin typeface="Consolas"/>
              </a:rPr>
              <a:t>    └─ Goethe B2      → query: examTag = goethe-*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6F5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10B7CF"/>
                </a:solidFill>
                <a:latin typeface="Consolas"/>
              </a:rPr>
              <a:t>FACETS (orthogonal, apply across the whole tree):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6F5"/>
                </a:solidFill>
                <a:latin typeface="Consolas"/>
              </a:rPr>
              <a:t>  cefr · function · register · pos · frequency · examTag · + masteryState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5B5BE6"/>
                </a:solidFill>
                <a:latin typeface="Calibri"/>
              </a:rPr>
              <a:t>Three visible tiers. Everything else is a property you switch on, not a place you walk 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13  ·  PROPOSED FILTERING SYSTEM (1 OF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The three filter tiers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1106424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5486400"/>
                <a:gridCol w="2468880"/>
              </a:tblGrid>
              <a:tr h="54864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Filters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Visibility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Core (always visible)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Theme/Sub-theme · CEFR level · (Module)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Inline chips/dropdowns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Contextual (one tap away)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Domain · Frequency/Importance · Exam tag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Behind “Filter” button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Linguistic / Learning (advanced)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Register · POS · Function · Mastery · Practice status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“Advanced” section in sheet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703320"/>
            <a:ext cx="11064240" cy="2834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E1B2E"/>
                </a:solidFill>
                <a:latin typeface="Calibri"/>
              </a:rPr>
              <a:t>Essential vs optional vs advanced, plainly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Essential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(build first, every module): Theme, Sub-theme, CEFR.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Optional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(build second): Exam tag, Frequency, Register.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Advanced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(build last / machine-driven): POS, Function, Mastery state, full-text search.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5BE6"/>
                </a:solidFill>
                <a:latin typeface="Calibri"/>
              </a:rPr>
              <a:t>Mastery/practice state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4A5A"/>
                </a:solidFill>
                <a:latin typeface="Calibri"/>
              </a:rPr>
              <a:t>is the filter that turns a browser into a study tool (“hide mastered, drill what’s due”). Advanced to expose manually, but central to the automated SRS path.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14  ·  PROPOSED FILTERING SYSTEM (2 OF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Filter logic (AND / OR / counts)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E1B2E"/>
                </a:solidFill>
                <a:latin typeface="Calibri"/>
              </a:rPr>
              <a:t>How filters combine decides whether the system feels smart or frustrating.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Across different facets: AND.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theme=behoerde AND cefr=B2.1 AND register=formal → intersection. The expected behavior.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Within one facet: OR.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cefr ∈ {B1.2, B2.1} (a range); examTag ∈ {telc-email, goethe-schreiben}. Multi-select = union.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Show live counts, disable dead ends.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Each value shows remaining items given the other filters (“Formell (12)”); zero-yield values are greyed, never a trap. This is the difference between guided faceted search and a guessing game.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Never an empty screen.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If a combo is empty, show “Nothing at B2.1 + formal yet. Nearest: 8 items at B2.2.” Doubles as a content-gap signal.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074920"/>
            <a:ext cx="11064240" cy="1417320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B5BE6"/>
                </a:solidFill>
                <a:latin typeface="Calibri"/>
              </a:rPr>
              <a:t>State lives in the URL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4A5A"/>
                </a:solidFill>
                <a:latin typeface="Calibri"/>
              </a:rPr>
              <a:t>We already use useSearchParams for theme. Extending to ?theme=behoerde.antrag&amp;cefr=B2.1&amp;register=formal makes every filtered view shareable, bookmarkable and deep-linkable — which the writing coach’s “Üben” deep-links depend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15  ·  PROPOSED FILTERING SYSTEM (3 OF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UI patterns per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11064239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5120640"/>
                <a:gridCol w="3749039"/>
              </a:tblGrid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Surface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Pattern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Mobile browser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Sticky chip bar (Theme ▾ · Level ▾ · More ▾); “More” opens a bottom filter sheet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Reuse locked dialog overlay tokens; no nav change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Desktop browser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Left facet rail with checkboxes + counts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Lingoda/Anki style; show more facets at once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Search box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Free text over topicTags + headwords + canDo, scoped by active facets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Open axis; escape hatch when taxonomy unknown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Guided entry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Dashboard intent cards (“Prep a job interview”) that set a filter bundle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Intent-based nav; antidote to taxonomy paralysis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40680"/>
            <a:ext cx="1106424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5B5BE6"/>
                </a:solidFill>
                <a:latin typeface="Calibri"/>
              </a:rPr>
              <a:t>Progressive disclosure is the core UX principle: 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4A5A"/>
                </a:solidFill>
                <a:latin typeface="Calibri"/>
              </a:rPr>
              <a:t>a first-timer sees two controls (Theme, Level) + an intent card. A power user opens “Advanced” and slices on register × POS × mastery. Same data, graduated complexity. Never show all 8 facets to a beginner.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16  ·  PROPOSED FILTERING SYSTEM (4 OF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Learner-state filters &amp; personalization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A4A5A"/>
                </a:solidFill>
                <a:latin typeface="Calibri"/>
              </a:rPr>
              <a:t>The most powerful filters are relationship properties between learner and content. We already compute these in engine/srs.ts but never expose them.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606040"/>
          <a:ext cx="110642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14800"/>
                <a:gridCol w="365760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Learner-state filter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Powers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Mastery (new/learning/review/mastered)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useProgressStore.srs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“Hide mastered”, “show weak”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Due now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SRS due date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The daily review queue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Weakness category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writing-coach → WeaknessCategory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“Practice your cases”, PracticeArea deep-links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E1B2E"/>
                          </a:solidFill>
                          <a:latin typeface="Calibri"/>
                        </a:rPr>
                        <a:t>Seen / never opened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progress store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4A4A5A"/>
                          </a:solidFill>
                          <a:latin typeface="Calibri"/>
                        </a:rPr>
                        <a:t>“New to me” discovery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5029200"/>
            <a:ext cx="11064240" cy="1463040"/>
          </a:xfrm>
          <a:prstGeom prst="rect">
            <a:avLst/>
          </a:prstGeom>
          <a:solidFill>
            <a:srgbClr val="EC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A7A8C"/>
                </a:solidFill>
                <a:latin typeface="Calibri"/>
              </a:rPr>
              <a:t>Where the taxonomy pays off for AI / adaptivity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4A5A"/>
                </a:solidFill>
                <a:latin typeface="Calibri"/>
              </a:rPr>
              <a:t>Once content is tagged on clean facets, an adaptive engine composes a session as a query: “12 due items, weighted toward cefr=B2.2 and function=negotiation because that’s your weak corner, from the customer theme you started yesterday.” Without facets the engine is blind; with them, personalization is filtering with smart defaults.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17  ·  MODULE-SPECIFIC RECOMMENDATIONS (1 OF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Shared spine, module-specific facets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1B2E"/>
                </a:solidFill>
                <a:latin typeface="Calibri"/>
              </a:rPr>
              <a:t>One taxonomy or four?  One shared spine, module-specific extensions. Standardize axes that mean the same everywhere; let each module add what only it needs.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468880"/>
          <a:ext cx="1106424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1828800"/>
                <a:gridCol w="1828800"/>
                <a:gridCol w="2560320"/>
                <a:gridCol w="1828800"/>
              </a:tblGrid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Facet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Vocab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Colloc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Redemittel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Writing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theme / sub-theme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secondary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cefr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✔ (prompt)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register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✔ (has)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✔ (has)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✔ (target)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PRIMARY (has)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✔ (intent)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✔ (has)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examTag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PRIMARY (task)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53212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5B5BE6"/>
                </a:solidFill>
                <a:latin typeface="Calibri"/>
              </a:rPr>
              <a:t>Read the columns: 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4A5A"/>
                </a:solidFill>
                <a:latin typeface="Calibri"/>
              </a:rPr>
              <a:t>Vocab is theme-primary (unique facet: pos). Collocations theme-primary (keep register). Redemittel is function-primary — don’t force it under theme; add theme as optional. Schreibtraining is exam-task-primary with theme as content source; add taskType + cefr.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18  ·  MODULE-SPECIFIC RECOMMENDATIONS (2 OF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Standardize vs. customize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440680" cy="4206240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28016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5B5BE6"/>
                </a:solidFill>
                <a:latin typeface="Calibri"/>
              </a:rPr>
              <a:t>STANDARDIZE  (one definition, linter-enforced)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4A4A5A"/>
                </a:solidFill>
                <a:latin typeface="Calibri"/>
              </a:rPr>
              <a:t>Theme hierarchy </a:t>
            </a:r>
            <a:r>
              <a:rPr sz="1300" b="0" i="0">
                <a:solidFill>
                  <a:srgbClr val="4A4A5A"/>
                </a:solidFill>
                <a:latin typeface="Calibri"/>
              </a:rPr>
              <a:t>— one source of truth; every module references the same leaf ids. Enables cross-module linking.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4A4A5A"/>
                </a:solidFill>
                <a:latin typeface="Calibri"/>
              </a:rPr>
              <a:t>CEFR scale </a:t>
            </a:r>
            <a:r>
              <a:rPr sz="1300" b="0" i="0">
                <a:solidFill>
                  <a:srgbClr val="4A4A5A"/>
                </a:solidFill>
                <a:latin typeface="Calibri"/>
              </a:rPr>
              <a:t>— one enum everywhere. Migrate quiz difficulty 1–3 onto it so there’s a single level vocabulary.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4A4A5A"/>
                </a:solidFill>
                <a:latin typeface="Calibri"/>
              </a:rPr>
              <a:t>Register enum </a:t>
            </a:r>
            <a:r>
              <a:rPr sz="1300" b="0" i="0">
                <a:solidFill>
                  <a:srgbClr val="4A4A5A"/>
                </a:solidFill>
                <a:latin typeface="Calibri"/>
              </a:rPr>
              <a:t>— unify to the superset neutral|formal|diplomatic so a cross-module “formal” filter is meaningful.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600200"/>
            <a:ext cx="5440680" cy="4206240"/>
          </a:xfrm>
          <a:prstGeom prst="rect">
            <a:avLst/>
          </a:prstGeom>
          <a:solidFill>
            <a:srgbClr val="F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28016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A3AC0"/>
                </a:solidFill>
                <a:latin typeface="Calibri"/>
              </a:rPr>
              <a:t>CUSTOMIZE  (module owns it)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4A4A5A"/>
                </a:solidFill>
                <a:latin typeface="Calibri"/>
              </a:rPr>
              <a:t>Primary axis per module </a:t>
            </a:r>
            <a:r>
              <a:rPr sz="1300" b="0" i="0">
                <a:solidFill>
                  <a:srgbClr val="4A4A5A"/>
                </a:solidFill>
                <a:latin typeface="Calibri"/>
              </a:rPr>
              <a:t>— theme for vocab, function for Redemittel, task-type for writing. Each module declares which facet renders most prominently.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4A4A5A"/>
                </a:solidFill>
                <a:latin typeface="Calibri"/>
              </a:rPr>
              <a:t>Module-only facets </a:t>
            </a:r>
            <a:r>
              <a:rPr sz="1300" b="0" i="0">
                <a:solidFill>
                  <a:srgbClr val="4A4A5A"/>
                </a:solidFill>
                <a:latin typeface="Calibri"/>
              </a:rPr>
              <a:t>— pos for vocab; taskType for writing.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10642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5B5BE6"/>
                </a:solidFill>
                <a:latin typeface="Calibri"/>
              </a:rPr>
              <a:t>Rule of thumb: 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4A5A"/>
                </a:solidFill>
                <a:latin typeface="Calibri"/>
              </a:rPr>
              <a:t>standardize the moment a learner could plausibly filter across modules on it (level, theme, register, exam tag). Keep it module-local only if meaningless elsewhere.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5BE6"/>
                </a:solidFill>
                <a:latin typeface="Calibri"/>
              </a:rPr>
              <a:t>SLIDE 19  ·  MODULE-SPECIFIC RECOMMENDATIONS (3 OF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Cross-module linking (the payoff)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5B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3200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E1B2E"/>
                </a:solidFill>
                <a:latin typeface="Calibri"/>
              </a:rPr>
              <a:t>A shared spine turns four parallel lists into one connected graph. Same theme leaf + same cefr lets the app weave modules together — the feature siloed competitors can’t build.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On a vocab card for der Bescheid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(behoerde.bescheid): “Used in: einen Bescheid erhalten; Reply phrases: Hiermit lege ich Widerspruch ein…; Practice: write a Widerspruch (same leaf).”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A dialogue/exam scenario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for a Bürgeramt visit auto-pulls matching vocab, collocations and Redemittel by querying the shared leaf + level — no hand-maintained ID lists.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The writing coach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detects weak cases → deep-links (existing PracticeArea) to a filtered drill set: weakness=cases × cefr=B2 × theme=current.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029200"/>
            <a:ext cx="11064240" cy="1463040"/>
          </a:xfrm>
          <a:prstGeom prst="rect">
            <a:avLst/>
          </a:prstGeom>
          <a:solidFill>
            <a:srgbClr val="1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0B7CF"/>
                </a:solidFill>
                <a:latin typeface="Calibri"/>
              </a:rPr>
              <a:t>The strategic reason to do this now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8D6EC"/>
                </a:solidFill>
                <a:latin typeface="Calibri"/>
              </a:rPr>
              <a:t>The faceted spine is the substrate for adaptive learning, smart review and AI-composed sessions. None are buildable on a flat single-axis list; all fall out almost free once the tags exist. The taxonomy is not UI polish — it is the data model the intelligent features stand 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0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6A2A"/>
                </a:solidFill>
                <a:latin typeface="Calibri"/>
              </a:rPr>
              <a:t>SLIDE 20  ·  RISKS &amp; TRADEOFFS (1 OF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Tagging cost &amp; over-engineering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C0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1097280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554480"/>
                <a:gridCol w="5486400"/>
              </a:tblGrid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Back-fill burden: ~660 items need new tags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Every facet optional with a rollup default; back-fill theme by theme (provenance queue proves it works)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Over-engineering: 8 facets for 11 themes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High (real)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Phase it. Ship only domain + sub-theme + cefr first; other facets already exist on their modules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CEFR-tagging is subjective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Use review_status draft→verified; lean on Goethe/telc word lists as authority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Linter scope creep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New closed axes slot into the existing THEME_IDS validation pattern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53212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06A2A"/>
                </a:solidFill>
                <a:latin typeface="Calibri"/>
              </a:rPr>
              <a:t>The honest tradeoff: 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4A5A"/>
                </a:solidFill>
                <a:latin typeface="Calibri"/>
              </a:rPr>
              <a:t>faceted tagging front-loads authoring effort to buy back navigation, personalization and scale. Right for a depth-and-AI product; over-engineering for a 50-item toy. We’re past the threshold, and the cost only rises with every untagged item we add meanwhile.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0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6A2A"/>
                </a:solidFill>
                <a:latin typeface="Calibri"/>
              </a:rPr>
              <a:t>SLIDE 21  ·  RISKS &amp; TRADEOFFS (2 OF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UX complexity &amp; content gaps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C0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1097280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554480"/>
                <a:gridCol w="5486400"/>
              </a:tblGrid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Filter overwhelm: 8 facets paralyze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Progressive disclosure: 2 visible filters + intent cards; “Advanced” hides the rest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Empty results feel broken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Live counts + disabled dead-ends + “nearest match”. Never a blank screen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Sparse matrix: facets multiply faster than content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Treat empty cells as a content roadmap; reveal advanced facets as density grows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E1B2E"/>
                          </a:solidFill>
                          <a:latin typeface="Calibri"/>
                        </a:rPr>
                        <a:t>Taxonomy churn: sub-themes renamed/re-parented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Low–Med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4A4A5A"/>
                          </a:solidFill>
                          <a:latin typeface="Calibri"/>
                        </a:rPr>
                        <a:t>Stable ids + mutable labels; re-parenting changes one pointer (items tag the leaf, not the path)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53212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06A2A"/>
                </a:solidFill>
                <a:latin typeface="Calibri"/>
              </a:rPr>
              <a:t>Key UX insight: 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4A5A"/>
                </a:solidFill>
                <a:latin typeface="Calibri"/>
              </a:rPr>
              <a:t>the failure mode of faceted search is too much control too soon. The fix is not fewer facets — it is better defaults and staged reveal. The power must exist; it must not be in the beginner’s face.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0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6A2A"/>
                </a:solidFill>
                <a:latin typeface="Calibri"/>
              </a:rPr>
              <a:t>SLIDE 22  ·  RISKS &amp; TRADEOFFS (3 OF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The decisions to make explicitly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C0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E1B2E"/>
                </a:solidFill>
                <a:latin typeface="Calibri"/>
              </a:rPr>
              <a:t>Genuine forks; picking deliberately now avoids thrash later.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CEFR granularity: bands or sub-bands?  → sub-bands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(B1.1, B1.2, B2.1, B2.2). A plateau product lives inside B1→B2; whole bands are too coarse.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Two work domains or one?  → two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(beruf + arbeitswelt) to keep every tier ≤9 children. Reversible; one pointer per theme.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Sub-themes required or optional?  → optional, rollup default.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Required would block authoring and force a big-bang migration.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Redemittel’s primary axis?  → keep function primary.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Resist forcing every module under theme; add theme as a secondary facet.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Manual vs AI tagging for back-fill?  → AI-assisted, human-verified,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reusing review_status draft→verified. Same governance as provenance.ts.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A9D6E"/>
                </a:solidFill>
                <a:latin typeface="Calibri"/>
              </a:rPr>
              <a:t>SLIDE 23  ·  FINAL RECOMMENDATION (1 OF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The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2A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3474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1E1B2E"/>
                </a:solidFill>
                <a:latin typeface="Calibri"/>
              </a:rPr>
              <a:t>Adopt a faceted taxonomy with a shallow theme hierarchy.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Spine (hierarchy, 3 tiers):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Domain → Theme → Sub-theme. ~6 domains, 11 themes re-parented, ~3–6 sub-themes each. Items tag the leaf id.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Facets (orthogonal tags):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cefr + register on everything; function on Redemittel/dialogue; pos/frequency on vocab/colloc; examTag everywhere; open topicTags + canDo for search/AI.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One shared spine, module-declared primary axis.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Same theme + CEFR + register definitions; each module declares what it renders first.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Filtering = progressive faceted search. </a:t>
            </a:r>
            <a:r>
              <a:rPr sz="1500" b="0" i="0">
                <a:solidFill>
                  <a:srgbClr val="4A4A5A"/>
                </a:solidFill>
                <a:latin typeface="Calibri"/>
              </a:rPr>
              <a:t>2 core filters + intent cards by default; AND across, OR within; live counts; URL state; + learner-state filters.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4A4A5A"/>
                </a:solidFill>
                <a:latin typeface="Calibri"/>
              </a:rPr>
              <a:t>Cross-cutting concerns (exam, formal, level) are saved queries, never tree nodes.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2801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E7A52"/>
                </a:solidFill>
                <a:latin typeface="Calibri"/>
              </a:rPr>
              <a:t>What stays exactly as-is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4A4A5A"/>
                </a:solidFill>
                <a:latin typeface="Calibri"/>
              </a:rPr>
              <a:t>The locked mobile nav, dialog/overlay tokens, provenance workflow, linter architecture, no-em-dash rule. This redesign is purely additive to the data model and the browser screens. It touches no locked surface.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A9D6E"/>
                </a:solidFill>
                <a:latin typeface="Calibri"/>
              </a:rPr>
              <a:t>SLIDE 24  ·  FINAL RECOMMENDATION (2 OF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Implementation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2A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11064240" cy="42793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3200400"/>
              </a:tblGrid>
              <a:tr h="7132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Scope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Ships</a:t>
                      </a:r>
                    </a:p>
                  </a:txBody>
                  <a:tcPr marL="73152" marR="54864" marT="27432" marB="27432" anchor="ctr">
                    <a:solidFill>
                      <a:srgbClr val="5B5BE6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E1B2E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4A4A5A"/>
                          </a:solidFill>
                          <a:latin typeface="Calibri"/>
                        </a:rPr>
                        <a:t>Add domain + domains.ts; optional subThemeId + cefr to types; extend linter. No content moves.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4A4A5A"/>
                          </a:solidFill>
                          <a:latin typeface="Calibri"/>
                        </a:rPr>
                        <a:t>Model exists; everything rolls up. Invisible to users.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E1B2E"/>
                          </a:solidFill>
                          <a:latin typeface="Calibri"/>
                        </a:rPr>
                        <a:t>1 · Levels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4A4A5A"/>
                          </a:solidFill>
                          <a:latin typeface="Calibri"/>
                        </a:rPr>
                        <a:t>Tag vocab/colloc with cefr (AI-draft→verify); migrate quiz difficulty onto CEFR; add Level filter.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4A4A5A"/>
                          </a:solidFill>
                          <a:latin typeface="Calibri"/>
                        </a:rPr>
                        <a:t>First visible win: filter by level, the headline gap.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E1B2E"/>
                          </a:solidFill>
                          <a:latin typeface="Calibri"/>
                        </a:rPr>
                        <a:t>2 · Sub-themes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4A4A5A"/>
                          </a:solidFill>
                          <a:latin typeface="Calibri"/>
                        </a:rPr>
                        <a:t>Promote situations[] into sub-themes for the densest themes; add drill-down.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4A4A5A"/>
                          </a:solidFill>
                          <a:latin typeface="Calibri"/>
                        </a:rPr>
                        <a:t>Navigable depth where content is densest.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E1B2E"/>
                          </a:solidFill>
                          <a:latin typeface="Calibri"/>
                        </a:rPr>
                        <a:t>3 · Faceted browser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4A4A5A"/>
                          </a:solidFill>
                          <a:latin typeface="Calibri"/>
                        </a:rPr>
                        <a:t>Unify register; full filter bar/sheet with counts + URL state; dashboard intent cards.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4A4A5A"/>
                          </a:solidFill>
                          <a:latin typeface="Calibri"/>
                        </a:rPr>
                        <a:t>The real multi-facet experience.</a:t>
                      </a:r>
                    </a:p>
                  </a:txBody>
                  <a:tcPr marL="73152" marR="54864" marT="27432" marB="27432" anchor="ctr">
                    <a:solidFill>
                      <a:srgbClr val="F7F6F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1E1B2E"/>
                          </a:solidFill>
                          <a:latin typeface="Calibri"/>
                        </a:rPr>
                        <a:t>4 · Cross-module + adaptive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4A4A5A"/>
                          </a:solidFill>
                          <a:latin typeface="Calibri"/>
                        </a:rPr>
                        <a:t>Cross-module related links; SRS-driven sessions; writing-coach deep-links.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4A4A5A"/>
                          </a:solidFill>
                          <a:latin typeface="Calibri"/>
                        </a:rPr>
                        <a:t>The AI/personalization payoff.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E7A52"/>
                </a:solidFill>
                <a:latin typeface="Calibri"/>
              </a:rPr>
              <a:t>Phases 0–1 are the high-leverage minimum:  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A4A5A"/>
                </a:solidFill>
                <a:latin typeface="Calibri"/>
              </a:rPr>
              <a:t>they close the level gap and lay the spine. Phases 2–4 follow content growth at the founder’s pace. Each phase is independently shippable and linter-gated.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10424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A9D6E"/>
                </a:solidFill>
                <a:latin typeface="Calibri"/>
              </a:rPr>
              <a:t>SLIDE 25  ·  FINAL RECOMMENDATION (3 OF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8813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1B2E"/>
                </a:solidFill>
                <a:latin typeface="Calibri"/>
              </a:rPr>
              <a:t>Decisions needed &amp; success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338560" y="310896"/>
            <a:ext cx="566928" cy="384048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5B5BE6"/>
                </a:solidFill>
                <a:latin typeface="Calibri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011680" cy="36576"/>
          </a:xfrm>
          <a:prstGeom prst="rect">
            <a:avLst/>
          </a:prstGeom>
          <a:solidFill>
            <a:srgbClr val="2A9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440680" cy="3931920"/>
          </a:xfrm>
          <a:prstGeom prst="rect">
            <a:avLst/>
          </a:prstGeom>
          <a:solidFill>
            <a:srgbClr val="E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28016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E7A52"/>
                </a:solidFill>
                <a:latin typeface="Calibri"/>
              </a:rPr>
              <a:t>DECISIONS TO CONFIRM (defaults; all reversible)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A5A"/>
                </a:solidFill>
                <a:latin typeface="Calibri"/>
              </a:rPr>
              <a:t>CEFR granularity → sub-bands (B1.1…B2.2)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A5A"/>
                </a:solidFill>
                <a:latin typeface="Calibri"/>
              </a:rPr>
              <a:t>Domain count → 6 (work split beruf + arbeitswelt)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A5A"/>
                </a:solidFill>
                <a:latin typeface="Calibri"/>
              </a:rPr>
              <a:t>Sub-themes → optional with theme rollup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A5A"/>
                </a:solidFill>
                <a:latin typeface="Calibri"/>
              </a:rPr>
              <a:t>Redemittel primary axis → stays function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4A4A5A"/>
                </a:solidFill>
                <a:latin typeface="Calibri"/>
              </a:rPr>
              <a:t>Back-fill → AI-draft + human-verify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600200"/>
            <a:ext cx="5440680" cy="3931920"/>
          </a:xfrm>
          <a:prstGeom prst="rect">
            <a:avLst/>
          </a:prstGeom>
          <a:solidFill>
            <a:srgbClr val="F4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28016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5B5BE6"/>
                </a:solidFill>
                <a:latin typeface="Calibri"/>
              </a:rPr>
              <a:t>WHAT SUCCESS LOOKS LIKE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4A4A5A"/>
                </a:solidFill>
                <a:latin typeface="Calibri"/>
              </a:rPr>
              <a:t>A learner expresses “formal B2 Behörde email phrases I haven’t mastered” in ≤3 taps, gets a correct non-empty result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4A4A5A"/>
                </a:solidFill>
                <a:latin typeface="Calibri"/>
              </a:rPr>
              <a:t>Adding a new domain (banking, Arzt) is filling a template, not reshaping the model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4A4A5A"/>
                </a:solidFill>
                <a:latin typeface="Calibri"/>
              </a:rPr>
              <a:t>SRS/writing-coach composes sessions by querying facets — no hand-maintained ID lists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5BE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4A4A5A"/>
                </a:solidFill>
                <a:latin typeface="Calibri"/>
              </a:rPr>
              <a:t>Content gaps show as empty filter cells — the taxonomy becomes an authoring roadmap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669280"/>
            <a:ext cx="11064240" cy="914400"/>
          </a:xfrm>
          <a:prstGeom prst="rect">
            <a:avLst/>
          </a:prstGeom>
          <a:solidFill>
            <a:srgbClr val="1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The flat 11-theme list is fine for 11 themes and fatal for 100. A shallow hierarchy plus orthogonal facets is the smallest model that stays intuitive, pedagogically sound and open-ended for content + AI. Build the spine now while it is cheap; back-fill the facets as the library grows.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